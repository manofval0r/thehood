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8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3D3119F-E2DE-F0B3-E799-5B4F3FD71D0E}">
          <p14:sldIdLst>
            <p14:sldId id="256"/>
            <p14:sldId id="288"/>
            <p14:sldId id="257"/>
            <p14:sldId id="258"/>
          </p14:sldIdLst>
        </p14:section>
        <p14:section name="Core Concepts" id="{CC4607D3-529B-F373-E831-D7D76F0BAF27}">
          <p14:sldIdLst>
            <p14:sldId id="259"/>
            <p14:sldId id="260"/>
            <p14:sldId id="261"/>
            <p14:sldId id="262"/>
            <p14:sldId id="263"/>
            <p14:sldId id="264"/>
            <p14:sldId id="265"/>
            <p14:sldId id="266"/>
            <p14:sldId id="267"/>
            <p14:sldId id="268"/>
            <p14:sldId id="269"/>
          </p14:sldIdLst>
        </p14:section>
        <p14:section name="Evolution" id="{FAE77432-786D-A0B1-6001-7B442F852041}">
          <p14:sldIdLst>
            <p14:sldId id="270"/>
            <p14:sldId id="271"/>
            <p14:sldId id="272"/>
            <p14:sldId id="273"/>
            <p14:sldId id="274"/>
          </p14:sldIdLst>
        </p14:section>
        <p14:section name="Philosophies" id="{CFE3AB25-075C-870C-2E74-B5B0536D38DD}">
          <p14:sldIdLst>
            <p14:sldId id="275"/>
            <p14:sldId id="276"/>
            <p14:sldId id="277"/>
            <p14:sldId id="278"/>
            <p14:sldId id="279"/>
            <p14:sldId id="280"/>
            <p14:sldId id="281"/>
            <p14:sldId id="282"/>
            <p14:sldId id="283"/>
            <p14:sldId id="284"/>
          </p14:sldIdLst>
        </p14:section>
        <p14:section name="Close" id="{5F280EB0-0D24-5597-3DE0-71CE5D07861F}">
          <p14:sldIdLst>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E8FBB8-881C-424F-BE1F-389EEBA9C3CC}" v="179" dt="2026-10-13T07:49:21.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bes Esho" userId="46282e2c-6dd3-4f22-954f-9a1e2542c9eb" providerId="ADAL" clId="{34C7327D-C07D-42A0-8C62-2660C8DD074D}"/>
    <pc:docChg chg="custSel addSld modSld">
      <pc:chgData name="Ebes Esho" userId="46282e2c-6dd3-4f22-954f-9a1e2542c9eb" providerId="ADAL" clId="{34C7327D-C07D-42A0-8C62-2660C8DD074D}" dt="2026-10-13T07:49:21.512" v="567"/>
      <pc:docMkLst>
        <pc:docMk/>
      </pc:docMkLst>
      <pc:sldChg chg="modSp mod">
        <pc:chgData name="Ebes Esho" userId="46282e2c-6dd3-4f22-954f-9a1e2542c9eb" providerId="ADAL" clId="{34C7327D-C07D-42A0-8C62-2660C8DD074D}" dt="2026-10-13T07:09:33.277" v="9" actId="20577"/>
        <pc:sldMkLst>
          <pc:docMk/>
          <pc:sldMk cId="0" sldId="256"/>
        </pc:sldMkLst>
        <pc:spChg chg="mod">
          <ac:chgData name="Ebes Esho" userId="46282e2c-6dd3-4f22-954f-9a1e2542c9eb" providerId="ADAL" clId="{34C7327D-C07D-42A0-8C62-2660C8DD074D}" dt="2026-10-13T07:09:33.277" v="9" actId="20577"/>
          <ac:spMkLst>
            <pc:docMk/>
            <pc:sldMk cId="0" sldId="256"/>
            <ac:spMk id="4" creationId="{00000000-0000-0000-0000-000000000000}"/>
          </ac:spMkLst>
        </pc:spChg>
      </pc:sldChg>
      <pc:sldChg chg="modAnim">
        <pc:chgData name="Ebes Esho" userId="46282e2c-6dd3-4f22-954f-9a1e2542c9eb" providerId="ADAL" clId="{34C7327D-C07D-42A0-8C62-2660C8DD074D}" dt="2026-10-13T07:10:27.254" v="14"/>
        <pc:sldMkLst>
          <pc:docMk/>
          <pc:sldMk cId="0" sldId="257"/>
        </pc:sldMkLst>
      </pc:sldChg>
      <pc:sldChg chg="modAnim">
        <pc:chgData name="Ebes Esho" userId="46282e2c-6dd3-4f22-954f-9a1e2542c9eb" providerId="ADAL" clId="{34C7327D-C07D-42A0-8C62-2660C8DD074D}" dt="2026-10-13T07:11:13.547" v="20"/>
        <pc:sldMkLst>
          <pc:docMk/>
          <pc:sldMk cId="0" sldId="258"/>
        </pc:sldMkLst>
      </pc:sldChg>
      <pc:sldChg chg="modSp mod">
        <pc:chgData name="Ebes Esho" userId="46282e2c-6dd3-4f22-954f-9a1e2542c9eb" providerId="ADAL" clId="{34C7327D-C07D-42A0-8C62-2660C8DD074D}" dt="2026-10-13T07:26:37.544" v="327" actId="20577"/>
        <pc:sldMkLst>
          <pc:docMk/>
          <pc:sldMk cId="0" sldId="259"/>
        </pc:sldMkLst>
        <pc:spChg chg="mod">
          <ac:chgData name="Ebes Esho" userId="46282e2c-6dd3-4f22-954f-9a1e2542c9eb" providerId="ADAL" clId="{34C7327D-C07D-42A0-8C62-2660C8DD074D}" dt="2026-10-13T07:26:37.544" v="327" actId="20577"/>
          <ac:spMkLst>
            <pc:docMk/>
            <pc:sldMk cId="0" sldId="259"/>
            <ac:spMk id="2" creationId="{00000000-0000-0000-0000-000000000000}"/>
          </ac:spMkLst>
        </pc:spChg>
      </pc:sldChg>
      <pc:sldChg chg="modSp mod modAnim">
        <pc:chgData name="Ebes Esho" userId="46282e2c-6dd3-4f22-954f-9a1e2542c9eb" providerId="ADAL" clId="{34C7327D-C07D-42A0-8C62-2660C8DD074D}" dt="2026-10-13T07:13:18.466" v="39"/>
        <pc:sldMkLst>
          <pc:docMk/>
          <pc:sldMk cId="0" sldId="260"/>
        </pc:sldMkLst>
        <pc:spChg chg="mod">
          <ac:chgData name="Ebes Esho" userId="46282e2c-6dd3-4f22-954f-9a1e2542c9eb" providerId="ADAL" clId="{34C7327D-C07D-42A0-8C62-2660C8DD074D}" dt="2026-10-13T07:12:31.692" v="28" actId="113"/>
          <ac:spMkLst>
            <pc:docMk/>
            <pc:sldMk cId="0" sldId="260"/>
            <ac:spMk id="7" creationId="{00000000-0000-0000-0000-000000000000}"/>
          </ac:spMkLst>
        </pc:spChg>
        <pc:spChg chg="mod">
          <ac:chgData name="Ebes Esho" userId="46282e2c-6dd3-4f22-954f-9a1e2542c9eb" providerId="ADAL" clId="{34C7327D-C07D-42A0-8C62-2660C8DD074D}" dt="2026-10-13T07:11:40.998" v="22" actId="255"/>
          <ac:spMkLst>
            <pc:docMk/>
            <pc:sldMk cId="0" sldId="260"/>
            <ac:spMk id="11" creationId="{00000000-0000-0000-0000-000000000000}"/>
          </ac:spMkLst>
        </pc:spChg>
        <pc:spChg chg="mod">
          <ac:chgData name="Ebes Esho" userId="46282e2c-6dd3-4f22-954f-9a1e2542c9eb" providerId="ADAL" clId="{34C7327D-C07D-42A0-8C62-2660C8DD074D}" dt="2026-10-13T07:13:08.843" v="38" actId="20577"/>
          <ac:spMkLst>
            <pc:docMk/>
            <pc:sldMk cId="0" sldId="260"/>
            <ac:spMk id="15" creationId="{00000000-0000-0000-0000-000000000000}"/>
          </ac:spMkLst>
        </pc:spChg>
        <pc:spChg chg="mod">
          <ac:chgData name="Ebes Esho" userId="46282e2c-6dd3-4f22-954f-9a1e2542c9eb" providerId="ADAL" clId="{34C7327D-C07D-42A0-8C62-2660C8DD074D}" dt="2026-10-13T07:11:57.805" v="24" actId="255"/>
          <ac:spMkLst>
            <pc:docMk/>
            <pc:sldMk cId="0" sldId="260"/>
            <ac:spMk id="17" creationId="{00000000-0000-0000-0000-000000000000}"/>
          </ac:spMkLst>
        </pc:spChg>
      </pc:sldChg>
      <pc:sldChg chg="modAnim">
        <pc:chgData name="Ebes Esho" userId="46282e2c-6dd3-4f22-954f-9a1e2542c9eb" providerId="ADAL" clId="{34C7327D-C07D-42A0-8C62-2660C8DD074D}" dt="2026-10-13T07:14:33.426" v="48"/>
        <pc:sldMkLst>
          <pc:docMk/>
          <pc:sldMk cId="0" sldId="261"/>
        </pc:sldMkLst>
      </pc:sldChg>
      <pc:sldChg chg="modSp mod modAnim">
        <pc:chgData name="Ebes Esho" userId="46282e2c-6dd3-4f22-954f-9a1e2542c9eb" providerId="ADAL" clId="{34C7327D-C07D-42A0-8C62-2660C8DD074D}" dt="2026-10-13T07:17:04.393" v="137"/>
        <pc:sldMkLst>
          <pc:docMk/>
          <pc:sldMk cId="0" sldId="262"/>
        </pc:sldMkLst>
        <pc:spChg chg="mod">
          <ac:chgData name="Ebes Esho" userId="46282e2c-6dd3-4f22-954f-9a1e2542c9eb" providerId="ADAL" clId="{34C7327D-C07D-42A0-8C62-2660C8DD074D}" dt="2026-10-13T07:15:29.675" v="119" actId="6549"/>
          <ac:spMkLst>
            <pc:docMk/>
            <pc:sldMk cId="0" sldId="262"/>
            <ac:spMk id="2" creationId="{00000000-0000-0000-0000-000000000000}"/>
          </ac:spMkLst>
        </pc:spChg>
        <pc:spChg chg="mod">
          <ac:chgData name="Ebes Esho" userId="46282e2c-6dd3-4f22-954f-9a1e2542c9eb" providerId="ADAL" clId="{34C7327D-C07D-42A0-8C62-2660C8DD074D}" dt="2026-10-13T07:15:49.124" v="121" actId="255"/>
          <ac:spMkLst>
            <pc:docMk/>
            <pc:sldMk cId="0" sldId="262"/>
            <ac:spMk id="8" creationId="{00000000-0000-0000-0000-000000000000}"/>
          </ac:spMkLst>
        </pc:spChg>
        <pc:spChg chg="mod">
          <ac:chgData name="Ebes Esho" userId="46282e2c-6dd3-4f22-954f-9a1e2542c9eb" providerId="ADAL" clId="{34C7327D-C07D-42A0-8C62-2660C8DD074D}" dt="2026-10-13T07:15:55.448" v="122" actId="255"/>
          <ac:spMkLst>
            <pc:docMk/>
            <pc:sldMk cId="0" sldId="262"/>
            <ac:spMk id="13" creationId="{00000000-0000-0000-0000-000000000000}"/>
          </ac:spMkLst>
        </pc:spChg>
        <pc:spChg chg="mod">
          <ac:chgData name="Ebes Esho" userId="46282e2c-6dd3-4f22-954f-9a1e2542c9eb" providerId="ADAL" clId="{34C7327D-C07D-42A0-8C62-2660C8DD074D}" dt="2026-10-13T07:16:01.468" v="123" actId="255"/>
          <ac:spMkLst>
            <pc:docMk/>
            <pc:sldMk cId="0" sldId="262"/>
            <ac:spMk id="18" creationId="{00000000-0000-0000-0000-000000000000}"/>
          </ac:spMkLst>
        </pc:spChg>
        <pc:spChg chg="mod">
          <ac:chgData name="Ebes Esho" userId="46282e2c-6dd3-4f22-954f-9a1e2542c9eb" providerId="ADAL" clId="{34C7327D-C07D-42A0-8C62-2660C8DD074D}" dt="2026-10-13T07:16:09.974" v="124" actId="255"/>
          <ac:spMkLst>
            <pc:docMk/>
            <pc:sldMk cId="0" sldId="262"/>
            <ac:spMk id="23" creationId="{00000000-0000-0000-0000-000000000000}"/>
          </ac:spMkLst>
        </pc:spChg>
        <pc:spChg chg="mod">
          <ac:chgData name="Ebes Esho" userId="46282e2c-6dd3-4f22-954f-9a1e2542c9eb" providerId="ADAL" clId="{34C7327D-C07D-42A0-8C62-2660C8DD074D}" dt="2026-10-13T07:16:16.179" v="125" actId="255"/>
          <ac:spMkLst>
            <pc:docMk/>
            <pc:sldMk cId="0" sldId="262"/>
            <ac:spMk id="28" creationId="{00000000-0000-0000-0000-000000000000}"/>
          </ac:spMkLst>
        </pc:spChg>
        <pc:spChg chg="mod">
          <ac:chgData name="Ebes Esho" userId="46282e2c-6dd3-4f22-954f-9a1e2542c9eb" providerId="ADAL" clId="{34C7327D-C07D-42A0-8C62-2660C8DD074D}" dt="2026-10-13T07:16:23.307" v="126" actId="255"/>
          <ac:spMkLst>
            <pc:docMk/>
            <pc:sldMk cId="0" sldId="262"/>
            <ac:spMk id="33" creationId="{00000000-0000-0000-0000-000000000000}"/>
          </ac:spMkLst>
        </pc:spChg>
      </pc:sldChg>
      <pc:sldChg chg="modAnim">
        <pc:chgData name="Ebes Esho" userId="46282e2c-6dd3-4f22-954f-9a1e2542c9eb" providerId="ADAL" clId="{34C7327D-C07D-42A0-8C62-2660C8DD074D}" dt="2026-10-13T07:17:43.950" v="147"/>
        <pc:sldMkLst>
          <pc:docMk/>
          <pc:sldMk cId="0" sldId="263"/>
        </pc:sldMkLst>
      </pc:sldChg>
      <pc:sldChg chg="modSp mod modAnim">
        <pc:chgData name="Ebes Esho" userId="46282e2c-6dd3-4f22-954f-9a1e2542c9eb" providerId="ADAL" clId="{34C7327D-C07D-42A0-8C62-2660C8DD074D}" dt="2026-10-13T07:20:16.292" v="188"/>
        <pc:sldMkLst>
          <pc:docMk/>
          <pc:sldMk cId="0" sldId="264"/>
        </pc:sldMkLst>
        <pc:spChg chg="mod">
          <ac:chgData name="Ebes Esho" userId="46282e2c-6dd3-4f22-954f-9a1e2542c9eb" providerId="ADAL" clId="{34C7327D-C07D-42A0-8C62-2660C8DD074D}" dt="2026-10-13T07:18:16.776" v="172" actId="20577"/>
          <ac:spMkLst>
            <pc:docMk/>
            <pc:sldMk cId="0" sldId="264"/>
            <ac:spMk id="2" creationId="{00000000-0000-0000-0000-000000000000}"/>
          </ac:spMkLst>
        </pc:spChg>
        <pc:spChg chg="mod">
          <ac:chgData name="Ebes Esho" userId="46282e2c-6dd3-4f22-954f-9a1e2542c9eb" providerId="ADAL" clId="{34C7327D-C07D-42A0-8C62-2660C8DD074D}" dt="2026-10-13T07:18:32.870" v="174" actId="113"/>
          <ac:spMkLst>
            <pc:docMk/>
            <pc:sldMk cId="0" sldId="264"/>
            <ac:spMk id="6" creationId="{00000000-0000-0000-0000-000000000000}"/>
          </ac:spMkLst>
        </pc:spChg>
        <pc:spChg chg="mod">
          <ac:chgData name="Ebes Esho" userId="46282e2c-6dd3-4f22-954f-9a1e2542c9eb" providerId="ADAL" clId="{34C7327D-C07D-42A0-8C62-2660C8DD074D}" dt="2026-10-13T07:19:05.595" v="177" actId="255"/>
          <ac:spMkLst>
            <pc:docMk/>
            <pc:sldMk cId="0" sldId="264"/>
            <ac:spMk id="15" creationId="{00000000-0000-0000-0000-000000000000}"/>
          </ac:spMkLst>
        </pc:spChg>
        <pc:spChg chg="mod">
          <ac:chgData name="Ebes Esho" userId="46282e2c-6dd3-4f22-954f-9a1e2542c9eb" providerId="ADAL" clId="{34C7327D-C07D-42A0-8C62-2660C8DD074D}" dt="2026-10-13T07:19:15.654" v="178" actId="255"/>
          <ac:spMkLst>
            <pc:docMk/>
            <pc:sldMk cId="0" sldId="264"/>
            <ac:spMk id="16" creationId="{00000000-0000-0000-0000-000000000000}"/>
          </ac:spMkLst>
        </pc:spChg>
        <pc:spChg chg="mod">
          <ac:chgData name="Ebes Esho" userId="46282e2c-6dd3-4f22-954f-9a1e2542c9eb" providerId="ADAL" clId="{34C7327D-C07D-42A0-8C62-2660C8DD074D}" dt="2026-10-13T07:19:34.087" v="180" actId="255"/>
          <ac:spMkLst>
            <pc:docMk/>
            <pc:sldMk cId="0" sldId="264"/>
            <ac:spMk id="20" creationId="{00000000-0000-0000-0000-000000000000}"/>
          </ac:spMkLst>
        </pc:spChg>
        <pc:spChg chg="mod">
          <ac:chgData name="Ebes Esho" userId="46282e2c-6dd3-4f22-954f-9a1e2542c9eb" providerId="ADAL" clId="{34C7327D-C07D-42A0-8C62-2660C8DD074D}" dt="2026-10-13T07:19:25.279" v="179" actId="255"/>
          <ac:spMkLst>
            <pc:docMk/>
            <pc:sldMk cId="0" sldId="264"/>
            <ac:spMk id="21" creationId="{00000000-0000-0000-0000-000000000000}"/>
          </ac:spMkLst>
        </pc:spChg>
        <pc:spChg chg="mod">
          <ac:chgData name="Ebes Esho" userId="46282e2c-6dd3-4f22-954f-9a1e2542c9eb" providerId="ADAL" clId="{34C7327D-C07D-42A0-8C62-2660C8DD074D}" dt="2026-10-13T07:19:45.171" v="181" actId="255"/>
          <ac:spMkLst>
            <pc:docMk/>
            <pc:sldMk cId="0" sldId="264"/>
            <ac:spMk id="25" creationId="{00000000-0000-0000-0000-000000000000}"/>
          </ac:spMkLst>
        </pc:spChg>
        <pc:spChg chg="mod">
          <ac:chgData name="Ebes Esho" userId="46282e2c-6dd3-4f22-954f-9a1e2542c9eb" providerId="ADAL" clId="{34C7327D-C07D-42A0-8C62-2660C8DD074D}" dt="2026-10-13T07:19:53.119" v="182" actId="255"/>
          <ac:spMkLst>
            <pc:docMk/>
            <pc:sldMk cId="0" sldId="264"/>
            <ac:spMk id="26" creationId="{00000000-0000-0000-0000-000000000000}"/>
          </ac:spMkLst>
        </pc:spChg>
      </pc:sldChg>
      <pc:sldChg chg="modSp mod modAnim">
        <pc:chgData name="Ebes Esho" userId="46282e2c-6dd3-4f22-954f-9a1e2542c9eb" providerId="ADAL" clId="{34C7327D-C07D-42A0-8C62-2660C8DD074D}" dt="2026-10-13T07:20:58.564" v="197"/>
        <pc:sldMkLst>
          <pc:docMk/>
          <pc:sldMk cId="0" sldId="265"/>
        </pc:sldMkLst>
        <pc:spChg chg="mod">
          <ac:chgData name="Ebes Esho" userId="46282e2c-6dd3-4f22-954f-9a1e2542c9eb" providerId="ADAL" clId="{34C7327D-C07D-42A0-8C62-2660C8DD074D}" dt="2026-10-13T07:20:30.063" v="194" actId="20577"/>
          <ac:spMkLst>
            <pc:docMk/>
            <pc:sldMk cId="0" sldId="265"/>
            <ac:spMk id="2" creationId="{00000000-0000-0000-0000-000000000000}"/>
          </ac:spMkLst>
        </pc:spChg>
        <pc:graphicFrameChg chg="modGraphic">
          <ac:chgData name="Ebes Esho" userId="46282e2c-6dd3-4f22-954f-9a1e2542c9eb" providerId="ADAL" clId="{34C7327D-C07D-42A0-8C62-2660C8DD074D}" dt="2026-10-13T07:20:53.086" v="196" actId="255"/>
          <ac:graphicFrameMkLst>
            <pc:docMk/>
            <pc:sldMk cId="0" sldId="265"/>
            <ac:graphicFrameMk id="11" creationId="{00000000-0000-0000-0000-000000000000}"/>
          </ac:graphicFrameMkLst>
        </pc:graphicFrameChg>
      </pc:sldChg>
      <pc:sldChg chg="modSp mod modAnim">
        <pc:chgData name="Ebes Esho" userId="46282e2c-6dd3-4f22-954f-9a1e2542c9eb" providerId="ADAL" clId="{34C7327D-C07D-42A0-8C62-2660C8DD074D}" dt="2026-10-13T07:25:03.560" v="236"/>
        <pc:sldMkLst>
          <pc:docMk/>
          <pc:sldMk cId="0" sldId="266"/>
        </pc:sldMkLst>
        <pc:spChg chg="mod">
          <ac:chgData name="Ebes Esho" userId="46282e2c-6dd3-4f22-954f-9a1e2542c9eb" providerId="ADAL" clId="{34C7327D-C07D-42A0-8C62-2660C8DD074D}" dt="2026-10-13T07:21:38.990" v="205" actId="20577"/>
          <ac:spMkLst>
            <pc:docMk/>
            <pc:sldMk cId="0" sldId="266"/>
            <ac:spMk id="2" creationId="{00000000-0000-0000-0000-000000000000}"/>
          </ac:spMkLst>
        </pc:spChg>
        <pc:spChg chg="mod">
          <ac:chgData name="Ebes Esho" userId="46282e2c-6dd3-4f22-954f-9a1e2542c9eb" providerId="ADAL" clId="{34C7327D-C07D-42A0-8C62-2660C8DD074D}" dt="2026-10-13T07:21:50.024" v="206" actId="255"/>
          <ac:spMkLst>
            <pc:docMk/>
            <pc:sldMk cId="0" sldId="266"/>
            <ac:spMk id="5" creationId="{00000000-0000-0000-0000-000000000000}"/>
          </ac:spMkLst>
        </pc:spChg>
        <pc:spChg chg="mod">
          <ac:chgData name="Ebes Esho" userId="46282e2c-6dd3-4f22-954f-9a1e2542c9eb" providerId="ADAL" clId="{34C7327D-C07D-42A0-8C62-2660C8DD074D}" dt="2026-10-13T07:22:20.555" v="207" actId="255"/>
          <ac:spMkLst>
            <pc:docMk/>
            <pc:sldMk cId="0" sldId="266"/>
            <ac:spMk id="7" creationId="{00000000-0000-0000-0000-000000000000}"/>
          </ac:spMkLst>
        </pc:spChg>
        <pc:spChg chg="mod">
          <ac:chgData name="Ebes Esho" userId="46282e2c-6dd3-4f22-954f-9a1e2542c9eb" providerId="ADAL" clId="{34C7327D-C07D-42A0-8C62-2660C8DD074D}" dt="2026-10-13T07:22:40.974" v="209" actId="255"/>
          <ac:spMkLst>
            <pc:docMk/>
            <pc:sldMk cId="0" sldId="266"/>
            <ac:spMk id="11" creationId="{00000000-0000-0000-0000-000000000000}"/>
          </ac:spMkLst>
        </pc:spChg>
        <pc:spChg chg="mod">
          <ac:chgData name="Ebes Esho" userId="46282e2c-6dd3-4f22-954f-9a1e2542c9eb" providerId="ADAL" clId="{34C7327D-C07D-42A0-8C62-2660C8DD074D}" dt="2026-10-13T07:23:32.018" v="219" actId="255"/>
          <ac:spMkLst>
            <pc:docMk/>
            <pc:sldMk cId="0" sldId="266"/>
            <ac:spMk id="12" creationId="{00000000-0000-0000-0000-000000000000}"/>
          </ac:spMkLst>
        </pc:spChg>
        <pc:spChg chg="mod">
          <ac:chgData name="Ebes Esho" userId="46282e2c-6dd3-4f22-954f-9a1e2542c9eb" providerId="ADAL" clId="{34C7327D-C07D-42A0-8C62-2660C8DD074D}" dt="2026-10-13T07:22:47.004" v="210" actId="255"/>
          <ac:spMkLst>
            <pc:docMk/>
            <pc:sldMk cId="0" sldId="266"/>
            <ac:spMk id="17" creationId="{00000000-0000-0000-0000-000000000000}"/>
          </ac:spMkLst>
        </pc:spChg>
        <pc:spChg chg="mod">
          <ac:chgData name="Ebes Esho" userId="46282e2c-6dd3-4f22-954f-9a1e2542c9eb" providerId="ADAL" clId="{34C7327D-C07D-42A0-8C62-2660C8DD074D}" dt="2026-10-13T07:23:44.406" v="221" actId="14100"/>
          <ac:spMkLst>
            <pc:docMk/>
            <pc:sldMk cId="0" sldId="266"/>
            <ac:spMk id="18" creationId="{00000000-0000-0000-0000-000000000000}"/>
          </ac:spMkLst>
        </pc:spChg>
        <pc:spChg chg="mod">
          <ac:chgData name="Ebes Esho" userId="46282e2c-6dd3-4f22-954f-9a1e2542c9eb" providerId="ADAL" clId="{34C7327D-C07D-42A0-8C62-2660C8DD074D}" dt="2026-10-13T07:22:53.077" v="211" actId="255"/>
          <ac:spMkLst>
            <pc:docMk/>
            <pc:sldMk cId="0" sldId="266"/>
            <ac:spMk id="23" creationId="{00000000-0000-0000-0000-000000000000}"/>
          </ac:spMkLst>
        </pc:spChg>
        <pc:spChg chg="mod">
          <ac:chgData name="Ebes Esho" userId="46282e2c-6dd3-4f22-954f-9a1e2542c9eb" providerId="ADAL" clId="{34C7327D-C07D-42A0-8C62-2660C8DD074D}" dt="2026-10-13T07:23:55.317" v="223" actId="14100"/>
          <ac:spMkLst>
            <pc:docMk/>
            <pc:sldMk cId="0" sldId="266"/>
            <ac:spMk id="24" creationId="{00000000-0000-0000-0000-000000000000}"/>
          </ac:spMkLst>
        </pc:spChg>
        <pc:spChg chg="mod">
          <ac:chgData name="Ebes Esho" userId="46282e2c-6dd3-4f22-954f-9a1e2542c9eb" providerId="ADAL" clId="{34C7327D-C07D-42A0-8C62-2660C8DD074D}" dt="2026-10-13T07:22:58.787" v="212" actId="255"/>
          <ac:spMkLst>
            <pc:docMk/>
            <pc:sldMk cId="0" sldId="266"/>
            <ac:spMk id="29" creationId="{00000000-0000-0000-0000-000000000000}"/>
          </ac:spMkLst>
        </pc:spChg>
        <pc:spChg chg="mod">
          <ac:chgData name="Ebes Esho" userId="46282e2c-6dd3-4f22-954f-9a1e2542c9eb" providerId="ADAL" clId="{34C7327D-C07D-42A0-8C62-2660C8DD074D}" dt="2026-10-13T07:24:09.985" v="225" actId="14100"/>
          <ac:spMkLst>
            <pc:docMk/>
            <pc:sldMk cId="0" sldId="266"/>
            <ac:spMk id="30" creationId="{00000000-0000-0000-0000-000000000000}"/>
          </ac:spMkLst>
        </pc:spChg>
        <pc:spChg chg="mod">
          <ac:chgData name="Ebes Esho" userId="46282e2c-6dd3-4f22-954f-9a1e2542c9eb" providerId="ADAL" clId="{34C7327D-C07D-42A0-8C62-2660C8DD074D}" dt="2026-10-13T07:23:05.266" v="213" actId="255"/>
          <ac:spMkLst>
            <pc:docMk/>
            <pc:sldMk cId="0" sldId="266"/>
            <ac:spMk id="35" creationId="{00000000-0000-0000-0000-000000000000}"/>
          </ac:spMkLst>
        </pc:spChg>
        <pc:spChg chg="mod">
          <ac:chgData name="Ebes Esho" userId="46282e2c-6dd3-4f22-954f-9a1e2542c9eb" providerId="ADAL" clId="{34C7327D-C07D-42A0-8C62-2660C8DD074D}" dt="2026-10-13T07:24:16.322" v="226" actId="255"/>
          <ac:spMkLst>
            <pc:docMk/>
            <pc:sldMk cId="0" sldId="266"/>
            <ac:spMk id="36" creationId="{00000000-0000-0000-0000-000000000000}"/>
          </ac:spMkLst>
        </pc:spChg>
      </pc:sldChg>
      <pc:sldChg chg="modSp mod modAnim">
        <pc:chgData name="Ebes Esho" userId="46282e2c-6dd3-4f22-954f-9a1e2542c9eb" providerId="ADAL" clId="{34C7327D-C07D-42A0-8C62-2660C8DD074D}" dt="2026-10-13T07:29:14.337" v="345"/>
        <pc:sldMkLst>
          <pc:docMk/>
          <pc:sldMk cId="0" sldId="267"/>
        </pc:sldMkLst>
        <pc:spChg chg="mod">
          <ac:chgData name="Ebes Esho" userId="46282e2c-6dd3-4f22-954f-9a1e2542c9eb" providerId="ADAL" clId="{34C7327D-C07D-42A0-8C62-2660C8DD074D}" dt="2026-10-13T07:25:17.307" v="242" actId="20577"/>
          <ac:spMkLst>
            <pc:docMk/>
            <pc:sldMk cId="0" sldId="267"/>
            <ac:spMk id="2" creationId="{00000000-0000-0000-0000-000000000000}"/>
          </ac:spMkLst>
        </pc:spChg>
        <pc:spChg chg="mod">
          <ac:chgData name="Ebes Esho" userId="46282e2c-6dd3-4f22-954f-9a1e2542c9eb" providerId="ADAL" clId="{34C7327D-C07D-42A0-8C62-2660C8DD074D}" dt="2026-10-13T07:28:06.143" v="335" actId="255"/>
          <ac:spMkLst>
            <pc:docMk/>
            <pc:sldMk cId="0" sldId="267"/>
            <ac:spMk id="5" creationId="{00000000-0000-0000-0000-000000000000}"/>
          </ac:spMkLst>
        </pc:spChg>
        <pc:spChg chg="mod">
          <ac:chgData name="Ebes Esho" userId="46282e2c-6dd3-4f22-954f-9a1e2542c9eb" providerId="ADAL" clId="{34C7327D-C07D-42A0-8C62-2660C8DD074D}" dt="2026-10-13T07:27:46.088" v="333" actId="255"/>
          <ac:spMkLst>
            <pc:docMk/>
            <pc:sldMk cId="0" sldId="267"/>
            <ac:spMk id="8" creationId="{00000000-0000-0000-0000-000000000000}"/>
          </ac:spMkLst>
        </pc:spChg>
        <pc:spChg chg="mod">
          <ac:chgData name="Ebes Esho" userId="46282e2c-6dd3-4f22-954f-9a1e2542c9eb" providerId="ADAL" clId="{34C7327D-C07D-42A0-8C62-2660C8DD074D}" dt="2026-10-13T07:28:19.324" v="337" actId="255"/>
          <ac:spMkLst>
            <pc:docMk/>
            <pc:sldMk cId="0" sldId="267"/>
            <ac:spMk id="11" creationId="{00000000-0000-0000-0000-000000000000}"/>
          </ac:spMkLst>
        </pc:spChg>
        <pc:spChg chg="mod">
          <ac:chgData name="Ebes Esho" userId="46282e2c-6dd3-4f22-954f-9a1e2542c9eb" providerId="ADAL" clId="{34C7327D-C07D-42A0-8C62-2660C8DD074D}" dt="2026-10-13T07:27:56.733" v="334" actId="255"/>
          <ac:spMkLst>
            <pc:docMk/>
            <pc:sldMk cId="0" sldId="267"/>
            <ac:spMk id="13" creationId="{00000000-0000-0000-0000-000000000000}"/>
          </ac:spMkLst>
        </pc:spChg>
        <pc:spChg chg="mod">
          <ac:chgData name="Ebes Esho" userId="46282e2c-6dd3-4f22-954f-9a1e2542c9eb" providerId="ADAL" clId="{34C7327D-C07D-42A0-8C62-2660C8DD074D}" dt="2026-10-13T07:28:13.155" v="336" actId="255"/>
          <ac:spMkLst>
            <pc:docMk/>
            <pc:sldMk cId="0" sldId="267"/>
            <ac:spMk id="16" creationId="{00000000-0000-0000-0000-000000000000}"/>
          </ac:spMkLst>
        </pc:spChg>
        <pc:spChg chg="mod">
          <ac:chgData name="Ebes Esho" userId="46282e2c-6dd3-4f22-954f-9a1e2542c9eb" providerId="ADAL" clId="{34C7327D-C07D-42A0-8C62-2660C8DD074D}" dt="2026-10-13T07:28:28.912" v="338" actId="255"/>
          <ac:spMkLst>
            <pc:docMk/>
            <pc:sldMk cId="0" sldId="267"/>
            <ac:spMk id="19" creationId="{00000000-0000-0000-0000-000000000000}"/>
          </ac:spMkLst>
        </pc:spChg>
        <pc:spChg chg="mod">
          <ac:chgData name="Ebes Esho" userId="46282e2c-6dd3-4f22-954f-9a1e2542c9eb" providerId="ADAL" clId="{34C7327D-C07D-42A0-8C62-2660C8DD074D}" dt="2026-10-13T07:28:42.580" v="339" actId="255"/>
          <ac:spMkLst>
            <pc:docMk/>
            <pc:sldMk cId="0" sldId="267"/>
            <ac:spMk id="21" creationId="{00000000-0000-0000-0000-000000000000}"/>
          </ac:spMkLst>
        </pc:spChg>
      </pc:sldChg>
      <pc:sldChg chg="modSp mod modAnim">
        <pc:chgData name="Ebes Esho" userId="46282e2c-6dd3-4f22-954f-9a1e2542c9eb" providerId="ADAL" clId="{34C7327D-C07D-42A0-8C62-2660C8DD074D}" dt="2026-10-13T07:30:57.328" v="370"/>
        <pc:sldMkLst>
          <pc:docMk/>
          <pc:sldMk cId="0" sldId="268"/>
        </pc:sldMkLst>
        <pc:spChg chg="mod">
          <ac:chgData name="Ebes Esho" userId="46282e2c-6dd3-4f22-954f-9a1e2542c9eb" providerId="ADAL" clId="{34C7327D-C07D-42A0-8C62-2660C8DD074D}" dt="2026-10-13T07:29:28.017" v="353" actId="20577"/>
          <ac:spMkLst>
            <pc:docMk/>
            <pc:sldMk cId="0" sldId="268"/>
            <ac:spMk id="2" creationId="{00000000-0000-0000-0000-000000000000}"/>
          </ac:spMkLst>
        </pc:spChg>
        <pc:spChg chg="mod">
          <ac:chgData name="Ebes Esho" userId="46282e2c-6dd3-4f22-954f-9a1e2542c9eb" providerId="ADAL" clId="{34C7327D-C07D-42A0-8C62-2660C8DD074D}" dt="2026-10-13T07:30:41.150" v="367" actId="255"/>
          <ac:spMkLst>
            <pc:docMk/>
            <pc:sldMk cId="0" sldId="268"/>
            <ac:spMk id="5" creationId="{00000000-0000-0000-0000-000000000000}"/>
          </ac:spMkLst>
        </pc:spChg>
        <pc:spChg chg="mod">
          <ac:chgData name="Ebes Esho" userId="46282e2c-6dd3-4f22-954f-9a1e2542c9eb" providerId="ADAL" clId="{34C7327D-C07D-42A0-8C62-2660C8DD074D}" dt="2026-10-13T07:30:24.808" v="366" actId="255"/>
          <ac:spMkLst>
            <pc:docMk/>
            <pc:sldMk cId="0" sldId="268"/>
            <ac:spMk id="8" creationId="{00000000-0000-0000-0000-000000000000}"/>
          </ac:spMkLst>
        </pc:spChg>
        <pc:graphicFrameChg chg="modGraphic">
          <ac:chgData name="Ebes Esho" userId="46282e2c-6dd3-4f22-954f-9a1e2542c9eb" providerId="ADAL" clId="{34C7327D-C07D-42A0-8C62-2660C8DD074D}" dt="2026-10-13T07:30:15.532" v="365" actId="255"/>
          <ac:graphicFrameMkLst>
            <pc:docMk/>
            <pc:sldMk cId="0" sldId="268"/>
            <ac:graphicFrameMk id="14" creationId="{00000000-0000-0000-0000-000000000000}"/>
          </ac:graphicFrameMkLst>
        </pc:graphicFrameChg>
      </pc:sldChg>
      <pc:sldChg chg="modSp mod modAnim">
        <pc:chgData name="Ebes Esho" userId="46282e2c-6dd3-4f22-954f-9a1e2542c9eb" providerId="ADAL" clId="{34C7327D-C07D-42A0-8C62-2660C8DD074D}" dt="2026-10-13T07:32:44.977" v="392"/>
        <pc:sldMkLst>
          <pc:docMk/>
          <pc:sldMk cId="0" sldId="269"/>
        </pc:sldMkLst>
        <pc:spChg chg="mod">
          <ac:chgData name="Ebes Esho" userId="46282e2c-6dd3-4f22-954f-9a1e2542c9eb" providerId="ADAL" clId="{34C7327D-C07D-42A0-8C62-2660C8DD074D}" dt="2026-10-13T07:31:18.319" v="376" actId="20577"/>
          <ac:spMkLst>
            <pc:docMk/>
            <pc:sldMk cId="0" sldId="269"/>
            <ac:spMk id="2" creationId="{00000000-0000-0000-0000-000000000000}"/>
          </ac:spMkLst>
        </pc:spChg>
        <pc:spChg chg="mod">
          <ac:chgData name="Ebes Esho" userId="46282e2c-6dd3-4f22-954f-9a1e2542c9eb" providerId="ADAL" clId="{34C7327D-C07D-42A0-8C62-2660C8DD074D}" dt="2026-10-13T07:31:28.980" v="377" actId="255"/>
          <ac:spMkLst>
            <pc:docMk/>
            <pc:sldMk cId="0" sldId="269"/>
            <ac:spMk id="7" creationId="{00000000-0000-0000-0000-000000000000}"/>
          </ac:spMkLst>
        </pc:spChg>
        <pc:spChg chg="mod">
          <ac:chgData name="Ebes Esho" userId="46282e2c-6dd3-4f22-954f-9a1e2542c9eb" providerId="ADAL" clId="{34C7327D-C07D-42A0-8C62-2660C8DD074D}" dt="2026-10-13T07:31:36.234" v="378" actId="255"/>
          <ac:spMkLst>
            <pc:docMk/>
            <pc:sldMk cId="0" sldId="269"/>
            <ac:spMk id="11" creationId="{00000000-0000-0000-0000-000000000000}"/>
          </ac:spMkLst>
        </pc:spChg>
        <pc:spChg chg="mod">
          <ac:chgData name="Ebes Esho" userId="46282e2c-6dd3-4f22-954f-9a1e2542c9eb" providerId="ADAL" clId="{34C7327D-C07D-42A0-8C62-2660C8DD074D}" dt="2026-10-13T07:31:43.338" v="379" actId="255"/>
          <ac:spMkLst>
            <pc:docMk/>
            <pc:sldMk cId="0" sldId="269"/>
            <ac:spMk id="15" creationId="{00000000-0000-0000-0000-000000000000}"/>
          </ac:spMkLst>
        </pc:spChg>
        <pc:spChg chg="mod">
          <ac:chgData name="Ebes Esho" userId="46282e2c-6dd3-4f22-954f-9a1e2542c9eb" providerId="ADAL" clId="{34C7327D-C07D-42A0-8C62-2660C8DD074D}" dt="2026-10-13T07:31:48.728" v="380" actId="255"/>
          <ac:spMkLst>
            <pc:docMk/>
            <pc:sldMk cId="0" sldId="269"/>
            <ac:spMk id="19" creationId="{00000000-0000-0000-0000-000000000000}"/>
          </ac:spMkLst>
        </pc:spChg>
        <pc:spChg chg="mod">
          <ac:chgData name="Ebes Esho" userId="46282e2c-6dd3-4f22-954f-9a1e2542c9eb" providerId="ADAL" clId="{34C7327D-C07D-42A0-8C62-2660C8DD074D}" dt="2026-10-13T07:31:54.807" v="381" actId="255"/>
          <ac:spMkLst>
            <pc:docMk/>
            <pc:sldMk cId="0" sldId="269"/>
            <ac:spMk id="23" creationId="{00000000-0000-0000-0000-000000000000}"/>
          </ac:spMkLst>
        </pc:spChg>
        <pc:spChg chg="mod">
          <ac:chgData name="Ebes Esho" userId="46282e2c-6dd3-4f22-954f-9a1e2542c9eb" providerId="ADAL" clId="{34C7327D-C07D-42A0-8C62-2660C8DD074D}" dt="2026-10-13T07:32:00.699" v="382" actId="255"/>
          <ac:spMkLst>
            <pc:docMk/>
            <pc:sldMk cId="0" sldId="269"/>
            <ac:spMk id="27" creationId="{00000000-0000-0000-0000-000000000000}"/>
          </ac:spMkLst>
        </pc:spChg>
        <pc:spChg chg="mod">
          <ac:chgData name="Ebes Esho" userId="46282e2c-6dd3-4f22-954f-9a1e2542c9eb" providerId="ADAL" clId="{34C7327D-C07D-42A0-8C62-2660C8DD074D}" dt="2026-10-13T07:32:07.173" v="383" actId="255"/>
          <ac:spMkLst>
            <pc:docMk/>
            <pc:sldMk cId="0" sldId="269"/>
            <ac:spMk id="31" creationId="{00000000-0000-0000-0000-000000000000}"/>
          </ac:spMkLst>
        </pc:spChg>
        <pc:spChg chg="mod">
          <ac:chgData name="Ebes Esho" userId="46282e2c-6dd3-4f22-954f-9a1e2542c9eb" providerId="ADAL" clId="{34C7327D-C07D-42A0-8C62-2660C8DD074D}" dt="2026-10-13T07:32:15.713" v="384" actId="255"/>
          <ac:spMkLst>
            <pc:docMk/>
            <pc:sldMk cId="0" sldId="269"/>
            <ac:spMk id="33" creationId="{00000000-0000-0000-0000-000000000000}"/>
          </ac:spMkLst>
        </pc:spChg>
      </pc:sldChg>
      <pc:sldChg chg="modSp mod">
        <pc:chgData name="Ebes Esho" userId="46282e2c-6dd3-4f22-954f-9a1e2542c9eb" providerId="ADAL" clId="{34C7327D-C07D-42A0-8C62-2660C8DD074D}" dt="2026-10-13T07:26:48.758" v="329" actId="20577"/>
        <pc:sldMkLst>
          <pc:docMk/>
          <pc:sldMk cId="0" sldId="270"/>
        </pc:sldMkLst>
        <pc:spChg chg="mod">
          <ac:chgData name="Ebes Esho" userId="46282e2c-6dd3-4f22-954f-9a1e2542c9eb" providerId="ADAL" clId="{34C7327D-C07D-42A0-8C62-2660C8DD074D}" dt="2026-10-13T07:26:48.758" v="329" actId="20577"/>
          <ac:spMkLst>
            <pc:docMk/>
            <pc:sldMk cId="0" sldId="270"/>
            <ac:spMk id="2" creationId="{00000000-0000-0000-0000-000000000000}"/>
          </ac:spMkLst>
        </pc:spChg>
      </pc:sldChg>
      <pc:sldChg chg="modSp mod modAnim">
        <pc:chgData name="Ebes Esho" userId="46282e2c-6dd3-4f22-954f-9a1e2542c9eb" providerId="ADAL" clId="{34C7327D-C07D-42A0-8C62-2660C8DD074D}" dt="2026-10-13T07:35:28.836" v="419"/>
        <pc:sldMkLst>
          <pc:docMk/>
          <pc:sldMk cId="0" sldId="271"/>
        </pc:sldMkLst>
        <pc:spChg chg="mod">
          <ac:chgData name="Ebes Esho" userId="46282e2c-6dd3-4f22-954f-9a1e2542c9eb" providerId="ADAL" clId="{34C7327D-C07D-42A0-8C62-2660C8DD074D}" dt="2026-10-13T07:32:57.723" v="394" actId="20577"/>
          <ac:spMkLst>
            <pc:docMk/>
            <pc:sldMk cId="0" sldId="271"/>
            <ac:spMk id="2" creationId="{00000000-0000-0000-0000-000000000000}"/>
          </ac:spMkLst>
        </pc:spChg>
        <pc:spChg chg="mod">
          <ac:chgData name="Ebes Esho" userId="46282e2c-6dd3-4f22-954f-9a1e2542c9eb" providerId="ADAL" clId="{34C7327D-C07D-42A0-8C62-2660C8DD074D}" dt="2026-10-13T07:33:13.007" v="395" actId="255"/>
          <ac:spMkLst>
            <pc:docMk/>
            <pc:sldMk cId="0" sldId="271"/>
            <ac:spMk id="9" creationId="{00000000-0000-0000-0000-000000000000}"/>
          </ac:spMkLst>
        </pc:spChg>
        <pc:spChg chg="mod">
          <ac:chgData name="Ebes Esho" userId="46282e2c-6dd3-4f22-954f-9a1e2542c9eb" providerId="ADAL" clId="{34C7327D-C07D-42A0-8C62-2660C8DD074D}" dt="2026-10-13T07:34:06.833" v="400" actId="255"/>
          <ac:spMkLst>
            <pc:docMk/>
            <pc:sldMk cId="0" sldId="271"/>
            <ac:spMk id="10" creationId="{00000000-0000-0000-0000-000000000000}"/>
          </ac:spMkLst>
        </pc:spChg>
        <pc:spChg chg="mod">
          <ac:chgData name="Ebes Esho" userId="46282e2c-6dd3-4f22-954f-9a1e2542c9eb" providerId="ADAL" clId="{34C7327D-C07D-42A0-8C62-2660C8DD074D}" dt="2026-10-13T07:33:21.054" v="396" actId="255"/>
          <ac:spMkLst>
            <pc:docMk/>
            <pc:sldMk cId="0" sldId="271"/>
            <ac:spMk id="15" creationId="{00000000-0000-0000-0000-000000000000}"/>
          </ac:spMkLst>
        </pc:spChg>
        <pc:spChg chg="mod">
          <ac:chgData name="Ebes Esho" userId="46282e2c-6dd3-4f22-954f-9a1e2542c9eb" providerId="ADAL" clId="{34C7327D-C07D-42A0-8C62-2660C8DD074D}" dt="2026-10-13T07:34:12.504" v="401" actId="255"/>
          <ac:spMkLst>
            <pc:docMk/>
            <pc:sldMk cId="0" sldId="271"/>
            <ac:spMk id="16" creationId="{00000000-0000-0000-0000-000000000000}"/>
          </ac:spMkLst>
        </pc:spChg>
        <pc:spChg chg="mod">
          <ac:chgData name="Ebes Esho" userId="46282e2c-6dd3-4f22-954f-9a1e2542c9eb" providerId="ADAL" clId="{34C7327D-C07D-42A0-8C62-2660C8DD074D}" dt="2026-10-13T07:33:28.554" v="397" actId="255"/>
          <ac:spMkLst>
            <pc:docMk/>
            <pc:sldMk cId="0" sldId="271"/>
            <ac:spMk id="21" creationId="{00000000-0000-0000-0000-000000000000}"/>
          </ac:spMkLst>
        </pc:spChg>
        <pc:spChg chg="mod">
          <ac:chgData name="Ebes Esho" userId="46282e2c-6dd3-4f22-954f-9a1e2542c9eb" providerId="ADAL" clId="{34C7327D-C07D-42A0-8C62-2660C8DD074D}" dt="2026-10-13T07:34:18.475" v="402" actId="255"/>
          <ac:spMkLst>
            <pc:docMk/>
            <pc:sldMk cId="0" sldId="271"/>
            <ac:spMk id="22" creationId="{00000000-0000-0000-0000-000000000000}"/>
          </ac:spMkLst>
        </pc:spChg>
        <pc:spChg chg="mod">
          <ac:chgData name="Ebes Esho" userId="46282e2c-6dd3-4f22-954f-9a1e2542c9eb" providerId="ADAL" clId="{34C7327D-C07D-42A0-8C62-2660C8DD074D}" dt="2026-10-13T07:33:47.943" v="398" actId="255"/>
          <ac:spMkLst>
            <pc:docMk/>
            <pc:sldMk cId="0" sldId="271"/>
            <ac:spMk id="27" creationId="{00000000-0000-0000-0000-000000000000}"/>
          </ac:spMkLst>
        </pc:spChg>
        <pc:spChg chg="mod">
          <ac:chgData name="Ebes Esho" userId="46282e2c-6dd3-4f22-954f-9a1e2542c9eb" providerId="ADAL" clId="{34C7327D-C07D-42A0-8C62-2660C8DD074D}" dt="2026-10-13T07:34:24.532" v="403" actId="255"/>
          <ac:spMkLst>
            <pc:docMk/>
            <pc:sldMk cId="0" sldId="271"/>
            <ac:spMk id="28" creationId="{00000000-0000-0000-0000-000000000000}"/>
          </ac:spMkLst>
        </pc:spChg>
        <pc:spChg chg="mod">
          <ac:chgData name="Ebes Esho" userId="46282e2c-6dd3-4f22-954f-9a1e2542c9eb" providerId="ADAL" clId="{34C7327D-C07D-42A0-8C62-2660C8DD074D}" dt="2026-10-13T07:33:56.487" v="399" actId="255"/>
          <ac:spMkLst>
            <pc:docMk/>
            <pc:sldMk cId="0" sldId="271"/>
            <ac:spMk id="33" creationId="{00000000-0000-0000-0000-000000000000}"/>
          </ac:spMkLst>
        </pc:spChg>
        <pc:spChg chg="mod">
          <ac:chgData name="Ebes Esho" userId="46282e2c-6dd3-4f22-954f-9a1e2542c9eb" providerId="ADAL" clId="{34C7327D-C07D-42A0-8C62-2660C8DD074D}" dt="2026-10-13T07:34:31.250" v="404" actId="255"/>
          <ac:spMkLst>
            <pc:docMk/>
            <pc:sldMk cId="0" sldId="271"/>
            <ac:spMk id="34" creationId="{00000000-0000-0000-0000-000000000000}"/>
          </ac:spMkLst>
        </pc:spChg>
      </pc:sldChg>
      <pc:sldChg chg="modSp mod modAnim">
        <pc:chgData name="Ebes Esho" userId="46282e2c-6dd3-4f22-954f-9a1e2542c9eb" providerId="ADAL" clId="{34C7327D-C07D-42A0-8C62-2660C8DD074D}" dt="2026-10-13T07:37:39.798" v="433"/>
        <pc:sldMkLst>
          <pc:docMk/>
          <pc:sldMk cId="0" sldId="272"/>
        </pc:sldMkLst>
        <pc:spChg chg="mod">
          <ac:chgData name="Ebes Esho" userId="46282e2c-6dd3-4f22-954f-9a1e2542c9eb" providerId="ADAL" clId="{34C7327D-C07D-42A0-8C62-2660C8DD074D}" dt="2026-10-13T07:36:04.296" v="421" actId="255"/>
          <ac:spMkLst>
            <pc:docMk/>
            <pc:sldMk cId="0" sldId="272"/>
            <ac:spMk id="6" creationId="{00000000-0000-0000-0000-000000000000}"/>
          </ac:spMkLst>
        </pc:spChg>
        <pc:spChg chg="mod">
          <ac:chgData name="Ebes Esho" userId="46282e2c-6dd3-4f22-954f-9a1e2542c9eb" providerId="ADAL" clId="{34C7327D-C07D-42A0-8C62-2660C8DD074D}" dt="2026-10-13T07:35:41.129" v="420" actId="255"/>
          <ac:spMkLst>
            <pc:docMk/>
            <pc:sldMk cId="0" sldId="272"/>
            <ac:spMk id="7" creationId="{00000000-0000-0000-0000-000000000000}"/>
          </ac:spMkLst>
        </pc:spChg>
        <pc:spChg chg="mod">
          <ac:chgData name="Ebes Esho" userId="46282e2c-6dd3-4f22-954f-9a1e2542c9eb" providerId="ADAL" clId="{34C7327D-C07D-42A0-8C62-2660C8DD074D}" dt="2026-10-13T07:36:31.528" v="423" actId="255"/>
          <ac:spMkLst>
            <pc:docMk/>
            <pc:sldMk cId="0" sldId="272"/>
            <ac:spMk id="10" creationId="{00000000-0000-0000-0000-000000000000}"/>
          </ac:spMkLst>
        </pc:spChg>
        <pc:spChg chg="mod">
          <ac:chgData name="Ebes Esho" userId="46282e2c-6dd3-4f22-954f-9a1e2542c9eb" providerId="ADAL" clId="{34C7327D-C07D-42A0-8C62-2660C8DD074D}" dt="2026-10-13T07:36:23.128" v="422" actId="255"/>
          <ac:spMkLst>
            <pc:docMk/>
            <pc:sldMk cId="0" sldId="272"/>
            <ac:spMk id="11" creationId="{00000000-0000-0000-0000-000000000000}"/>
          </ac:spMkLst>
        </pc:spChg>
        <pc:spChg chg="mod">
          <ac:chgData name="Ebes Esho" userId="46282e2c-6dd3-4f22-954f-9a1e2542c9eb" providerId="ADAL" clId="{34C7327D-C07D-42A0-8C62-2660C8DD074D}" dt="2026-10-13T07:36:43.616" v="424" actId="255"/>
          <ac:spMkLst>
            <pc:docMk/>
            <pc:sldMk cId="0" sldId="272"/>
            <ac:spMk id="15" creationId="{00000000-0000-0000-0000-000000000000}"/>
          </ac:spMkLst>
        </pc:spChg>
        <pc:spChg chg="mod">
          <ac:chgData name="Ebes Esho" userId="46282e2c-6dd3-4f22-954f-9a1e2542c9eb" providerId="ADAL" clId="{34C7327D-C07D-42A0-8C62-2660C8DD074D}" dt="2026-10-13T07:37:17.393" v="428" actId="255"/>
          <ac:spMkLst>
            <pc:docMk/>
            <pc:sldMk cId="0" sldId="272"/>
            <ac:spMk id="18" creationId="{00000000-0000-0000-0000-000000000000}"/>
          </ac:spMkLst>
        </pc:spChg>
        <pc:spChg chg="mod">
          <ac:chgData name="Ebes Esho" userId="46282e2c-6dd3-4f22-954f-9a1e2542c9eb" providerId="ADAL" clId="{34C7327D-C07D-42A0-8C62-2660C8DD074D}" dt="2026-10-13T07:36:49.590" v="425" actId="255"/>
          <ac:spMkLst>
            <pc:docMk/>
            <pc:sldMk cId="0" sldId="272"/>
            <ac:spMk id="19" creationId="{00000000-0000-0000-0000-000000000000}"/>
          </ac:spMkLst>
        </pc:spChg>
        <pc:spChg chg="mod">
          <ac:chgData name="Ebes Esho" userId="46282e2c-6dd3-4f22-954f-9a1e2542c9eb" providerId="ADAL" clId="{34C7327D-C07D-42A0-8C62-2660C8DD074D}" dt="2026-10-13T07:37:05.497" v="427" actId="255"/>
          <ac:spMkLst>
            <pc:docMk/>
            <pc:sldMk cId="0" sldId="272"/>
            <ac:spMk id="22" creationId="{00000000-0000-0000-0000-000000000000}"/>
          </ac:spMkLst>
        </pc:spChg>
        <pc:spChg chg="mod">
          <ac:chgData name="Ebes Esho" userId="46282e2c-6dd3-4f22-954f-9a1e2542c9eb" providerId="ADAL" clId="{34C7327D-C07D-42A0-8C62-2660C8DD074D}" dt="2026-10-13T07:36:56.698" v="426" actId="255"/>
          <ac:spMkLst>
            <pc:docMk/>
            <pc:sldMk cId="0" sldId="272"/>
            <ac:spMk id="23" creationId="{00000000-0000-0000-0000-000000000000}"/>
          </ac:spMkLst>
        </pc:spChg>
      </pc:sldChg>
      <pc:sldChg chg="modSp mod modAnim">
        <pc:chgData name="Ebes Esho" userId="46282e2c-6dd3-4f22-954f-9a1e2542c9eb" providerId="ADAL" clId="{34C7327D-C07D-42A0-8C62-2660C8DD074D}" dt="2026-10-13T07:39:12.474" v="453"/>
        <pc:sldMkLst>
          <pc:docMk/>
          <pc:sldMk cId="0" sldId="273"/>
        </pc:sldMkLst>
        <pc:spChg chg="mod">
          <ac:chgData name="Ebes Esho" userId="46282e2c-6dd3-4f22-954f-9a1e2542c9eb" providerId="ADAL" clId="{34C7327D-C07D-42A0-8C62-2660C8DD074D}" dt="2026-10-13T07:37:51.042" v="439" actId="20577"/>
          <ac:spMkLst>
            <pc:docMk/>
            <pc:sldMk cId="0" sldId="273"/>
            <ac:spMk id="2" creationId="{00000000-0000-0000-0000-000000000000}"/>
          </ac:spMkLst>
        </pc:spChg>
        <pc:spChg chg="mod">
          <ac:chgData name="Ebes Esho" userId="46282e2c-6dd3-4f22-954f-9a1e2542c9eb" providerId="ADAL" clId="{34C7327D-C07D-42A0-8C62-2660C8DD074D}" dt="2026-10-13T07:38:02.734" v="440" actId="255"/>
          <ac:spMkLst>
            <pc:docMk/>
            <pc:sldMk cId="0" sldId="273"/>
            <ac:spMk id="8" creationId="{00000000-0000-0000-0000-000000000000}"/>
          </ac:spMkLst>
        </pc:spChg>
        <pc:spChg chg="mod">
          <ac:chgData name="Ebes Esho" userId="46282e2c-6dd3-4f22-954f-9a1e2542c9eb" providerId="ADAL" clId="{34C7327D-C07D-42A0-8C62-2660C8DD074D}" dt="2026-10-13T07:38:09.277" v="441" actId="255"/>
          <ac:spMkLst>
            <pc:docMk/>
            <pc:sldMk cId="0" sldId="273"/>
            <ac:spMk id="12" creationId="{00000000-0000-0000-0000-000000000000}"/>
          </ac:spMkLst>
        </pc:spChg>
        <pc:spChg chg="mod">
          <ac:chgData name="Ebes Esho" userId="46282e2c-6dd3-4f22-954f-9a1e2542c9eb" providerId="ADAL" clId="{34C7327D-C07D-42A0-8C62-2660C8DD074D}" dt="2026-10-13T07:38:16.906" v="442" actId="255"/>
          <ac:spMkLst>
            <pc:docMk/>
            <pc:sldMk cId="0" sldId="273"/>
            <ac:spMk id="16" creationId="{00000000-0000-0000-0000-000000000000}"/>
          </ac:spMkLst>
        </pc:spChg>
        <pc:spChg chg="mod">
          <ac:chgData name="Ebes Esho" userId="46282e2c-6dd3-4f22-954f-9a1e2542c9eb" providerId="ADAL" clId="{34C7327D-C07D-42A0-8C62-2660C8DD074D}" dt="2026-10-13T07:38:26.478" v="443" actId="255"/>
          <ac:spMkLst>
            <pc:docMk/>
            <pc:sldMk cId="0" sldId="273"/>
            <ac:spMk id="20" creationId="{00000000-0000-0000-0000-000000000000}"/>
          </ac:spMkLst>
        </pc:spChg>
        <pc:spChg chg="mod">
          <ac:chgData name="Ebes Esho" userId="46282e2c-6dd3-4f22-954f-9a1e2542c9eb" providerId="ADAL" clId="{34C7327D-C07D-42A0-8C62-2660C8DD074D}" dt="2026-10-13T07:38:32.470" v="444" actId="255"/>
          <ac:spMkLst>
            <pc:docMk/>
            <pc:sldMk cId="0" sldId="273"/>
            <ac:spMk id="24" creationId="{00000000-0000-0000-0000-000000000000}"/>
          </ac:spMkLst>
        </pc:spChg>
        <pc:spChg chg="mod">
          <ac:chgData name="Ebes Esho" userId="46282e2c-6dd3-4f22-954f-9a1e2542c9eb" providerId="ADAL" clId="{34C7327D-C07D-42A0-8C62-2660C8DD074D}" dt="2026-10-13T07:38:37.645" v="445" actId="255"/>
          <ac:spMkLst>
            <pc:docMk/>
            <pc:sldMk cId="0" sldId="273"/>
            <ac:spMk id="28" creationId="{00000000-0000-0000-0000-000000000000}"/>
          </ac:spMkLst>
        </pc:spChg>
        <pc:spChg chg="mod">
          <ac:chgData name="Ebes Esho" userId="46282e2c-6dd3-4f22-954f-9a1e2542c9eb" providerId="ADAL" clId="{34C7327D-C07D-42A0-8C62-2660C8DD074D}" dt="2026-10-13T07:38:43.605" v="446" actId="255"/>
          <ac:spMkLst>
            <pc:docMk/>
            <pc:sldMk cId="0" sldId="273"/>
            <ac:spMk id="32" creationId="{00000000-0000-0000-0000-000000000000}"/>
          </ac:spMkLst>
        </pc:spChg>
      </pc:sldChg>
      <pc:sldChg chg="modSp mod modAnim">
        <pc:chgData name="Ebes Esho" userId="46282e2c-6dd3-4f22-954f-9a1e2542c9eb" providerId="ADAL" clId="{34C7327D-C07D-42A0-8C62-2660C8DD074D}" dt="2026-10-13T07:40:18.950" v="466"/>
        <pc:sldMkLst>
          <pc:docMk/>
          <pc:sldMk cId="0" sldId="274"/>
        </pc:sldMkLst>
        <pc:spChg chg="mod">
          <ac:chgData name="Ebes Esho" userId="46282e2c-6dd3-4f22-954f-9a1e2542c9eb" providerId="ADAL" clId="{34C7327D-C07D-42A0-8C62-2660C8DD074D}" dt="2026-10-13T07:39:24.695" v="457" actId="20577"/>
          <ac:spMkLst>
            <pc:docMk/>
            <pc:sldMk cId="0" sldId="274"/>
            <ac:spMk id="2" creationId="{00000000-0000-0000-0000-000000000000}"/>
          </ac:spMkLst>
        </pc:spChg>
        <pc:spChg chg="mod">
          <ac:chgData name="Ebes Esho" userId="46282e2c-6dd3-4f22-954f-9a1e2542c9eb" providerId="ADAL" clId="{34C7327D-C07D-42A0-8C62-2660C8DD074D}" dt="2026-10-13T07:39:55.010" v="461" actId="255"/>
          <ac:spMkLst>
            <pc:docMk/>
            <pc:sldMk cId="0" sldId="274"/>
            <ac:spMk id="8" creationId="{00000000-0000-0000-0000-000000000000}"/>
          </ac:spMkLst>
        </pc:spChg>
        <pc:spChg chg="mod">
          <ac:chgData name="Ebes Esho" userId="46282e2c-6dd3-4f22-954f-9a1e2542c9eb" providerId="ADAL" clId="{34C7327D-C07D-42A0-8C62-2660C8DD074D}" dt="2026-10-13T07:39:48.307" v="460" actId="255"/>
          <ac:spMkLst>
            <pc:docMk/>
            <pc:sldMk cId="0" sldId="274"/>
            <ac:spMk id="12" creationId="{00000000-0000-0000-0000-000000000000}"/>
          </ac:spMkLst>
        </pc:spChg>
        <pc:spChg chg="mod">
          <ac:chgData name="Ebes Esho" userId="46282e2c-6dd3-4f22-954f-9a1e2542c9eb" providerId="ADAL" clId="{34C7327D-C07D-42A0-8C62-2660C8DD074D}" dt="2026-10-13T07:40:02.140" v="462" actId="255"/>
          <ac:spMkLst>
            <pc:docMk/>
            <pc:sldMk cId="0" sldId="274"/>
            <ac:spMk id="16" creationId="{00000000-0000-0000-0000-000000000000}"/>
          </ac:spMkLst>
        </pc:spChg>
        <pc:graphicFrameChg chg="modGraphic">
          <ac:chgData name="Ebes Esho" userId="46282e2c-6dd3-4f22-954f-9a1e2542c9eb" providerId="ADAL" clId="{34C7327D-C07D-42A0-8C62-2660C8DD074D}" dt="2026-10-13T07:39:33.582" v="458" actId="255"/>
          <ac:graphicFrameMkLst>
            <pc:docMk/>
            <pc:sldMk cId="0" sldId="274"/>
            <ac:graphicFrameMk id="20" creationId="{00000000-0000-0000-0000-000000000000}"/>
          </ac:graphicFrameMkLst>
        </pc:graphicFrameChg>
      </pc:sldChg>
      <pc:sldChg chg="modSp mod">
        <pc:chgData name="Ebes Esho" userId="46282e2c-6dd3-4f22-954f-9a1e2542c9eb" providerId="ADAL" clId="{34C7327D-C07D-42A0-8C62-2660C8DD074D}" dt="2026-10-13T07:40:23.573" v="468" actId="20577"/>
        <pc:sldMkLst>
          <pc:docMk/>
          <pc:sldMk cId="0" sldId="275"/>
        </pc:sldMkLst>
        <pc:spChg chg="mod">
          <ac:chgData name="Ebes Esho" userId="46282e2c-6dd3-4f22-954f-9a1e2542c9eb" providerId="ADAL" clId="{34C7327D-C07D-42A0-8C62-2660C8DD074D}" dt="2026-10-13T07:27:02.214" v="331" actId="20577"/>
          <ac:spMkLst>
            <pc:docMk/>
            <pc:sldMk cId="0" sldId="275"/>
            <ac:spMk id="2" creationId="{00000000-0000-0000-0000-000000000000}"/>
          </ac:spMkLst>
        </pc:spChg>
        <pc:spChg chg="mod">
          <ac:chgData name="Ebes Esho" userId="46282e2c-6dd3-4f22-954f-9a1e2542c9eb" providerId="ADAL" clId="{34C7327D-C07D-42A0-8C62-2660C8DD074D}" dt="2026-10-13T07:40:23.573" v="468" actId="20577"/>
          <ac:spMkLst>
            <pc:docMk/>
            <pc:sldMk cId="0" sldId="275"/>
            <ac:spMk id="3" creationId="{00000000-0000-0000-0000-000000000000}"/>
          </ac:spMkLst>
        </pc:spChg>
      </pc:sldChg>
      <pc:sldChg chg="modSp mod modAnim">
        <pc:chgData name="Ebes Esho" userId="46282e2c-6dd3-4f22-954f-9a1e2542c9eb" providerId="ADAL" clId="{34C7327D-C07D-42A0-8C62-2660C8DD074D}" dt="2026-10-13T07:41:07.719" v="477" actId="20577"/>
        <pc:sldMkLst>
          <pc:docMk/>
          <pc:sldMk cId="0" sldId="276"/>
        </pc:sldMkLst>
        <pc:spChg chg="mod">
          <ac:chgData name="Ebes Esho" userId="46282e2c-6dd3-4f22-954f-9a1e2542c9eb" providerId="ADAL" clId="{34C7327D-C07D-42A0-8C62-2660C8DD074D}" dt="2026-10-13T07:41:07.719" v="477" actId="20577"/>
          <ac:spMkLst>
            <pc:docMk/>
            <pc:sldMk cId="0" sldId="276"/>
            <ac:spMk id="2" creationId="{00000000-0000-0000-0000-000000000000}"/>
          </ac:spMkLst>
        </pc:spChg>
      </pc:sldChg>
      <pc:sldChg chg="modSp mod modAnim">
        <pc:chgData name="Ebes Esho" userId="46282e2c-6dd3-4f22-954f-9a1e2542c9eb" providerId="ADAL" clId="{34C7327D-C07D-42A0-8C62-2660C8DD074D}" dt="2026-10-13T07:42:08.127" v="485"/>
        <pc:sldMkLst>
          <pc:docMk/>
          <pc:sldMk cId="0" sldId="277"/>
        </pc:sldMkLst>
        <pc:spChg chg="mod">
          <ac:chgData name="Ebes Esho" userId="46282e2c-6dd3-4f22-954f-9a1e2542c9eb" providerId="ADAL" clId="{34C7327D-C07D-42A0-8C62-2660C8DD074D}" dt="2026-10-13T07:41:21.398" v="478" actId="255"/>
          <ac:spMkLst>
            <pc:docMk/>
            <pc:sldMk cId="0" sldId="277"/>
            <ac:spMk id="10" creationId="{00000000-0000-0000-0000-000000000000}"/>
          </ac:spMkLst>
        </pc:spChg>
        <pc:spChg chg="mod">
          <ac:chgData name="Ebes Esho" userId="46282e2c-6dd3-4f22-954f-9a1e2542c9eb" providerId="ADAL" clId="{34C7327D-C07D-42A0-8C62-2660C8DD074D}" dt="2026-10-13T07:41:38.563" v="479" actId="255"/>
          <ac:spMkLst>
            <pc:docMk/>
            <pc:sldMk cId="0" sldId="277"/>
            <ac:spMk id="12" creationId="{00000000-0000-0000-0000-000000000000}"/>
          </ac:spMkLst>
        </pc:spChg>
        <pc:spChg chg="mod">
          <ac:chgData name="Ebes Esho" userId="46282e2c-6dd3-4f22-954f-9a1e2542c9eb" providerId="ADAL" clId="{34C7327D-C07D-42A0-8C62-2660C8DD074D}" dt="2026-10-13T07:41:44.199" v="480" actId="255"/>
          <ac:spMkLst>
            <pc:docMk/>
            <pc:sldMk cId="0" sldId="277"/>
            <ac:spMk id="14" creationId="{00000000-0000-0000-0000-000000000000}"/>
          </ac:spMkLst>
        </pc:spChg>
        <pc:spChg chg="mod">
          <ac:chgData name="Ebes Esho" userId="46282e2c-6dd3-4f22-954f-9a1e2542c9eb" providerId="ADAL" clId="{34C7327D-C07D-42A0-8C62-2660C8DD074D}" dt="2026-10-13T07:41:50.253" v="481" actId="255"/>
          <ac:spMkLst>
            <pc:docMk/>
            <pc:sldMk cId="0" sldId="277"/>
            <ac:spMk id="16" creationId="{00000000-0000-0000-0000-000000000000}"/>
          </ac:spMkLst>
        </pc:spChg>
      </pc:sldChg>
      <pc:sldChg chg="modSp mod modAnim">
        <pc:chgData name="Ebes Esho" userId="46282e2c-6dd3-4f22-954f-9a1e2542c9eb" providerId="ADAL" clId="{34C7327D-C07D-42A0-8C62-2660C8DD074D}" dt="2026-10-13T07:42:57.575" v="492"/>
        <pc:sldMkLst>
          <pc:docMk/>
          <pc:sldMk cId="0" sldId="278"/>
        </pc:sldMkLst>
        <pc:spChg chg="mod">
          <ac:chgData name="Ebes Esho" userId="46282e2c-6dd3-4f22-954f-9a1e2542c9eb" providerId="ADAL" clId="{34C7327D-C07D-42A0-8C62-2660C8DD074D}" dt="2026-10-13T07:42:37.873" v="488" actId="255"/>
          <ac:spMkLst>
            <pc:docMk/>
            <pc:sldMk cId="0" sldId="278"/>
            <ac:spMk id="12" creationId="{00000000-0000-0000-0000-000000000000}"/>
          </ac:spMkLst>
        </pc:spChg>
        <pc:spChg chg="mod">
          <ac:chgData name="Ebes Esho" userId="46282e2c-6dd3-4f22-954f-9a1e2542c9eb" providerId="ADAL" clId="{34C7327D-C07D-42A0-8C62-2660C8DD074D}" dt="2026-10-13T07:42:31.452" v="487" actId="255"/>
          <ac:spMkLst>
            <pc:docMk/>
            <pc:sldMk cId="0" sldId="278"/>
            <ac:spMk id="14" creationId="{00000000-0000-0000-0000-000000000000}"/>
          </ac:spMkLst>
        </pc:spChg>
        <pc:spChg chg="mod">
          <ac:chgData name="Ebes Esho" userId="46282e2c-6dd3-4f22-954f-9a1e2542c9eb" providerId="ADAL" clId="{34C7327D-C07D-42A0-8C62-2660C8DD074D}" dt="2026-10-13T07:42:25.654" v="486" actId="255"/>
          <ac:spMkLst>
            <pc:docMk/>
            <pc:sldMk cId="0" sldId="278"/>
            <ac:spMk id="16" creationId="{00000000-0000-0000-0000-000000000000}"/>
          </ac:spMkLst>
        </pc:spChg>
      </pc:sldChg>
      <pc:sldChg chg="modSp mod modAnim">
        <pc:chgData name="Ebes Esho" userId="46282e2c-6dd3-4f22-954f-9a1e2542c9eb" providerId="ADAL" clId="{34C7327D-C07D-42A0-8C62-2660C8DD074D}" dt="2026-10-13T07:43:45.810" v="499"/>
        <pc:sldMkLst>
          <pc:docMk/>
          <pc:sldMk cId="0" sldId="279"/>
        </pc:sldMkLst>
        <pc:spChg chg="mod">
          <ac:chgData name="Ebes Esho" userId="46282e2c-6dd3-4f22-954f-9a1e2542c9eb" providerId="ADAL" clId="{34C7327D-C07D-42A0-8C62-2660C8DD074D}" dt="2026-10-13T07:43:26.353" v="495" actId="255"/>
          <ac:spMkLst>
            <pc:docMk/>
            <pc:sldMk cId="0" sldId="279"/>
            <ac:spMk id="12" creationId="{00000000-0000-0000-0000-000000000000}"/>
          </ac:spMkLst>
        </pc:spChg>
        <pc:spChg chg="mod">
          <ac:chgData name="Ebes Esho" userId="46282e2c-6dd3-4f22-954f-9a1e2542c9eb" providerId="ADAL" clId="{34C7327D-C07D-42A0-8C62-2660C8DD074D}" dt="2026-10-13T07:43:19.197" v="494" actId="255"/>
          <ac:spMkLst>
            <pc:docMk/>
            <pc:sldMk cId="0" sldId="279"/>
            <ac:spMk id="14" creationId="{00000000-0000-0000-0000-000000000000}"/>
          </ac:spMkLst>
        </pc:spChg>
        <pc:spChg chg="mod">
          <ac:chgData name="Ebes Esho" userId="46282e2c-6dd3-4f22-954f-9a1e2542c9eb" providerId="ADAL" clId="{34C7327D-C07D-42A0-8C62-2660C8DD074D}" dt="2026-10-13T07:43:10.906" v="493" actId="255"/>
          <ac:spMkLst>
            <pc:docMk/>
            <pc:sldMk cId="0" sldId="279"/>
            <ac:spMk id="16" creationId="{00000000-0000-0000-0000-000000000000}"/>
          </ac:spMkLst>
        </pc:spChg>
      </pc:sldChg>
      <pc:sldChg chg="modSp mod modAnim">
        <pc:chgData name="Ebes Esho" userId="46282e2c-6dd3-4f22-954f-9a1e2542c9eb" providerId="ADAL" clId="{34C7327D-C07D-42A0-8C62-2660C8DD074D}" dt="2026-10-13T07:45:44.015" v="517"/>
        <pc:sldMkLst>
          <pc:docMk/>
          <pc:sldMk cId="0" sldId="280"/>
        </pc:sldMkLst>
        <pc:spChg chg="mod">
          <ac:chgData name="Ebes Esho" userId="46282e2c-6dd3-4f22-954f-9a1e2542c9eb" providerId="ADAL" clId="{34C7327D-C07D-42A0-8C62-2660C8DD074D}" dt="2026-10-13T07:44:32.570" v="503" actId="20577"/>
          <ac:spMkLst>
            <pc:docMk/>
            <pc:sldMk cId="0" sldId="280"/>
            <ac:spMk id="2" creationId="{00000000-0000-0000-0000-000000000000}"/>
          </ac:spMkLst>
        </pc:spChg>
      </pc:sldChg>
      <pc:sldChg chg="modSp mod modAnim">
        <pc:chgData name="Ebes Esho" userId="46282e2c-6dd3-4f22-954f-9a1e2542c9eb" providerId="ADAL" clId="{34C7327D-C07D-42A0-8C62-2660C8DD074D}" dt="2026-10-13T07:47:06.310" v="531"/>
        <pc:sldMkLst>
          <pc:docMk/>
          <pc:sldMk cId="0" sldId="281"/>
        </pc:sldMkLst>
        <pc:spChg chg="mod">
          <ac:chgData name="Ebes Esho" userId="46282e2c-6dd3-4f22-954f-9a1e2542c9eb" providerId="ADAL" clId="{34C7327D-C07D-42A0-8C62-2660C8DD074D}" dt="2026-10-13T07:45:58.057" v="519" actId="255"/>
          <ac:spMkLst>
            <pc:docMk/>
            <pc:sldMk cId="0" sldId="281"/>
            <ac:spMk id="5" creationId="{00000000-0000-0000-0000-000000000000}"/>
          </ac:spMkLst>
        </pc:spChg>
        <pc:spChg chg="mod">
          <ac:chgData name="Ebes Esho" userId="46282e2c-6dd3-4f22-954f-9a1e2542c9eb" providerId="ADAL" clId="{34C7327D-C07D-42A0-8C62-2660C8DD074D}" dt="2026-10-13T07:46:04.994" v="520" actId="255"/>
          <ac:spMkLst>
            <pc:docMk/>
            <pc:sldMk cId="0" sldId="281"/>
            <ac:spMk id="7" creationId="{00000000-0000-0000-0000-000000000000}"/>
          </ac:spMkLst>
        </pc:spChg>
        <pc:spChg chg="mod">
          <ac:chgData name="Ebes Esho" userId="46282e2c-6dd3-4f22-954f-9a1e2542c9eb" providerId="ADAL" clId="{34C7327D-C07D-42A0-8C62-2660C8DD074D}" dt="2026-10-13T07:46:10.768" v="521" actId="255"/>
          <ac:spMkLst>
            <pc:docMk/>
            <pc:sldMk cId="0" sldId="281"/>
            <ac:spMk id="9" creationId="{00000000-0000-0000-0000-000000000000}"/>
          </ac:spMkLst>
        </pc:spChg>
        <pc:spChg chg="mod">
          <ac:chgData name="Ebes Esho" userId="46282e2c-6dd3-4f22-954f-9a1e2542c9eb" providerId="ADAL" clId="{34C7327D-C07D-42A0-8C62-2660C8DD074D}" dt="2026-10-13T07:46:20.072" v="522" actId="255"/>
          <ac:spMkLst>
            <pc:docMk/>
            <pc:sldMk cId="0" sldId="281"/>
            <ac:spMk id="11" creationId="{00000000-0000-0000-0000-000000000000}"/>
          </ac:spMkLst>
        </pc:spChg>
        <pc:spChg chg="mod">
          <ac:chgData name="Ebes Esho" userId="46282e2c-6dd3-4f22-954f-9a1e2542c9eb" providerId="ADAL" clId="{34C7327D-C07D-42A0-8C62-2660C8DD074D}" dt="2026-10-13T07:46:31.056" v="524" actId="14100"/>
          <ac:spMkLst>
            <pc:docMk/>
            <pc:sldMk cId="0" sldId="281"/>
            <ac:spMk id="13" creationId="{00000000-0000-0000-0000-000000000000}"/>
          </ac:spMkLst>
        </pc:spChg>
        <pc:spChg chg="mod">
          <ac:chgData name="Ebes Esho" userId="46282e2c-6dd3-4f22-954f-9a1e2542c9eb" providerId="ADAL" clId="{34C7327D-C07D-42A0-8C62-2660C8DD074D}" dt="2026-10-13T07:46:37.225" v="525" actId="255"/>
          <ac:spMkLst>
            <pc:docMk/>
            <pc:sldMk cId="0" sldId="281"/>
            <ac:spMk id="15" creationId="{00000000-0000-0000-0000-000000000000}"/>
          </ac:spMkLst>
        </pc:spChg>
      </pc:sldChg>
      <pc:sldChg chg="modSp mod modAnim">
        <pc:chgData name="Ebes Esho" userId="46282e2c-6dd3-4f22-954f-9a1e2542c9eb" providerId="ADAL" clId="{34C7327D-C07D-42A0-8C62-2660C8DD074D}" dt="2026-10-13T07:47:53.621" v="554"/>
        <pc:sldMkLst>
          <pc:docMk/>
          <pc:sldMk cId="0" sldId="282"/>
        </pc:sldMkLst>
        <pc:spChg chg="mod">
          <ac:chgData name="Ebes Esho" userId="46282e2c-6dd3-4f22-954f-9a1e2542c9eb" providerId="ADAL" clId="{34C7327D-C07D-42A0-8C62-2660C8DD074D}" dt="2026-10-13T07:47:29.798" v="550" actId="20577"/>
          <ac:spMkLst>
            <pc:docMk/>
            <pc:sldMk cId="0" sldId="282"/>
            <ac:spMk id="2" creationId="{00000000-0000-0000-0000-000000000000}"/>
          </ac:spMkLst>
        </pc:spChg>
      </pc:sldChg>
      <pc:sldChg chg="modSp mod">
        <pc:chgData name="Ebes Esho" userId="46282e2c-6dd3-4f22-954f-9a1e2542c9eb" providerId="ADAL" clId="{34C7327D-C07D-42A0-8C62-2660C8DD074D}" dt="2026-10-13T07:48:09.589" v="557" actId="255"/>
        <pc:sldMkLst>
          <pc:docMk/>
          <pc:sldMk cId="0" sldId="283"/>
        </pc:sldMkLst>
        <pc:spChg chg="mod">
          <ac:chgData name="Ebes Esho" userId="46282e2c-6dd3-4f22-954f-9a1e2542c9eb" providerId="ADAL" clId="{34C7327D-C07D-42A0-8C62-2660C8DD074D}" dt="2026-10-13T07:47:57.957" v="556" actId="20577"/>
          <ac:spMkLst>
            <pc:docMk/>
            <pc:sldMk cId="0" sldId="283"/>
            <ac:spMk id="2" creationId="{00000000-0000-0000-0000-000000000000}"/>
          </ac:spMkLst>
        </pc:spChg>
        <pc:graphicFrameChg chg="modGraphic">
          <ac:chgData name="Ebes Esho" userId="46282e2c-6dd3-4f22-954f-9a1e2542c9eb" providerId="ADAL" clId="{34C7327D-C07D-42A0-8C62-2660C8DD074D}" dt="2026-10-13T07:48:09.589" v="557" actId="255"/>
          <ac:graphicFrameMkLst>
            <pc:docMk/>
            <pc:sldMk cId="0" sldId="283"/>
            <ac:graphicFrameMk id="29" creationId="{00000000-0000-0000-0000-000000000000}"/>
          </ac:graphicFrameMkLst>
        </pc:graphicFrameChg>
      </pc:sldChg>
      <pc:sldChg chg="modAnim">
        <pc:chgData name="Ebes Esho" userId="46282e2c-6dd3-4f22-954f-9a1e2542c9eb" providerId="ADAL" clId="{34C7327D-C07D-42A0-8C62-2660C8DD074D}" dt="2026-10-13T07:48:46.362" v="562"/>
        <pc:sldMkLst>
          <pc:docMk/>
          <pc:sldMk cId="0" sldId="284"/>
        </pc:sldMkLst>
      </pc:sldChg>
      <pc:sldChg chg="modAnim">
        <pc:chgData name="Ebes Esho" userId="46282e2c-6dd3-4f22-954f-9a1e2542c9eb" providerId="ADAL" clId="{34C7327D-C07D-42A0-8C62-2660C8DD074D}" dt="2026-10-13T07:49:21.512" v="567"/>
        <pc:sldMkLst>
          <pc:docMk/>
          <pc:sldMk cId="0" sldId="285"/>
        </pc:sldMkLst>
      </pc:sldChg>
      <pc:sldChg chg="addSp delSp modSp add mod">
        <pc:chgData name="Ebes Esho" userId="46282e2c-6dd3-4f22-954f-9a1e2542c9eb" providerId="ADAL" clId="{34C7327D-C07D-42A0-8C62-2660C8DD074D}" dt="2026-10-13T07:26:32.429" v="325" actId="255"/>
        <pc:sldMkLst>
          <pc:docMk/>
          <pc:sldMk cId="1324932802" sldId="288"/>
        </pc:sldMkLst>
        <pc:spChg chg="mod">
          <ac:chgData name="Ebes Esho" userId="46282e2c-6dd3-4f22-954f-9a1e2542c9eb" providerId="ADAL" clId="{34C7327D-C07D-42A0-8C62-2660C8DD074D}" dt="2026-10-13T07:25:59.957" v="306" actId="20577"/>
          <ac:spMkLst>
            <pc:docMk/>
            <pc:sldMk cId="1324932802" sldId="288"/>
            <ac:spMk id="3" creationId="{32130528-77E0-19A9-80C1-4FAE5450C145}"/>
          </ac:spMkLst>
        </pc:spChg>
        <pc:spChg chg="del">
          <ac:chgData name="Ebes Esho" userId="46282e2c-6dd3-4f22-954f-9a1e2542c9eb" providerId="ADAL" clId="{34C7327D-C07D-42A0-8C62-2660C8DD074D}" dt="2026-10-13T07:26:05.688" v="307" actId="21"/>
          <ac:spMkLst>
            <pc:docMk/>
            <pc:sldMk cId="1324932802" sldId="288"/>
            <ac:spMk id="4" creationId="{087406F8-A832-B1A9-AD60-96C3749B5A3F}"/>
          </ac:spMkLst>
        </pc:spChg>
        <pc:spChg chg="add mod">
          <ac:chgData name="Ebes Esho" userId="46282e2c-6dd3-4f22-954f-9a1e2542c9eb" providerId="ADAL" clId="{34C7327D-C07D-42A0-8C62-2660C8DD074D}" dt="2026-10-13T07:26:32.429" v="325" actId="255"/>
          <ac:spMkLst>
            <pc:docMk/>
            <pc:sldMk cId="1324932802" sldId="288"/>
            <ac:spMk id="8" creationId="{1C25329F-8300-5159-5E2F-9502872939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5693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lays the foundation for the course: what marketing and marketing management are, how marketing thinking has evolved, and the philosophies that guide how organizations approach their markets. Two textbooks anchor the content: Kotler &amp; Keller for the managerial perspective and Armstrong &amp; Kotler for the customer-value and process perspective.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210B8-EF91-5307-7492-43C10AAA5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C39C7-1BD6-4E12-E47B-7D6501BC9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4E097-8977-26DE-7107-75955A7E4759}"/>
              </a:ext>
            </a:extLst>
          </p:cNvPr>
          <p:cNvSpPr>
            <a:spLocks noGrp="1"/>
          </p:cNvSpPr>
          <p:nvPr>
            <p:ph type="body" idx="1"/>
          </p:nvPr>
        </p:nvSpPr>
        <p:spPr/>
        <p:txBody>
          <a:bodyPr/>
          <a:lstStyle/>
          <a:p>
            <a:r>
              <a:rPr lang="en-US" dirty="0"/>
              <a:t>Part 1. We start with definitions and vocabulary that every later topic depends on.</a:t>
            </a:r>
          </a:p>
        </p:txBody>
      </p:sp>
      <p:sp>
        <p:nvSpPr>
          <p:cNvPr id="4" name="Slide Number Placeholder 3">
            <a:extLst>
              <a:ext uri="{FF2B5EF4-FFF2-40B4-BE49-F238E27FC236}">
                <a16:creationId xmlns:a16="http://schemas.microsoft.com/office/drawing/2014/main" id="{2BF5757A-17B4-DCA5-3E78-55867277C7D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37144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objectives. Stress that the final objective is applied: students will diagnose which philosophy a firm is using.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Part 1 builds the vocabulary, Part 2 gives the historical and contemporary context, and Part 3 introduces the philosophies, which is the heart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We start with definitions and vocabulary that every later topic depends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social and managerial definitions from Kotler &amp; Keller, then the customer-value definition from Armstrong &amp; Kotler. Emphasize Armstrong &amp; Kotler's two-part goal: attract new customers with superior value, and keep and grow existing customers by delivering satisfaction. Close with the AMA definition, which broadens the beneficiaries to partners and society.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burger example. Hunger is the need; wanting a burger is shaped by culture and personality; demand exists only when the want is backed by the ability and willingness to pay. Make the point that marketers do not create needs. They influence wants and try to make offerings attractive, affordable and available.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linked ideas. Customers buy benefits, not physical products, which is the root of marketing myopia, discussed later in the philosophies section. Value is the gap between benefits and costs. Satisfaction compares perceived performance with expectations. Exchange is the core of marketing, and relationships are what the firm builds around repeated exchanges.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Kotler &amp; Keller identify ten types of entities. Ask students for a local example of each. The key insight is that marketing is not limited to physical products: places, persons, ideas and organizations are all marketed.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Kotler &amp; Keller definition slowly and break it into its three parts, shown in the bottom row. Then introduce the marketer: anyone seeking a response (attention, purchase, vote, donation) from another party, called the prospect.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Kotler &amp; Keller describe eight demand states, each with a matching marketing task. Ask for an example of each, for instance demarketing by a tourist site facing overcrowding, or counter-marketing against harmful products. This shows that marketing is not only about increasing demand.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model from Armstrong &amp; Kotler. The first four steps create value for customers and build relationships; the fifth captures value in the form of sales, profits and customer equity. The steps run from understanding the market to capturing value, and the value captured funds the next round of value creation.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strategy answers two questions: which customers will we serve, and how can we serve them best? Segmentation and targeting answer the first; differentiation and positioning answer the second. The output is a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4Ps are the classic tactical toolkit, viewed from the seller's side. The 4Cs restate them from the buyer's side. Kotler &amp; Keller extend the idea with a holistic set of 4Ps: people, processes, programs and performance, reflecting that marketing involves the whole organization.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Kotler &amp; Keller organize the work of marketing management into a set of tasks. Task lists are worded slightly differently across editions, so match the wording to the edition adopted for your course. The point is that marketing management spans insight, strategy, offers, delivery and growth.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Marketing thinking has changed as economic, technological and social conditions have changed.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widely used framework describes production, sales and marketing eras, extended here with relationship and digital and societal eras. Dates are approximate. Eras overlap and differ by country and industry, and many firms still operate in earlier orientations today.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staircase is from Kotler, Kartajaya and Setiawan and is supplementary to the two core textbooks. Each step builds on the last: from selling products, to satisfying customers, to engaging whole people and values, to integrating online and offline, to using technology to serve humanity.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forces draw on Armstrong &amp; Kotler's discussion of the new marketing landscape and Kotler &amp; Keller's new marketing realities. Ask students which force is most visible in their own country or industry.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Transactional marketing focuses on the single sale; relationship marketing focuses on keeping and growing customers over time. Armstrong &amp; Kotler link this to customer lifetime value, share of customer and customer equity, which together explain why retention can be more profitable than constant acquisition.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 marketing philosophy is the orientation a company adopts toward its marketplace. The key question is whether the firm starts inside, with its operations and products, or outside, with customers and society.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Armstrong &amp; Kotler present five concepts: production, product, selling, marketing and societal marketing. Kotler &amp; Keller extend the marketing concept into holistic marketing, covered later. The first three start inside the company; the last two start outside.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concept. Based on Armstrong &amp; Kotler. Useful in markets with shortages or where low cost is the main route to growth. The risk is neglecting customer needs.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concept. Introduce Levitt's marketing myopia: defining the business by the product rather than the customer need. The example is the classic railroad case.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Selling concept. Contrast with marketing: selling starts with the product and tries to find customers; marketing starts with customers and finds products. The next slide makes this explicit.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marketing concept holds that achieving organizational goals depends on knowing the needs and wants of target markets and delivering the desired satisfactions better than competitors. Contrast the inside-out selling flow with the outside-in marketing flow. Finish with the point that great marketers also discover needs customers cannot yet express, called customer-driving rather than purely customer-driven.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Armstrong &amp; Kotler argue that the pure marketing concept can ignore possible conflicts between consumers' short-run wants and their long-run welfare. Societal marketing balances three considerations: consumer wants, company profits and society's welfare. Link to the triple bottom line of people, planet and profits.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Holistic marketing is built on the idea that everything matters in marketing. Kotler &amp; Keller describe four broad components: relationship, integrated, internal and performance marketing. It extends the marketing concept across the whole organization and beyond.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table. The first three are inside-out: they start with operations, product or sales. The marketing and societal concepts start outside with customers and society. Holistic marketing extends the logic across the whole organization.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product concept; 2 production concept; 3 selling concept; 4 marketing concept, with holistic elements such as internal and integrated marketing; 5 societal marketing concept. Invite students to justify each answer and to say what each firm is ignoring.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the students' own words if time allows. Ask each student to name one takeaway that changes how they will look at a company's marketing.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homework or in-class discussion. Questions 4 and 6 are good for short essays.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chapter references to the edition adopted for your course. Marketing 4.0 and 5.0 are supplementary reading for the evolution section.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Introduction to Marketing Management</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bg2"/>
                </a:solidFill>
              </a:rPr>
              <a:t>Introduction to Marketing Management</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6766560" cy="201168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3749040"/>
            <a:ext cx="6766560" cy="822960"/>
          </a:xfrm>
          <a:prstGeom prst="rect">
            <a:avLst/>
          </a:prstGeom>
          <a:noFill/>
          <a:ln/>
        </p:spPr>
        <p:txBody>
          <a:bodyPr wrap="square" rtlCol="0"/>
          <a:lstStyle>
            <a:lvl1pPr marL="0" indent="0">
              <a:buNone/>
              <a:defRPr lang="en-US" sz="2400" dirty="0">
                <a:solidFill>
                  <a:schemeClr val="accent2"/>
                </a:solidFill>
              </a:defRPr>
            </a:lvl1pPr>
          </a:lstStyle>
          <a:p>
            <a:pPr marL="0" indent="0">
              <a:buNone/>
            </a:pPr>
            <a:endParaRPr lang="en-US" sz="2400" dirty="0"/>
          </a:p>
        </p:txBody>
      </p:sp>
      <p:sp>
        <p:nvSpPr>
          <p:cNvPr id="4" name="Text 0"/>
          <p:cNvSpPr>
            <a:spLocks noGrp="1"/>
          </p:cNvSpPr>
          <p:nvPr>
            <p:ph type="body" idx="102" hasCustomPrompt="1"/>
          </p:nvPr>
        </p:nvSpPr>
        <p:spPr>
          <a:xfrm>
            <a:off x="731520" y="5029200"/>
            <a:ext cx="6766560" cy="822960"/>
          </a:xfrm>
          <a:prstGeom prst="rect">
            <a:avLst/>
          </a:prstGeom>
          <a:noFill/>
          <a:ln/>
        </p:spPr>
        <p:txBody>
          <a:bodyPr wrap="square" rtlCol="0"/>
          <a:lstStyle>
            <a:lvl1pPr marL="0" indent="0">
              <a:buNone/>
              <a:defRPr lang="en-US" sz="1400" dirty="0">
                <a:solidFill>
                  <a:schemeClr val="bg2"/>
                </a:solidFill>
              </a:defRPr>
            </a:lvl1pPr>
          </a:lstStyle>
          <a:p>
            <a:pPr marL="0" indent="0">
              <a:buNone/>
            </a:pPr>
            <a:endParaRPr lang="en-US" sz="1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926080"/>
            <a:ext cx="7680960" cy="11887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822960" y="4206240"/>
            <a:ext cx="7498080" cy="128016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6.png"/><Relationship Id="rId12"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png"/><Relationship Id="rId4" Type="http://schemas.openxmlformats.org/officeDocument/2006/relationships/image" Target="../media/image24.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6766560" cy="2011680"/>
          </a:xfrm>
          <a:prstGeom prst="rect">
            <a:avLst/>
          </a:prstGeom>
          <a:noFill/>
          <a:ln/>
        </p:spPr>
        <p:txBody>
          <a:bodyPr wrap="square" lIns="0" tIns="0" rIns="0" bIns="0" rtlCol="0" anchor="b"/>
          <a:lstStyle/>
          <a:p>
            <a:pPr marL="0" indent="0" algn="l">
              <a:buNone/>
            </a:pPr>
            <a:r>
              <a:rPr lang="en-US" sz="4600" b="1" dirty="0">
                <a:solidFill>
                  <a:schemeClr val="bg1"/>
                </a:solidFill>
              </a:rPr>
              <a:t>Introduction to Marketing Management</a:t>
            </a:r>
            <a:endParaRPr lang="en-US" sz="4600" dirty="0"/>
          </a:p>
        </p:txBody>
      </p:sp>
      <p:sp>
        <p:nvSpPr>
          <p:cNvPr id="3" name="Text 0"/>
          <p:cNvSpPr>
            <a:spLocks noGrp="1"/>
          </p:cNvSpPr>
          <p:nvPr>
            <p:ph type="body" idx="101" hasCustomPrompt="1"/>
          </p:nvPr>
        </p:nvSpPr>
        <p:spPr>
          <a:xfrm>
            <a:off x="731520" y="3749040"/>
            <a:ext cx="6766560" cy="822960"/>
          </a:xfrm>
          <a:prstGeom prst="rect">
            <a:avLst/>
          </a:prstGeom>
          <a:noFill/>
          <a:ln/>
        </p:spPr>
        <p:txBody>
          <a:bodyPr wrap="square" lIns="0" tIns="0" rIns="0" bIns="0" rtlCol="0" anchor="t"/>
          <a:lstStyle/>
          <a:p>
            <a:pPr marL="0" indent="0">
              <a:buNone/>
            </a:pPr>
            <a:r>
              <a:rPr lang="en-US" sz="2400" dirty="0">
                <a:solidFill>
                  <a:schemeClr val="accent2"/>
                </a:solidFill>
              </a:rPr>
              <a:t>Concepts, Evolution and Marketing Philosophies</a:t>
            </a:r>
            <a:endParaRPr lang="en-US" sz="2400" dirty="0"/>
          </a:p>
        </p:txBody>
      </p:sp>
      <p:sp>
        <p:nvSpPr>
          <p:cNvPr id="4" name="Text 0"/>
          <p:cNvSpPr>
            <a:spLocks noGrp="1"/>
          </p:cNvSpPr>
          <p:nvPr>
            <p:ph type="body" idx="102" hasCustomPrompt="1"/>
          </p:nvPr>
        </p:nvSpPr>
        <p:spPr>
          <a:xfrm>
            <a:off x="731520" y="5029200"/>
            <a:ext cx="6766560" cy="822960"/>
          </a:xfrm>
          <a:prstGeom prst="rect">
            <a:avLst/>
          </a:prstGeom>
          <a:noFill/>
          <a:ln/>
        </p:spPr>
        <p:txBody>
          <a:bodyPr wrap="square" lIns="0" tIns="0" rIns="0" bIns="0" rtlCol="0" anchor="t"/>
          <a:lstStyle/>
          <a:p>
            <a:pPr marL="0" indent="0">
              <a:buNone/>
            </a:pPr>
            <a:r>
              <a:rPr lang="en-US" sz="1800" dirty="0"/>
              <a:t>Ebes Esho (PhD.): NUTM: Tuesday October 13, 2026</a:t>
            </a:r>
          </a:p>
        </p:txBody>
      </p:sp>
      <p:sp>
        <p:nvSpPr>
          <p:cNvPr id="5" name="Icon circle"/>
          <p:cNvSpPr/>
          <p:nvPr/>
        </p:nvSpPr>
        <p:spPr>
          <a:xfrm>
            <a:off x="8229600" y="1188720"/>
            <a:ext cx="1554480" cy="1554480"/>
          </a:xfrm>
          <a:prstGeom prst="ellipse">
            <a:avLst/>
          </a:prstGeom>
          <a:solidFill>
            <a:schemeClr val="accent1"/>
          </a:solidFill>
          <a:ln/>
        </p:spPr>
        <p:txBody>
          <a:bodyPr/>
          <a:lstStyle/>
          <a:p>
            <a:endParaRPr lang="en-US"/>
          </a:p>
        </p:txBody>
      </p:sp>
      <p:pic>
        <p:nvPicPr>
          <p:cNvPr id="6" name="Icon" descr="Users icon"/>
          <p:cNvPicPr>
            <a:picLocks noChangeAspect="1"/>
          </p:cNvPicPr>
          <p:nvPr/>
        </p:nvPicPr>
        <p:blipFill>
          <a:blip r:embed="rId3"/>
          <a:stretch>
            <a:fillRect/>
          </a:stretch>
        </p:blipFill>
        <p:spPr>
          <a:xfrm>
            <a:off x="8618220" y="1577340"/>
            <a:ext cx="777240" cy="777240"/>
          </a:xfrm>
          <a:prstGeom prst="rect">
            <a:avLst/>
          </a:prstGeom>
        </p:spPr>
      </p:pic>
      <p:sp>
        <p:nvSpPr>
          <p:cNvPr id="7" name="Icon circle"/>
          <p:cNvSpPr/>
          <p:nvPr/>
        </p:nvSpPr>
        <p:spPr>
          <a:xfrm>
            <a:off x="9966960" y="2011680"/>
            <a:ext cx="1554480" cy="1554480"/>
          </a:xfrm>
          <a:prstGeom prst="ellipse">
            <a:avLst/>
          </a:prstGeom>
          <a:solidFill>
            <a:schemeClr val="accent3"/>
          </a:solidFill>
          <a:ln/>
        </p:spPr>
        <p:txBody>
          <a:bodyPr/>
          <a:lstStyle/>
          <a:p>
            <a:endParaRPr lang="en-US"/>
          </a:p>
        </p:txBody>
      </p:sp>
      <p:pic>
        <p:nvPicPr>
          <p:cNvPr id="8" name="Icon" descr="Bullseye icon"/>
          <p:cNvPicPr>
            <a:picLocks noChangeAspect="1"/>
          </p:cNvPicPr>
          <p:nvPr/>
        </p:nvPicPr>
        <p:blipFill>
          <a:blip r:embed="rId4"/>
          <a:stretch>
            <a:fillRect/>
          </a:stretch>
        </p:blipFill>
        <p:spPr>
          <a:xfrm>
            <a:off x="10355580" y="2400300"/>
            <a:ext cx="777240" cy="777240"/>
          </a:xfrm>
          <a:prstGeom prst="rect">
            <a:avLst/>
          </a:prstGeom>
        </p:spPr>
      </p:pic>
      <p:sp>
        <p:nvSpPr>
          <p:cNvPr id="9" name="Icon circle"/>
          <p:cNvSpPr/>
          <p:nvPr/>
        </p:nvSpPr>
        <p:spPr>
          <a:xfrm>
            <a:off x="8229600" y="3108960"/>
            <a:ext cx="1554480" cy="1554480"/>
          </a:xfrm>
          <a:prstGeom prst="ellipse">
            <a:avLst/>
          </a:prstGeom>
          <a:solidFill>
            <a:schemeClr val="accent4"/>
          </a:solidFill>
          <a:ln/>
        </p:spPr>
        <p:txBody>
          <a:bodyPr/>
          <a:lstStyle/>
          <a:p>
            <a:endParaRPr lang="en-US"/>
          </a:p>
        </p:txBody>
      </p:sp>
      <p:pic>
        <p:nvPicPr>
          <p:cNvPr id="10" name="Icon" descr="ChartLine icon"/>
          <p:cNvPicPr>
            <a:picLocks noChangeAspect="1"/>
          </p:cNvPicPr>
          <p:nvPr/>
        </p:nvPicPr>
        <p:blipFill>
          <a:blip r:embed="rId5"/>
          <a:stretch>
            <a:fillRect/>
          </a:stretch>
        </p:blipFill>
        <p:spPr>
          <a:xfrm>
            <a:off x="8618220" y="3497580"/>
            <a:ext cx="777240" cy="777240"/>
          </a:xfrm>
          <a:prstGeom prst="rect">
            <a:avLst/>
          </a:prstGeom>
        </p:spPr>
      </p:pic>
      <p:sp>
        <p:nvSpPr>
          <p:cNvPr id="11" name="Icon circle"/>
          <p:cNvSpPr/>
          <p:nvPr/>
        </p:nvSpPr>
        <p:spPr>
          <a:xfrm>
            <a:off x="9966960" y="3931920"/>
            <a:ext cx="1554480" cy="1554480"/>
          </a:xfrm>
          <a:prstGeom prst="ellipse">
            <a:avLst/>
          </a:prstGeom>
          <a:solidFill>
            <a:schemeClr val="accent5"/>
          </a:solidFill>
          <a:ln/>
        </p:spPr>
        <p:txBody>
          <a:bodyPr/>
          <a:lstStyle/>
          <a:p>
            <a:endParaRPr lang="en-US"/>
          </a:p>
        </p:txBody>
      </p:sp>
      <p:pic>
        <p:nvPicPr>
          <p:cNvPr id="12" name="Icon" descr="Handshake icon"/>
          <p:cNvPicPr>
            <a:picLocks noChangeAspect="1"/>
          </p:cNvPicPr>
          <p:nvPr/>
        </p:nvPicPr>
        <p:blipFill>
          <a:blip r:embed="rId6"/>
          <a:stretch>
            <a:fillRect/>
          </a:stretch>
        </p:blipFill>
        <p:spPr>
          <a:xfrm>
            <a:off x="10355580" y="4320540"/>
            <a:ext cx="777240" cy="777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49A11-5DA0-107E-FA69-A68900D2D61F}"/>
            </a:ext>
          </a:extLst>
        </p:cNvPr>
        <p:cNvGrpSpPr/>
        <p:nvPr/>
      </p:nvGrpSpPr>
      <p:grpSpPr>
        <a:xfrm>
          <a:off x="0" y="0"/>
          <a:ext cx="0" cy="0"/>
          <a:chOff x="0" y="0"/>
          <a:chExt cx="0" cy="0"/>
        </a:xfrm>
      </p:grpSpPr>
      <p:sp>
        <p:nvSpPr>
          <p:cNvPr id="2" name="Section number">
            <a:extLst>
              <a:ext uri="{FF2B5EF4-FFF2-40B4-BE49-F238E27FC236}">
                <a16:creationId xmlns:a16="http://schemas.microsoft.com/office/drawing/2014/main" id="{3B8A5178-C8E6-CD45-EF90-C4EA8D31EDAC}"/>
              </a:ext>
            </a:extLst>
          </p:cNvPr>
          <p:cNvSpPr txBox="1"/>
          <p:nvPr/>
        </p:nvSpPr>
        <p:spPr>
          <a:xfrm>
            <a:off x="822960" y="1554480"/>
            <a:ext cx="3657600" cy="1280160"/>
          </a:xfrm>
          <a:prstGeom prst="rect">
            <a:avLst/>
          </a:prstGeom>
          <a:noFill/>
          <a:ln/>
        </p:spPr>
        <p:txBody>
          <a:bodyPr wrap="square" lIns="0" tIns="0" rIns="0" bIns="0" rtlCol="0" anchor="ctr"/>
          <a:lstStyle/>
          <a:p>
            <a:pPr marL="0" indent="0">
              <a:buNone/>
            </a:pPr>
            <a:r>
              <a:rPr lang="en-US" sz="8000" b="1" dirty="0">
                <a:solidFill>
                  <a:schemeClr val="accent1"/>
                </a:solidFill>
              </a:rPr>
              <a:t>01</a:t>
            </a:r>
            <a:endParaRPr lang="en-US" sz="8000" dirty="0"/>
          </a:p>
        </p:txBody>
      </p:sp>
      <p:sp>
        <p:nvSpPr>
          <p:cNvPr id="3" name="Text 0">
            <a:extLst>
              <a:ext uri="{FF2B5EF4-FFF2-40B4-BE49-F238E27FC236}">
                <a16:creationId xmlns:a16="http://schemas.microsoft.com/office/drawing/2014/main" id="{32130528-77E0-19A9-80C1-4FAE5450C145}"/>
              </a:ext>
            </a:extLst>
          </p:cNvPr>
          <p:cNvSpPr>
            <a:spLocks noGrp="1"/>
          </p:cNvSpPr>
          <p:nvPr>
            <p:ph type="title" idx="100" hasCustomPrompt="1"/>
          </p:nvPr>
        </p:nvSpPr>
        <p:spPr>
          <a:xfrm>
            <a:off x="822960" y="2926080"/>
            <a:ext cx="7680960" cy="1188720"/>
          </a:xfrm>
          <a:prstGeom prst="rect">
            <a:avLst/>
          </a:prstGeom>
          <a:noFill/>
          <a:ln/>
        </p:spPr>
        <p:txBody>
          <a:bodyPr wrap="square" lIns="0" tIns="0" rIns="0" bIns="0" rtlCol="0" anchor="t"/>
          <a:lstStyle/>
          <a:p>
            <a:pPr marL="0" indent="0" algn="l">
              <a:buNone/>
            </a:pPr>
            <a:r>
              <a:rPr lang="en-US" dirty="0"/>
              <a:t>House Keeping: Course Compact &amp; Material</a:t>
            </a:r>
            <a:endParaRPr lang="en-US" sz="4400" dirty="0"/>
          </a:p>
        </p:txBody>
      </p:sp>
      <p:sp>
        <p:nvSpPr>
          <p:cNvPr id="5" name="Icon circle">
            <a:extLst>
              <a:ext uri="{FF2B5EF4-FFF2-40B4-BE49-F238E27FC236}">
                <a16:creationId xmlns:a16="http://schemas.microsoft.com/office/drawing/2014/main" id="{C82B2635-6B1A-260C-3F4B-3375343BD69B}"/>
              </a:ext>
            </a:extLst>
          </p:cNvPr>
          <p:cNvSpPr/>
          <p:nvPr/>
        </p:nvSpPr>
        <p:spPr>
          <a:xfrm>
            <a:off x="8961120" y="2103120"/>
            <a:ext cx="2560320" cy="2560320"/>
          </a:xfrm>
          <a:prstGeom prst="ellipse">
            <a:avLst/>
          </a:prstGeom>
          <a:solidFill>
            <a:schemeClr val="accent1"/>
          </a:solidFill>
          <a:ln/>
        </p:spPr>
        <p:txBody>
          <a:bodyPr/>
          <a:lstStyle/>
          <a:p>
            <a:endParaRPr lang="en-US"/>
          </a:p>
        </p:txBody>
      </p:sp>
      <p:pic>
        <p:nvPicPr>
          <p:cNvPr id="6" name="Icon" descr="Lightbulb icon">
            <a:extLst>
              <a:ext uri="{FF2B5EF4-FFF2-40B4-BE49-F238E27FC236}">
                <a16:creationId xmlns:a16="http://schemas.microsoft.com/office/drawing/2014/main" id="{1E9F228B-B1BF-69F5-D1D9-50267389509B}"/>
              </a:ext>
            </a:extLst>
          </p:cNvPr>
          <p:cNvPicPr>
            <a:picLocks noChangeAspect="1"/>
          </p:cNvPicPr>
          <p:nvPr/>
        </p:nvPicPr>
        <p:blipFill>
          <a:blip r:embed="rId3"/>
          <a:stretch>
            <a:fillRect/>
          </a:stretch>
        </p:blipFill>
        <p:spPr>
          <a:xfrm>
            <a:off x="9601200" y="2743200"/>
            <a:ext cx="1280160" cy="1280160"/>
          </a:xfrm>
          <a:prstGeom prst="rect">
            <a:avLst/>
          </a:prstGeom>
        </p:spPr>
      </p:pic>
      <p:sp>
        <p:nvSpPr>
          <p:cNvPr id="25" name="Slide Number Placeholder 0">
            <a:extLst>
              <a:ext uri="{FF2B5EF4-FFF2-40B4-BE49-F238E27FC236}">
                <a16:creationId xmlns:a16="http://schemas.microsoft.com/office/drawing/2014/main" id="{87538146-276B-EBC8-DC30-9BA9F33656D5}"/>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
        <p:nvSpPr>
          <p:cNvPr id="8" name="Text Placeholder 7">
            <a:extLst>
              <a:ext uri="{FF2B5EF4-FFF2-40B4-BE49-F238E27FC236}">
                <a16:creationId xmlns:a16="http://schemas.microsoft.com/office/drawing/2014/main" id="{1C25329F-8300-5159-5E2F-950287293959}"/>
              </a:ext>
            </a:extLst>
          </p:cNvPr>
          <p:cNvSpPr>
            <a:spLocks noGrp="1"/>
          </p:cNvSpPr>
          <p:nvPr>
            <p:ph type="body" idx="101"/>
          </p:nvPr>
        </p:nvSpPr>
        <p:spPr>
          <a:xfrm>
            <a:off x="822960" y="4411513"/>
            <a:ext cx="7498080" cy="1280160"/>
          </a:xfrm>
        </p:spPr>
        <p:txBody>
          <a:bodyPr/>
          <a:lstStyle/>
          <a:p>
            <a:r>
              <a:rPr lang="en-US" sz="2800" dirty="0"/>
              <a:t>Team Groupings</a:t>
            </a:r>
          </a:p>
        </p:txBody>
      </p:sp>
    </p:spTree>
    <p:extLst>
      <p:ext uri="{BB962C8B-B14F-4D97-AF65-F5344CB8AC3E}">
        <p14:creationId xmlns:p14="http://schemas.microsoft.com/office/powerpoint/2010/main" val="1324932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Learning objectives</a:t>
            </a:r>
            <a:endParaRPr lang="en-US" sz="3400" dirty="0"/>
          </a:p>
        </p:txBody>
      </p:sp>
      <p:sp>
        <p:nvSpPr>
          <p:cNvPr id="4" name="Objective card"/>
          <p:cNvSpPr/>
          <p:nvPr/>
        </p:nvSpPr>
        <p:spPr>
          <a:xfrm>
            <a:off x="548640" y="1417320"/>
            <a:ext cx="11064240" cy="822960"/>
          </a:xfrm>
          <a:prstGeom prst="roundRect">
            <a:avLst>
              <a:gd name="adj" fmla="val 11111"/>
            </a:avLst>
          </a:prstGeom>
          <a:solidFill>
            <a:schemeClr val="bg2"/>
          </a:solidFill>
          <a:ln/>
        </p:spPr>
        <p:txBody>
          <a:bodyPr/>
          <a:lstStyle/>
          <a:p>
            <a:endParaRPr lang="en-US"/>
          </a:p>
        </p:txBody>
      </p:sp>
      <p:sp>
        <p:nvSpPr>
          <p:cNvPr id="5" name="Number circle"/>
          <p:cNvSpPr/>
          <p:nvPr/>
        </p:nvSpPr>
        <p:spPr>
          <a:xfrm>
            <a:off x="777240" y="1554480"/>
            <a:ext cx="548640" cy="548640"/>
          </a:xfrm>
          <a:prstGeom prst="ellipse">
            <a:avLst/>
          </a:prstGeom>
          <a:solidFill>
            <a:schemeClr val="accent1"/>
          </a:solidFill>
          <a:ln/>
        </p:spPr>
        <p:txBody>
          <a:bodyPr/>
          <a:lstStyle/>
          <a:p>
            <a:endParaRPr lang="en-US"/>
          </a:p>
        </p:txBody>
      </p:sp>
      <p:sp>
        <p:nvSpPr>
          <p:cNvPr id="6" name="Number"/>
          <p:cNvSpPr txBox="1"/>
          <p:nvPr/>
        </p:nvSpPr>
        <p:spPr>
          <a:xfrm>
            <a:off x="777240" y="15544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Objective"/>
          <p:cNvSpPr txBox="1"/>
          <p:nvPr/>
        </p:nvSpPr>
        <p:spPr>
          <a:xfrm>
            <a:off x="1600200" y="1508760"/>
            <a:ext cx="9784080" cy="640080"/>
          </a:xfrm>
          <a:prstGeom prst="rect">
            <a:avLst/>
          </a:prstGeom>
          <a:noFill/>
          <a:ln/>
        </p:spPr>
        <p:txBody>
          <a:bodyPr wrap="square" lIns="0" tIns="0" rIns="0" bIns="0" rtlCol="0" anchor="ctr"/>
          <a:lstStyle/>
          <a:p>
            <a:pPr marL="0" indent="0">
              <a:buNone/>
            </a:pPr>
            <a:r>
              <a:rPr lang="en-US" sz="1800" dirty="0">
                <a:solidFill>
                  <a:schemeClr val="tx1"/>
                </a:solidFill>
              </a:rPr>
              <a:t>Define marketing and marketing management from social and managerial perspectives</a:t>
            </a:r>
            <a:endParaRPr lang="en-US" sz="1800" dirty="0"/>
          </a:p>
        </p:txBody>
      </p:sp>
      <p:sp>
        <p:nvSpPr>
          <p:cNvPr id="8" name="Objective card"/>
          <p:cNvSpPr/>
          <p:nvPr/>
        </p:nvSpPr>
        <p:spPr>
          <a:xfrm>
            <a:off x="548640" y="2350008"/>
            <a:ext cx="11064240" cy="822960"/>
          </a:xfrm>
          <a:prstGeom prst="roundRect">
            <a:avLst>
              <a:gd name="adj" fmla="val 11111"/>
            </a:avLst>
          </a:prstGeom>
          <a:solidFill>
            <a:schemeClr val="bg2"/>
          </a:solidFill>
          <a:ln/>
        </p:spPr>
        <p:txBody>
          <a:bodyPr/>
          <a:lstStyle/>
          <a:p>
            <a:endParaRPr lang="en-US"/>
          </a:p>
        </p:txBody>
      </p:sp>
      <p:sp>
        <p:nvSpPr>
          <p:cNvPr id="9" name="Number circle"/>
          <p:cNvSpPr/>
          <p:nvPr/>
        </p:nvSpPr>
        <p:spPr>
          <a:xfrm>
            <a:off x="777240" y="2487168"/>
            <a:ext cx="548640" cy="548640"/>
          </a:xfrm>
          <a:prstGeom prst="ellipse">
            <a:avLst/>
          </a:prstGeom>
          <a:solidFill>
            <a:schemeClr val="accent1"/>
          </a:solidFill>
          <a:ln/>
        </p:spPr>
        <p:txBody>
          <a:bodyPr/>
          <a:lstStyle/>
          <a:p>
            <a:endParaRPr lang="en-US"/>
          </a:p>
        </p:txBody>
      </p:sp>
      <p:sp>
        <p:nvSpPr>
          <p:cNvPr id="10" name="Number"/>
          <p:cNvSpPr txBox="1"/>
          <p:nvPr/>
        </p:nvSpPr>
        <p:spPr>
          <a:xfrm>
            <a:off x="777240" y="248716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Objective"/>
          <p:cNvSpPr txBox="1"/>
          <p:nvPr/>
        </p:nvSpPr>
        <p:spPr>
          <a:xfrm>
            <a:off x="1600200" y="2441448"/>
            <a:ext cx="9784080" cy="640080"/>
          </a:xfrm>
          <a:prstGeom prst="rect">
            <a:avLst/>
          </a:prstGeom>
          <a:noFill/>
          <a:ln/>
        </p:spPr>
        <p:txBody>
          <a:bodyPr wrap="square" lIns="0" tIns="0" rIns="0" bIns="0" rtlCol="0" anchor="ctr"/>
          <a:lstStyle/>
          <a:p>
            <a:pPr marL="0" indent="0">
              <a:buNone/>
            </a:pPr>
            <a:r>
              <a:rPr lang="en-US" sz="1800" dirty="0">
                <a:solidFill>
                  <a:schemeClr val="tx1"/>
                </a:solidFill>
              </a:rPr>
              <a:t>Explain the core concepts: needs, wants, demands, offerings, value, satisfaction and exchange</a:t>
            </a:r>
            <a:endParaRPr lang="en-US" sz="1800" dirty="0"/>
          </a:p>
        </p:txBody>
      </p:sp>
      <p:sp>
        <p:nvSpPr>
          <p:cNvPr id="12" name="Objective card"/>
          <p:cNvSpPr/>
          <p:nvPr/>
        </p:nvSpPr>
        <p:spPr>
          <a:xfrm>
            <a:off x="548640" y="3282696"/>
            <a:ext cx="11064240" cy="822960"/>
          </a:xfrm>
          <a:prstGeom prst="roundRect">
            <a:avLst>
              <a:gd name="adj" fmla="val 11111"/>
            </a:avLst>
          </a:prstGeom>
          <a:solidFill>
            <a:schemeClr val="bg2"/>
          </a:solidFill>
          <a:ln/>
        </p:spPr>
        <p:txBody>
          <a:bodyPr/>
          <a:lstStyle/>
          <a:p>
            <a:endParaRPr lang="en-US"/>
          </a:p>
        </p:txBody>
      </p:sp>
      <p:sp>
        <p:nvSpPr>
          <p:cNvPr id="13" name="Number circle"/>
          <p:cNvSpPr/>
          <p:nvPr/>
        </p:nvSpPr>
        <p:spPr>
          <a:xfrm>
            <a:off x="777240" y="3419856"/>
            <a:ext cx="548640" cy="548640"/>
          </a:xfrm>
          <a:prstGeom prst="ellipse">
            <a:avLst/>
          </a:prstGeom>
          <a:solidFill>
            <a:schemeClr val="accent1"/>
          </a:solidFill>
          <a:ln/>
        </p:spPr>
        <p:txBody>
          <a:bodyPr/>
          <a:lstStyle/>
          <a:p>
            <a:endParaRPr lang="en-US"/>
          </a:p>
        </p:txBody>
      </p:sp>
      <p:sp>
        <p:nvSpPr>
          <p:cNvPr id="14" name="Number"/>
          <p:cNvSpPr txBox="1"/>
          <p:nvPr/>
        </p:nvSpPr>
        <p:spPr>
          <a:xfrm>
            <a:off x="777240" y="341985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5" name="Objective"/>
          <p:cNvSpPr txBox="1"/>
          <p:nvPr/>
        </p:nvSpPr>
        <p:spPr>
          <a:xfrm>
            <a:off x="1600200" y="3374136"/>
            <a:ext cx="9784080" cy="640080"/>
          </a:xfrm>
          <a:prstGeom prst="rect">
            <a:avLst/>
          </a:prstGeom>
          <a:noFill/>
          <a:ln/>
        </p:spPr>
        <p:txBody>
          <a:bodyPr wrap="square" lIns="0" tIns="0" rIns="0" bIns="0" rtlCol="0" anchor="ctr"/>
          <a:lstStyle/>
          <a:p>
            <a:pPr marL="0" indent="0">
              <a:buNone/>
            </a:pPr>
            <a:r>
              <a:rPr lang="en-US" sz="1800" dirty="0">
                <a:solidFill>
                  <a:schemeClr val="tx1"/>
                </a:solidFill>
              </a:rPr>
              <a:t>Outline the five-step marketing process and the tasks of marketing management</a:t>
            </a:r>
            <a:endParaRPr lang="en-US" sz="1800" dirty="0"/>
          </a:p>
        </p:txBody>
      </p:sp>
      <p:sp>
        <p:nvSpPr>
          <p:cNvPr id="16" name="Objective card"/>
          <p:cNvSpPr/>
          <p:nvPr/>
        </p:nvSpPr>
        <p:spPr>
          <a:xfrm>
            <a:off x="548640" y="4215384"/>
            <a:ext cx="11064240" cy="822960"/>
          </a:xfrm>
          <a:prstGeom prst="roundRect">
            <a:avLst>
              <a:gd name="adj" fmla="val 11111"/>
            </a:avLst>
          </a:prstGeom>
          <a:solidFill>
            <a:schemeClr val="bg2"/>
          </a:solidFill>
          <a:ln/>
        </p:spPr>
        <p:txBody>
          <a:bodyPr/>
          <a:lstStyle/>
          <a:p>
            <a:endParaRPr lang="en-US"/>
          </a:p>
        </p:txBody>
      </p:sp>
      <p:sp>
        <p:nvSpPr>
          <p:cNvPr id="17" name="Number circle"/>
          <p:cNvSpPr/>
          <p:nvPr/>
        </p:nvSpPr>
        <p:spPr>
          <a:xfrm>
            <a:off x="777240" y="4352544"/>
            <a:ext cx="548640" cy="548640"/>
          </a:xfrm>
          <a:prstGeom prst="ellipse">
            <a:avLst/>
          </a:prstGeom>
          <a:solidFill>
            <a:schemeClr val="accent1"/>
          </a:solidFill>
          <a:ln/>
        </p:spPr>
        <p:txBody>
          <a:bodyPr/>
          <a:lstStyle/>
          <a:p>
            <a:endParaRPr lang="en-US"/>
          </a:p>
        </p:txBody>
      </p:sp>
      <p:sp>
        <p:nvSpPr>
          <p:cNvPr id="18" name="Number"/>
          <p:cNvSpPr txBox="1"/>
          <p:nvPr/>
        </p:nvSpPr>
        <p:spPr>
          <a:xfrm>
            <a:off x="777240" y="435254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9" name="Objective"/>
          <p:cNvSpPr txBox="1"/>
          <p:nvPr/>
        </p:nvSpPr>
        <p:spPr>
          <a:xfrm>
            <a:off x="1600200" y="4306824"/>
            <a:ext cx="9784080" cy="640080"/>
          </a:xfrm>
          <a:prstGeom prst="rect">
            <a:avLst/>
          </a:prstGeom>
          <a:noFill/>
          <a:ln/>
        </p:spPr>
        <p:txBody>
          <a:bodyPr wrap="square" lIns="0" tIns="0" rIns="0" bIns="0" rtlCol="0" anchor="ctr"/>
          <a:lstStyle/>
          <a:p>
            <a:pPr marL="0" indent="0">
              <a:buNone/>
            </a:pPr>
            <a:r>
              <a:rPr lang="en-US" sz="1800" dirty="0">
                <a:solidFill>
                  <a:schemeClr val="tx1"/>
                </a:solidFill>
              </a:rPr>
              <a:t>Trace how marketing has evolved from production and selling to relationships and the digital era</a:t>
            </a:r>
            <a:endParaRPr lang="en-US" sz="1800" dirty="0"/>
          </a:p>
        </p:txBody>
      </p:sp>
      <p:sp>
        <p:nvSpPr>
          <p:cNvPr id="20" name="Objective card"/>
          <p:cNvSpPr/>
          <p:nvPr/>
        </p:nvSpPr>
        <p:spPr>
          <a:xfrm>
            <a:off x="548640" y="5148072"/>
            <a:ext cx="11064240" cy="822960"/>
          </a:xfrm>
          <a:prstGeom prst="roundRect">
            <a:avLst>
              <a:gd name="adj" fmla="val 11111"/>
            </a:avLst>
          </a:prstGeom>
          <a:solidFill>
            <a:schemeClr val="bg2"/>
          </a:solidFill>
          <a:ln/>
        </p:spPr>
        <p:txBody>
          <a:bodyPr/>
          <a:lstStyle/>
          <a:p>
            <a:endParaRPr lang="en-US"/>
          </a:p>
        </p:txBody>
      </p:sp>
      <p:sp>
        <p:nvSpPr>
          <p:cNvPr id="21" name="Number circle"/>
          <p:cNvSpPr/>
          <p:nvPr/>
        </p:nvSpPr>
        <p:spPr>
          <a:xfrm>
            <a:off x="777240" y="5285232"/>
            <a:ext cx="548640" cy="548640"/>
          </a:xfrm>
          <a:prstGeom prst="ellipse">
            <a:avLst/>
          </a:prstGeom>
          <a:solidFill>
            <a:schemeClr val="accent3"/>
          </a:solidFill>
          <a:ln/>
        </p:spPr>
        <p:txBody>
          <a:bodyPr/>
          <a:lstStyle/>
          <a:p>
            <a:endParaRPr lang="en-US"/>
          </a:p>
        </p:txBody>
      </p:sp>
      <p:sp>
        <p:nvSpPr>
          <p:cNvPr id="22" name="Number"/>
          <p:cNvSpPr txBox="1"/>
          <p:nvPr/>
        </p:nvSpPr>
        <p:spPr>
          <a:xfrm>
            <a:off x="777240" y="5285232"/>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3" name="Objective"/>
          <p:cNvSpPr txBox="1"/>
          <p:nvPr/>
        </p:nvSpPr>
        <p:spPr>
          <a:xfrm>
            <a:off x="1600200" y="5239512"/>
            <a:ext cx="9784080" cy="640080"/>
          </a:xfrm>
          <a:prstGeom prst="rect">
            <a:avLst/>
          </a:prstGeom>
          <a:noFill/>
          <a:ln/>
        </p:spPr>
        <p:txBody>
          <a:bodyPr wrap="square" lIns="0" tIns="0" rIns="0" bIns="0" rtlCol="0" anchor="ctr"/>
          <a:lstStyle/>
          <a:p>
            <a:pPr marL="0" indent="0">
              <a:buNone/>
            </a:pPr>
            <a:r>
              <a:rPr lang="en-US" sz="1800" dirty="0">
                <a:solidFill>
                  <a:schemeClr val="tx1"/>
                </a:solidFill>
              </a:rPr>
              <a:t>Compare the marketing management philosophies and apply them to real situations</a:t>
            </a:r>
            <a:endParaRPr lang="en-US" sz="18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Roadmap for today</a:t>
            </a:r>
            <a:endParaRPr lang="en-US" sz="3400" dirty="0"/>
          </a:p>
        </p:txBody>
      </p:sp>
      <p:sp>
        <p:nvSpPr>
          <p:cNvPr id="4" name="Part card"/>
          <p:cNvSpPr/>
          <p:nvPr/>
        </p:nvSpPr>
        <p:spPr>
          <a:xfrm>
            <a:off x="548640" y="1463040"/>
            <a:ext cx="3566160" cy="4663440"/>
          </a:xfrm>
          <a:prstGeom prst="roundRect">
            <a:avLst>
              <a:gd name="adj" fmla="val 2564"/>
            </a:avLst>
          </a:prstGeom>
          <a:solidFill>
            <a:schemeClr val="bg2"/>
          </a:solidFill>
          <a:ln/>
        </p:spPr>
        <p:txBody>
          <a:bodyPr/>
          <a:lstStyle/>
          <a:p>
            <a:endParaRPr lang="en-US"/>
          </a:p>
        </p:txBody>
      </p:sp>
      <p:sp>
        <p:nvSpPr>
          <p:cNvPr id="5" name="Icon circle"/>
          <p:cNvSpPr/>
          <p:nvPr/>
        </p:nvSpPr>
        <p:spPr>
          <a:xfrm>
            <a:off x="822960" y="1737360"/>
            <a:ext cx="822960" cy="822960"/>
          </a:xfrm>
          <a:prstGeom prst="ellipse">
            <a:avLst/>
          </a:prstGeom>
          <a:solidFill>
            <a:schemeClr val="accent1"/>
          </a:solidFill>
          <a:ln/>
        </p:spPr>
        <p:txBody>
          <a:bodyPr/>
          <a:lstStyle/>
          <a:p>
            <a:endParaRPr lang="en-US"/>
          </a:p>
        </p:txBody>
      </p:sp>
      <p:pic>
        <p:nvPicPr>
          <p:cNvPr id="6" name="Icon" descr="Lightbulb icon"/>
          <p:cNvPicPr>
            <a:picLocks noChangeAspect="1"/>
          </p:cNvPicPr>
          <p:nvPr/>
        </p:nvPicPr>
        <p:blipFill>
          <a:blip r:embed="rId3"/>
          <a:stretch>
            <a:fillRect/>
          </a:stretch>
        </p:blipFill>
        <p:spPr>
          <a:xfrm>
            <a:off x="1028700" y="1943100"/>
            <a:ext cx="411480" cy="411480"/>
          </a:xfrm>
          <a:prstGeom prst="rect">
            <a:avLst/>
          </a:prstGeom>
        </p:spPr>
      </p:pic>
      <p:sp>
        <p:nvSpPr>
          <p:cNvPr id="7" name="Text"/>
          <p:cNvSpPr txBox="1"/>
          <p:nvPr/>
        </p:nvSpPr>
        <p:spPr>
          <a:xfrm>
            <a:off x="822960" y="274320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PART 1</a:t>
            </a:r>
            <a:endParaRPr lang="en-US" sz="1400" dirty="0"/>
          </a:p>
        </p:txBody>
      </p:sp>
      <p:sp>
        <p:nvSpPr>
          <p:cNvPr id="8" name="Text"/>
          <p:cNvSpPr txBox="1"/>
          <p:nvPr/>
        </p:nvSpPr>
        <p:spPr>
          <a:xfrm>
            <a:off x="822960" y="3017520"/>
            <a:ext cx="3017520" cy="457200"/>
          </a:xfrm>
          <a:prstGeom prst="rect">
            <a:avLst/>
          </a:prstGeom>
          <a:noFill/>
          <a:ln/>
        </p:spPr>
        <p:txBody>
          <a:bodyPr wrap="square" lIns="0" tIns="0" rIns="0" bIns="0" rtlCol="0" anchor="t"/>
          <a:lstStyle/>
          <a:p>
            <a:pPr marL="0" indent="0">
              <a:buNone/>
            </a:pPr>
            <a:r>
              <a:rPr lang="en-US" sz="2400" b="1" dirty="0">
                <a:solidFill>
                  <a:schemeClr val="tx2"/>
                </a:solidFill>
              </a:rPr>
              <a:t>Core concepts</a:t>
            </a:r>
            <a:endParaRPr lang="en-US" sz="2400" dirty="0"/>
          </a:p>
        </p:txBody>
      </p:sp>
      <p:sp>
        <p:nvSpPr>
          <p:cNvPr id="9" name="Text"/>
          <p:cNvSpPr txBox="1"/>
          <p:nvPr/>
        </p:nvSpPr>
        <p:spPr>
          <a:xfrm>
            <a:off x="822960" y="365760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What marketing is</a:t>
            </a:r>
            <a:endParaRPr lang="en-US" sz="1600" dirty="0"/>
          </a:p>
          <a:p>
            <a:pPr marL="342900" indent="-342900">
              <a:spcAft>
                <a:spcPts val="600"/>
              </a:spcAft>
              <a:buSzPct val="100000"/>
              <a:buChar char="•"/>
            </a:pPr>
            <a:r>
              <a:rPr lang="en-US" sz="1600" dirty="0">
                <a:solidFill>
                  <a:schemeClr val="tx1"/>
                </a:solidFill>
              </a:rPr>
              <a:t>Needs, wants and demands</a:t>
            </a:r>
            <a:endParaRPr lang="en-US" sz="1600" dirty="0"/>
          </a:p>
          <a:p>
            <a:pPr marL="342900" indent="-342900">
              <a:spcAft>
                <a:spcPts val="600"/>
              </a:spcAft>
              <a:buSzPct val="100000"/>
              <a:buChar char="•"/>
            </a:pPr>
            <a:r>
              <a:rPr lang="en-US" sz="1600" dirty="0">
                <a:solidFill>
                  <a:schemeClr val="tx1"/>
                </a:solidFill>
              </a:rPr>
              <a:t>Offerings, value and exchange</a:t>
            </a:r>
            <a:endParaRPr lang="en-US" sz="1600" dirty="0"/>
          </a:p>
          <a:p>
            <a:pPr marL="342900" indent="-342900">
              <a:spcAft>
                <a:spcPts val="600"/>
              </a:spcAft>
              <a:buSzPct val="100000"/>
              <a:buChar char="•"/>
            </a:pPr>
            <a:r>
              <a:rPr lang="en-US" sz="1600" dirty="0">
                <a:solidFill>
                  <a:schemeClr val="tx1"/>
                </a:solidFill>
              </a:rPr>
              <a:t>Marketing process and mix</a:t>
            </a:r>
            <a:endParaRPr lang="en-US" sz="1600" dirty="0"/>
          </a:p>
          <a:p>
            <a:pPr marL="342900" indent="-342900">
              <a:spcAft>
                <a:spcPts val="600"/>
              </a:spcAft>
              <a:buSzPct val="100000"/>
              <a:buChar char="•"/>
            </a:pPr>
            <a:r>
              <a:rPr lang="en-US" sz="1600" dirty="0">
                <a:solidFill>
                  <a:schemeClr val="tx1"/>
                </a:solidFill>
              </a:rPr>
              <a:t>Marketing management tasks</a:t>
            </a:r>
            <a:endParaRPr lang="en-US" sz="1600" dirty="0"/>
          </a:p>
        </p:txBody>
      </p:sp>
      <p:sp>
        <p:nvSpPr>
          <p:cNvPr id="10" name="Part card"/>
          <p:cNvSpPr/>
          <p:nvPr/>
        </p:nvSpPr>
        <p:spPr>
          <a:xfrm>
            <a:off x="4297680" y="1463040"/>
            <a:ext cx="3566160" cy="4663440"/>
          </a:xfrm>
          <a:prstGeom prst="roundRect">
            <a:avLst>
              <a:gd name="adj" fmla="val 2564"/>
            </a:avLst>
          </a:prstGeom>
          <a:solidFill>
            <a:schemeClr val="bg2"/>
          </a:solidFill>
          <a:ln/>
        </p:spPr>
        <p:txBody>
          <a:bodyPr/>
          <a:lstStyle/>
          <a:p>
            <a:endParaRPr lang="en-US"/>
          </a:p>
        </p:txBody>
      </p:sp>
      <p:sp>
        <p:nvSpPr>
          <p:cNvPr id="11" name="Icon circle"/>
          <p:cNvSpPr/>
          <p:nvPr/>
        </p:nvSpPr>
        <p:spPr>
          <a:xfrm>
            <a:off x="4572000" y="1737360"/>
            <a:ext cx="822960" cy="822960"/>
          </a:xfrm>
          <a:prstGeom prst="ellipse">
            <a:avLst/>
          </a:prstGeom>
          <a:solidFill>
            <a:schemeClr val="accent3"/>
          </a:solidFill>
          <a:ln/>
        </p:spPr>
        <p:txBody>
          <a:bodyPr/>
          <a:lstStyle/>
          <a:p>
            <a:endParaRPr lang="en-US"/>
          </a:p>
        </p:txBody>
      </p:sp>
      <p:pic>
        <p:nvPicPr>
          <p:cNvPr id="12" name="Icon" descr="ChartLine icon"/>
          <p:cNvPicPr>
            <a:picLocks noChangeAspect="1"/>
          </p:cNvPicPr>
          <p:nvPr/>
        </p:nvPicPr>
        <p:blipFill>
          <a:blip r:embed="rId4"/>
          <a:stretch>
            <a:fillRect/>
          </a:stretch>
        </p:blipFill>
        <p:spPr>
          <a:xfrm>
            <a:off x="4777740" y="1943100"/>
            <a:ext cx="411480" cy="411480"/>
          </a:xfrm>
          <a:prstGeom prst="rect">
            <a:avLst/>
          </a:prstGeom>
        </p:spPr>
      </p:pic>
      <p:sp>
        <p:nvSpPr>
          <p:cNvPr id="13" name="Text"/>
          <p:cNvSpPr txBox="1"/>
          <p:nvPr/>
        </p:nvSpPr>
        <p:spPr>
          <a:xfrm>
            <a:off x="4572000" y="274320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PART 2</a:t>
            </a:r>
            <a:endParaRPr lang="en-US" sz="1400" dirty="0"/>
          </a:p>
        </p:txBody>
      </p:sp>
      <p:sp>
        <p:nvSpPr>
          <p:cNvPr id="14" name="Text"/>
          <p:cNvSpPr txBox="1"/>
          <p:nvPr/>
        </p:nvSpPr>
        <p:spPr>
          <a:xfrm>
            <a:off x="4572000" y="3017520"/>
            <a:ext cx="3017520" cy="457200"/>
          </a:xfrm>
          <a:prstGeom prst="rect">
            <a:avLst/>
          </a:prstGeom>
          <a:noFill/>
          <a:ln/>
        </p:spPr>
        <p:txBody>
          <a:bodyPr wrap="square" lIns="0" tIns="0" rIns="0" bIns="0" rtlCol="0" anchor="t"/>
          <a:lstStyle/>
          <a:p>
            <a:pPr marL="0" indent="0">
              <a:buNone/>
            </a:pPr>
            <a:r>
              <a:rPr lang="en-US" sz="2400" b="1" dirty="0">
                <a:solidFill>
                  <a:schemeClr val="tx2"/>
                </a:solidFill>
              </a:rPr>
              <a:t>Evolution</a:t>
            </a:r>
            <a:endParaRPr lang="en-US" sz="2400" dirty="0"/>
          </a:p>
        </p:txBody>
      </p:sp>
      <p:sp>
        <p:nvSpPr>
          <p:cNvPr id="15" name="Text"/>
          <p:cNvSpPr txBox="1"/>
          <p:nvPr/>
        </p:nvSpPr>
        <p:spPr>
          <a:xfrm>
            <a:off x="4572000" y="365760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Marketing eras</a:t>
            </a:r>
            <a:endParaRPr lang="en-US" sz="1600" dirty="0"/>
          </a:p>
          <a:p>
            <a:pPr marL="342900" indent="-342900">
              <a:spcAft>
                <a:spcPts val="600"/>
              </a:spcAft>
              <a:buSzPct val="100000"/>
              <a:buChar char="•"/>
            </a:pPr>
            <a:r>
              <a:rPr lang="en-US" sz="1600" dirty="0">
                <a:solidFill>
                  <a:schemeClr val="tx1"/>
                </a:solidFill>
              </a:rPr>
              <a:t>Marketing 1.0 to 5.0</a:t>
            </a:r>
            <a:endParaRPr lang="en-US" sz="1600" dirty="0"/>
          </a:p>
          <a:p>
            <a:pPr marL="342900" indent="-342900">
              <a:spcAft>
                <a:spcPts val="600"/>
              </a:spcAft>
              <a:buSzPct val="100000"/>
              <a:buChar char="•"/>
            </a:pPr>
            <a:r>
              <a:rPr lang="en-US" sz="1600" dirty="0">
                <a:solidFill>
                  <a:schemeClr val="tx1"/>
                </a:solidFill>
              </a:rPr>
              <a:t>Forces reshaping marketing</a:t>
            </a:r>
            <a:endParaRPr lang="en-US" sz="1600" dirty="0"/>
          </a:p>
          <a:p>
            <a:pPr marL="342900" indent="-342900">
              <a:spcAft>
                <a:spcPts val="600"/>
              </a:spcAft>
              <a:buSzPct val="100000"/>
              <a:buChar char="•"/>
            </a:pPr>
            <a:r>
              <a:rPr lang="en-US" sz="1600" dirty="0">
                <a:solidFill>
                  <a:schemeClr val="tx1"/>
                </a:solidFill>
              </a:rPr>
              <a:t>Transactions to relationships</a:t>
            </a:r>
            <a:endParaRPr lang="en-US" sz="1600" dirty="0"/>
          </a:p>
        </p:txBody>
      </p:sp>
      <p:sp>
        <p:nvSpPr>
          <p:cNvPr id="16" name="Part card"/>
          <p:cNvSpPr/>
          <p:nvPr/>
        </p:nvSpPr>
        <p:spPr>
          <a:xfrm>
            <a:off x="8046720" y="1463040"/>
            <a:ext cx="3566160" cy="4663440"/>
          </a:xfrm>
          <a:prstGeom prst="roundRect">
            <a:avLst>
              <a:gd name="adj" fmla="val 2564"/>
            </a:avLst>
          </a:prstGeom>
          <a:solidFill>
            <a:schemeClr val="bg2"/>
          </a:solidFill>
          <a:ln/>
        </p:spPr>
        <p:txBody>
          <a:bodyPr/>
          <a:lstStyle/>
          <a:p>
            <a:endParaRPr lang="en-US"/>
          </a:p>
        </p:txBody>
      </p:sp>
      <p:sp>
        <p:nvSpPr>
          <p:cNvPr id="17" name="Icon circle"/>
          <p:cNvSpPr/>
          <p:nvPr/>
        </p:nvSpPr>
        <p:spPr>
          <a:xfrm>
            <a:off x="8321040" y="1737360"/>
            <a:ext cx="822960" cy="822960"/>
          </a:xfrm>
          <a:prstGeom prst="ellipse">
            <a:avLst/>
          </a:prstGeom>
          <a:solidFill>
            <a:schemeClr val="accent4"/>
          </a:solidFill>
          <a:ln/>
        </p:spPr>
        <p:txBody>
          <a:bodyPr/>
          <a:lstStyle/>
          <a:p>
            <a:endParaRPr lang="en-US"/>
          </a:p>
        </p:txBody>
      </p:sp>
      <p:pic>
        <p:nvPicPr>
          <p:cNvPr id="18" name="Icon" descr="BalanceScale icon"/>
          <p:cNvPicPr>
            <a:picLocks noChangeAspect="1"/>
          </p:cNvPicPr>
          <p:nvPr/>
        </p:nvPicPr>
        <p:blipFill>
          <a:blip r:embed="rId5"/>
          <a:stretch>
            <a:fillRect/>
          </a:stretch>
        </p:blipFill>
        <p:spPr>
          <a:xfrm>
            <a:off x="8526780" y="1943100"/>
            <a:ext cx="411480" cy="411480"/>
          </a:xfrm>
          <a:prstGeom prst="rect">
            <a:avLst/>
          </a:prstGeom>
        </p:spPr>
      </p:pic>
      <p:sp>
        <p:nvSpPr>
          <p:cNvPr id="19" name="Text"/>
          <p:cNvSpPr txBox="1"/>
          <p:nvPr/>
        </p:nvSpPr>
        <p:spPr>
          <a:xfrm>
            <a:off x="8321040" y="274320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PART 3</a:t>
            </a:r>
            <a:endParaRPr lang="en-US" sz="1400" dirty="0"/>
          </a:p>
        </p:txBody>
      </p:sp>
      <p:sp>
        <p:nvSpPr>
          <p:cNvPr id="20" name="Text"/>
          <p:cNvSpPr txBox="1"/>
          <p:nvPr/>
        </p:nvSpPr>
        <p:spPr>
          <a:xfrm>
            <a:off x="8321040" y="3017520"/>
            <a:ext cx="3017520" cy="457200"/>
          </a:xfrm>
          <a:prstGeom prst="rect">
            <a:avLst/>
          </a:prstGeom>
          <a:noFill/>
          <a:ln/>
        </p:spPr>
        <p:txBody>
          <a:bodyPr wrap="square" lIns="0" tIns="0" rIns="0" bIns="0" rtlCol="0" anchor="t"/>
          <a:lstStyle/>
          <a:p>
            <a:pPr marL="0" indent="0">
              <a:buNone/>
            </a:pPr>
            <a:r>
              <a:rPr lang="en-US" sz="2400" b="1" dirty="0">
                <a:solidFill>
                  <a:schemeClr val="tx2"/>
                </a:solidFill>
              </a:rPr>
              <a:t>Philosophies</a:t>
            </a:r>
            <a:endParaRPr lang="en-US" sz="2400" dirty="0"/>
          </a:p>
        </p:txBody>
      </p:sp>
      <p:sp>
        <p:nvSpPr>
          <p:cNvPr id="21" name="Text"/>
          <p:cNvSpPr txBox="1"/>
          <p:nvPr/>
        </p:nvSpPr>
        <p:spPr>
          <a:xfrm>
            <a:off x="8321040" y="365760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Production, product, selling</a:t>
            </a:r>
            <a:endParaRPr lang="en-US" sz="1600" dirty="0"/>
          </a:p>
          <a:p>
            <a:pPr marL="342900" indent="-342900">
              <a:spcAft>
                <a:spcPts val="600"/>
              </a:spcAft>
              <a:buSzPct val="100000"/>
              <a:buChar char="•"/>
            </a:pPr>
            <a:r>
              <a:rPr lang="en-US" sz="1600" dirty="0">
                <a:solidFill>
                  <a:schemeClr val="tx1"/>
                </a:solidFill>
              </a:rPr>
              <a:t>The marketing concept</a:t>
            </a:r>
            <a:endParaRPr lang="en-US" sz="1600" dirty="0"/>
          </a:p>
          <a:p>
            <a:pPr marL="342900" indent="-342900">
              <a:spcAft>
                <a:spcPts val="600"/>
              </a:spcAft>
              <a:buSzPct val="100000"/>
              <a:buChar char="•"/>
            </a:pPr>
            <a:r>
              <a:rPr lang="en-US" sz="1600" dirty="0">
                <a:solidFill>
                  <a:schemeClr val="tx1"/>
                </a:solidFill>
              </a:rPr>
              <a:t>Societal marketing</a:t>
            </a:r>
            <a:endParaRPr lang="en-US" sz="1600" dirty="0"/>
          </a:p>
          <a:p>
            <a:pPr marL="342900" indent="-342900">
              <a:spcAft>
                <a:spcPts val="600"/>
              </a:spcAft>
              <a:buSzPct val="100000"/>
              <a:buChar char="•"/>
            </a:pPr>
            <a:r>
              <a:rPr lang="en-US" sz="1600" dirty="0">
                <a:solidFill>
                  <a:schemeClr val="tx1"/>
                </a:solidFill>
              </a:rPr>
              <a:t>Holistic marketing</a:t>
            </a:r>
            <a:endParaRPr lang="en-US" sz="1600" dirty="0"/>
          </a:p>
          <a:p>
            <a:pPr marL="342900" indent="-342900">
              <a:spcAft>
                <a:spcPts val="600"/>
              </a:spcAft>
              <a:buSzPct val="100000"/>
              <a:buChar char="•"/>
            </a:pPr>
            <a:r>
              <a:rPr lang="en-US" sz="1600" dirty="0">
                <a:solidFill>
                  <a:schemeClr val="tx1"/>
                </a:solidFill>
              </a:rPr>
              <a:t>Comparison and cases</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xEl>
                                              <p:pRg st="3" end="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number"/>
          <p:cNvSpPr txBox="1"/>
          <p:nvPr/>
        </p:nvSpPr>
        <p:spPr>
          <a:xfrm>
            <a:off x="822960" y="1554480"/>
            <a:ext cx="3657600" cy="1280160"/>
          </a:xfrm>
          <a:prstGeom prst="rect">
            <a:avLst/>
          </a:prstGeom>
          <a:noFill/>
          <a:ln/>
        </p:spPr>
        <p:txBody>
          <a:bodyPr wrap="square" lIns="0" tIns="0" rIns="0" bIns="0" rtlCol="0" anchor="ctr"/>
          <a:lstStyle/>
          <a:p>
            <a:pPr marL="0" indent="0">
              <a:buNone/>
            </a:pPr>
            <a:r>
              <a:rPr lang="en-US" sz="8000" b="1" dirty="0">
                <a:solidFill>
                  <a:schemeClr val="accent1"/>
                </a:solidFill>
              </a:rPr>
              <a:t>02</a:t>
            </a:r>
            <a:endParaRPr lang="en-US" sz="8000" dirty="0"/>
          </a:p>
        </p:txBody>
      </p:sp>
      <p:sp>
        <p:nvSpPr>
          <p:cNvPr id="3" name="Text 0"/>
          <p:cNvSpPr>
            <a:spLocks noGrp="1"/>
          </p:cNvSpPr>
          <p:nvPr>
            <p:ph type="title" idx="100" hasCustomPrompt="1"/>
          </p:nvPr>
        </p:nvSpPr>
        <p:spPr>
          <a:xfrm>
            <a:off x="822960" y="2926080"/>
            <a:ext cx="7680960" cy="1188720"/>
          </a:xfrm>
          <a:prstGeom prst="rect">
            <a:avLst/>
          </a:prstGeom>
          <a:noFill/>
          <a:ln/>
        </p:spPr>
        <p:txBody>
          <a:bodyPr wrap="square" lIns="0" tIns="0" rIns="0" bIns="0" rtlCol="0" anchor="t"/>
          <a:lstStyle/>
          <a:p>
            <a:pPr marL="0" indent="0" algn="l">
              <a:buNone/>
            </a:pPr>
            <a:r>
              <a:rPr lang="en-US" sz="4400" b="1" dirty="0">
                <a:solidFill>
                  <a:schemeClr val="bg1"/>
                </a:solidFill>
              </a:rPr>
              <a:t>Core marketing concepts</a:t>
            </a:r>
            <a:endParaRPr lang="en-US" sz="4400" dirty="0"/>
          </a:p>
        </p:txBody>
      </p:sp>
      <p:sp>
        <p:nvSpPr>
          <p:cNvPr id="4" name="Text 0"/>
          <p:cNvSpPr>
            <a:spLocks noGrp="1"/>
          </p:cNvSpPr>
          <p:nvPr>
            <p:ph type="body" idx="101" hasCustomPrompt="1"/>
          </p:nvPr>
        </p:nvSpPr>
        <p:spPr>
          <a:xfrm>
            <a:off x="822960" y="4206240"/>
            <a:ext cx="7498080" cy="1280160"/>
          </a:xfrm>
          <a:prstGeom prst="rect">
            <a:avLst/>
          </a:prstGeom>
          <a:noFill/>
          <a:ln/>
        </p:spPr>
        <p:txBody>
          <a:bodyPr wrap="square" lIns="0" tIns="0" rIns="0" bIns="0" rtlCol="0" anchor="t"/>
          <a:lstStyle/>
          <a:p>
            <a:pPr marL="0" indent="0">
              <a:buNone/>
            </a:pPr>
            <a:r>
              <a:rPr lang="en-US" sz="2000" dirty="0">
                <a:solidFill>
                  <a:schemeClr val="bg2"/>
                </a:solidFill>
              </a:rPr>
              <a:t>What marketing is, what is being marketed, and how marketing is managed</a:t>
            </a:r>
            <a:endParaRPr lang="en-US" sz="2000" dirty="0"/>
          </a:p>
        </p:txBody>
      </p:sp>
      <p:sp>
        <p:nvSpPr>
          <p:cNvPr id="5" name="Icon circle"/>
          <p:cNvSpPr/>
          <p:nvPr/>
        </p:nvSpPr>
        <p:spPr>
          <a:xfrm>
            <a:off x="8961120" y="2103120"/>
            <a:ext cx="2560320" cy="2560320"/>
          </a:xfrm>
          <a:prstGeom prst="ellipse">
            <a:avLst/>
          </a:prstGeom>
          <a:solidFill>
            <a:schemeClr val="accent1"/>
          </a:solidFill>
          <a:ln/>
        </p:spPr>
        <p:txBody>
          <a:bodyPr/>
          <a:lstStyle/>
          <a:p>
            <a:endParaRPr lang="en-US"/>
          </a:p>
        </p:txBody>
      </p:sp>
      <p:pic>
        <p:nvPicPr>
          <p:cNvPr id="6" name="Icon" descr="Lightbulb icon"/>
          <p:cNvPicPr>
            <a:picLocks noChangeAspect="1"/>
          </p:cNvPicPr>
          <p:nvPr/>
        </p:nvPicPr>
        <p:blipFill>
          <a:blip r:embed="rId3"/>
          <a:stretch>
            <a:fillRect/>
          </a:stretch>
        </p:blipFill>
        <p:spPr>
          <a:xfrm>
            <a:off x="9601200" y="2743200"/>
            <a:ext cx="1280160" cy="1280160"/>
          </a:xfrm>
          <a:prstGeom prst="rect">
            <a:avLst/>
          </a:prstGeom>
        </p:spPr>
      </p:pic>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What is marketing?</a:t>
            </a:r>
            <a:endParaRPr lang="en-US" sz="3400" dirty="0"/>
          </a:p>
        </p:txBody>
      </p:sp>
      <p:sp>
        <p:nvSpPr>
          <p:cNvPr id="4" name="Definition card"/>
          <p:cNvSpPr/>
          <p:nvPr/>
        </p:nvSpPr>
        <p:spPr>
          <a:xfrm>
            <a:off x="548640" y="1417320"/>
            <a:ext cx="3566160" cy="3429000"/>
          </a:xfrm>
          <a:prstGeom prst="roundRect">
            <a:avLst>
              <a:gd name="adj" fmla="val 2667"/>
            </a:avLst>
          </a:prstGeom>
          <a:solidFill>
            <a:schemeClr val="bg2"/>
          </a:solidFill>
          <a:ln/>
        </p:spPr>
        <p:txBody>
          <a:bodyPr/>
          <a:lstStyle/>
          <a:p>
            <a:endParaRPr lang="en-US"/>
          </a:p>
        </p:txBody>
      </p:sp>
      <p:sp>
        <p:nvSpPr>
          <p:cNvPr id="5" name="Icon circle"/>
          <p:cNvSpPr/>
          <p:nvPr/>
        </p:nvSpPr>
        <p:spPr>
          <a:xfrm>
            <a:off x="822960" y="1645920"/>
            <a:ext cx="640080" cy="640080"/>
          </a:xfrm>
          <a:prstGeom prst="ellipse">
            <a:avLst/>
          </a:prstGeom>
          <a:solidFill>
            <a:schemeClr val="accent3"/>
          </a:solidFill>
          <a:ln/>
        </p:spPr>
        <p:txBody>
          <a:bodyPr/>
          <a:lstStyle/>
          <a:p>
            <a:endParaRPr lang="en-US"/>
          </a:p>
        </p:txBody>
      </p:sp>
      <p:pic>
        <p:nvPicPr>
          <p:cNvPr id="6" name="Icon" descr="Users icon"/>
          <p:cNvPicPr>
            <a:picLocks noChangeAspect="1"/>
          </p:cNvPicPr>
          <p:nvPr/>
        </p:nvPicPr>
        <p:blipFill>
          <a:blip r:embed="rId3"/>
          <a:stretch>
            <a:fillRect/>
          </a:stretch>
        </p:blipFill>
        <p:spPr>
          <a:xfrm>
            <a:off x="982980" y="1805940"/>
            <a:ext cx="320040" cy="320040"/>
          </a:xfrm>
          <a:prstGeom prst="rect">
            <a:avLst/>
          </a:prstGeom>
        </p:spPr>
      </p:pic>
      <p:sp>
        <p:nvSpPr>
          <p:cNvPr id="7" name="Text"/>
          <p:cNvSpPr txBox="1"/>
          <p:nvPr/>
        </p:nvSpPr>
        <p:spPr>
          <a:xfrm>
            <a:off x="822960" y="2468880"/>
            <a:ext cx="3017520" cy="22860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SOCIAL VIEW (KOTLER &amp; KELLER)</a:t>
            </a:r>
            <a:endParaRPr lang="en-US" sz="1600" dirty="0"/>
          </a:p>
          <a:p>
            <a:pPr marL="0" indent="0">
              <a:spcAft>
                <a:spcPts val="400"/>
              </a:spcAft>
              <a:buNone/>
            </a:pPr>
            <a:r>
              <a:rPr lang="en-US" sz="1600" b="1" dirty="0">
                <a:solidFill>
                  <a:schemeClr val="tx1"/>
                </a:solidFill>
              </a:rPr>
              <a:t>A societal process by which individuals and groups obtain what they need and want by creating, offering and freely exchanging products and services of value with others</a:t>
            </a:r>
            <a:r>
              <a:rPr lang="en-US" sz="1600" dirty="0">
                <a:solidFill>
                  <a:schemeClr val="tx1"/>
                </a:solidFill>
              </a:rPr>
              <a:t>.</a:t>
            </a:r>
            <a:endParaRPr lang="en-US" sz="1600" dirty="0"/>
          </a:p>
        </p:txBody>
      </p:sp>
      <p:sp>
        <p:nvSpPr>
          <p:cNvPr id="8" name="Definition card"/>
          <p:cNvSpPr/>
          <p:nvPr/>
        </p:nvSpPr>
        <p:spPr>
          <a:xfrm>
            <a:off x="4297680" y="1417320"/>
            <a:ext cx="3566160" cy="3429000"/>
          </a:xfrm>
          <a:prstGeom prst="roundRect">
            <a:avLst>
              <a:gd name="adj" fmla="val 2667"/>
            </a:avLst>
          </a:prstGeom>
          <a:solidFill>
            <a:schemeClr val="bg2"/>
          </a:solidFill>
          <a:ln/>
        </p:spPr>
        <p:txBody>
          <a:bodyPr/>
          <a:lstStyle/>
          <a:p>
            <a:endParaRPr lang="en-US"/>
          </a:p>
        </p:txBody>
      </p:sp>
      <p:sp>
        <p:nvSpPr>
          <p:cNvPr id="9" name="Icon circle"/>
          <p:cNvSpPr/>
          <p:nvPr/>
        </p:nvSpPr>
        <p:spPr>
          <a:xfrm>
            <a:off x="4572000" y="1645920"/>
            <a:ext cx="640080" cy="640080"/>
          </a:xfrm>
          <a:prstGeom prst="ellipse">
            <a:avLst/>
          </a:prstGeom>
          <a:solidFill>
            <a:schemeClr val="accent1"/>
          </a:solidFill>
          <a:ln/>
        </p:spPr>
        <p:txBody>
          <a:bodyPr/>
          <a:lstStyle/>
          <a:p>
            <a:endParaRPr lang="en-US"/>
          </a:p>
        </p:txBody>
      </p:sp>
      <p:pic>
        <p:nvPicPr>
          <p:cNvPr id="10" name="Icon" descr="Bullseye icon"/>
          <p:cNvPicPr>
            <a:picLocks noChangeAspect="1"/>
          </p:cNvPicPr>
          <p:nvPr/>
        </p:nvPicPr>
        <p:blipFill>
          <a:blip r:embed="rId4"/>
          <a:stretch>
            <a:fillRect/>
          </a:stretch>
        </p:blipFill>
        <p:spPr>
          <a:xfrm>
            <a:off x="4732020" y="1805940"/>
            <a:ext cx="320040" cy="320040"/>
          </a:xfrm>
          <a:prstGeom prst="rect">
            <a:avLst/>
          </a:prstGeom>
        </p:spPr>
      </p:pic>
      <p:sp>
        <p:nvSpPr>
          <p:cNvPr id="11" name="Text"/>
          <p:cNvSpPr txBox="1"/>
          <p:nvPr/>
        </p:nvSpPr>
        <p:spPr>
          <a:xfrm>
            <a:off x="4572000" y="2468880"/>
            <a:ext cx="3017520" cy="22860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MANAGERIAL VIEW (KOTLER &amp; KELLER)</a:t>
            </a:r>
            <a:endParaRPr lang="en-US" sz="1600" dirty="0"/>
          </a:p>
          <a:p>
            <a:pPr marL="0" indent="0">
              <a:spcAft>
                <a:spcPts val="400"/>
              </a:spcAft>
              <a:buNone/>
            </a:pPr>
            <a:r>
              <a:rPr lang="en-US" sz="1600" dirty="0">
                <a:solidFill>
                  <a:schemeClr val="tx1"/>
                </a:solidFill>
              </a:rPr>
              <a:t>Often called the art of selling, yet selling is only the tip of the iceberg. The aim is to know and understand customers so well that the offering fits them and sells itself (Drucker).</a:t>
            </a:r>
            <a:endParaRPr lang="en-US" sz="1600" dirty="0"/>
          </a:p>
        </p:txBody>
      </p:sp>
      <p:sp>
        <p:nvSpPr>
          <p:cNvPr id="12" name="Definition card"/>
          <p:cNvSpPr/>
          <p:nvPr/>
        </p:nvSpPr>
        <p:spPr>
          <a:xfrm>
            <a:off x="8046720" y="1417320"/>
            <a:ext cx="3566160" cy="3429000"/>
          </a:xfrm>
          <a:prstGeom prst="roundRect">
            <a:avLst>
              <a:gd name="adj" fmla="val 2667"/>
            </a:avLst>
          </a:prstGeom>
          <a:solidFill>
            <a:schemeClr val="bg2"/>
          </a:solidFill>
          <a:ln/>
        </p:spPr>
        <p:txBody>
          <a:bodyPr/>
          <a:lstStyle/>
          <a:p>
            <a:endParaRPr lang="en-US"/>
          </a:p>
        </p:txBody>
      </p:sp>
      <p:sp>
        <p:nvSpPr>
          <p:cNvPr id="13" name="Icon circle"/>
          <p:cNvSpPr/>
          <p:nvPr/>
        </p:nvSpPr>
        <p:spPr>
          <a:xfrm>
            <a:off x="8321040" y="1645920"/>
            <a:ext cx="640080" cy="640080"/>
          </a:xfrm>
          <a:prstGeom prst="ellipse">
            <a:avLst/>
          </a:prstGeom>
          <a:solidFill>
            <a:schemeClr val="accent4"/>
          </a:solidFill>
          <a:ln/>
        </p:spPr>
        <p:txBody>
          <a:bodyPr/>
          <a:lstStyle/>
          <a:p>
            <a:endParaRPr lang="en-US"/>
          </a:p>
        </p:txBody>
      </p:sp>
      <p:pic>
        <p:nvPicPr>
          <p:cNvPr id="14" name="Icon" descr="Handshake icon"/>
          <p:cNvPicPr>
            <a:picLocks noChangeAspect="1"/>
          </p:cNvPicPr>
          <p:nvPr/>
        </p:nvPicPr>
        <p:blipFill>
          <a:blip r:embed="rId5"/>
          <a:stretch>
            <a:fillRect/>
          </a:stretch>
        </p:blipFill>
        <p:spPr>
          <a:xfrm>
            <a:off x="8481060" y="1805940"/>
            <a:ext cx="320040" cy="320040"/>
          </a:xfrm>
          <a:prstGeom prst="rect">
            <a:avLst/>
          </a:prstGeom>
        </p:spPr>
      </p:pic>
      <p:sp>
        <p:nvSpPr>
          <p:cNvPr id="15" name="Text"/>
          <p:cNvSpPr txBox="1"/>
          <p:nvPr/>
        </p:nvSpPr>
        <p:spPr>
          <a:xfrm>
            <a:off x="8321040" y="2468880"/>
            <a:ext cx="3017520" cy="22860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CUSTOMER VALUE VIEW (ARMSTRONG &amp; KOTLER)</a:t>
            </a:r>
            <a:endParaRPr lang="en-US" sz="1600" dirty="0"/>
          </a:p>
          <a:p>
            <a:pPr marL="0" indent="0">
              <a:spcAft>
                <a:spcPts val="400"/>
              </a:spcAft>
              <a:buNone/>
            </a:pPr>
            <a:r>
              <a:rPr lang="en-US" sz="1600" b="1" dirty="0">
                <a:solidFill>
                  <a:schemeClr val="tx1"/>
                </a:solidFill>
              </a:rPr>
              <a:t>Engaging customers and building strong relationships to create customer value, and capturing value from customers in return</a:t>
            </a:r>
            <a:r>
              <a:rPr lang="en-US" sz="1600" dirty="0">
                <a:solidFill>
                  <a:schemeClr val="tx1"/>
                </a:solidFill>
              </a:rPr>
              <a:t>. </a:t>
            </a:r>
            <a:r>
              <a:rPr lang="en-US" sz="1600" u="sng" dirty="0">
                <a:solidFill>
                  <a:schemeClr val="tx1"/>
                </a:solidFill>
              </a:rPr>
              <a:t>Two goals: </a:t>
            </a:r>
            <a:r>
              <a:rPr lang="en-US" sz="1600" dirty="0"/>
              <a:t> To a</a:t>
            </a:r>
            <a:r>
              <a:rPr lang="en-US" sz="1600" dirty="0">
                <a:solidFill>
                  <a:schemeClr val="tx1"/>
                </a:solidFill>
              </a:rPr>
              <a:t>ttract new customers with superior value; Keep and grow current ones.</a:t>
            </a:r>
            <a:endParaRPr lang="en-US" sz="1600" dirty="0"/>
          </a:p>
        </p:txBody>
      </p:sp>
      <p:sp>
        <p:nvSpPr>
          <p:cNvPr id="16" name="AMA banner"/>
          <p:cNvSpPr/>
          <p:nvPr/>
        </p:nvSpPr>
        <p:spPr>
          <a:xfrm>
            <a:off x="548640" y="5029200"/>
            <a:ext cx="11064240" cy="1097280"/>
          </a:xfrm>
          <a:prstGeom prst="roundRect">
            <a:avLst>
              <a:gd name="adj" fmla="val 8333"/>
            </a:avLst>
          </a:prstGeom>
          <a:solidFill>
            <a:schemeClr val="tx2"/>
          </a:solidFill>
          <a:ln/>
        </p:spPr>
        <p:txBody>
          <a:bodyPr/>
          <a:lstStyle/>
          <a:p>
            <a:endParaRPr lang="en-US"/>
          </a:p>
        </p:txBody>
      </p:sp>
      <p:sp>
        <p:nvSpPr>
          <p:cNvPr id="17" name="Text"/>
          <p:cNvSpPr txBox="1"/>
          <p:nvPr/>
        </p:nvSpPr>
        <p:spPr>
          <a:xfrm>
            <a:off x="822960" y="5193792"/>
            <a:ext cx="10515600" cy="822960"/>
          </a:xfrm>
          <a:prstGeom prst="rect">
            <a:avLst/>
          </a:prstGeom>
          <a:noFill/>
          <a:ln/>
        </p:spPr>
        <p:txBody>
          <a:bodyPr wrap="square" lIns="0" tIns="0" rIns="0" bIns="0" rtlCol="0" anchor="ctr"/>
          <a:lstStyle/>
          <a:p>
            <a:pPr marL="0" indent="0">
              <a:buNone/>
            </a:pPr>
            <a:r>
              <a:rPr lang="en-US" sz="1600" b="1" dirty="0">
                <a:solidFill>
                  <a:schemeClr val="accent2"/>
                </a:solidFill>
              </a:rPr>
              <a:t>AMERICAN MARKETING ASSOCIATION (2017)</a:t>
            </a:r>
            <a:endParaRPr lang="en-US" sz="1600" dirty="0"/>
          </a:p>
          <a:p>
            <a:pPr marL="0" indent="0">
              <a:buNone/>
            </a:pPr>
            <a:r>
              <a:rPr lang="en-US" sz="1600" dirty="0">
                <a:solidFill>
                  <a:schemeClr val="bg1"/>
                </a:solidFill>
              </a:rPr>
              <a:t>Marketing is the activity, set of institutions, and processes for creating, communicating, delivering, and exchanging offerings that have value for customers, clients, partners, and society at large.</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Needs, wants and demands</a:t>
            </a:r>
            <a:endParaRPr lang="en-US" sz="3400" dirty="0"/>
          </a:p>
        </p:txBody>
      </p:sp>
      <p:sp>
        <p:nvSpPr>
          <p:cNvPr id="4" name="Concept card"/>
          <p:cNvSpPr/>
          <p:nvPr/>
        </p:nvSpPr>
        <p:spPr>
          <a:xfrm>
            <a:off x="548640" y="1463040"/>
            <a:ext cx="3383280" cy="3246120"/>
          </a:xfrm>
          <a:prstGeom prst="roundRect">
            <a:avLst>
              <a:gd name="adj" fmla="val 2817"/>
            </a:avLst>
          </a:prstGeom>
          <a:solidFill>
            <a:schemeClr val="bg2"/>
          </a:solidFill>
          <a:ln/>
        </p:spPr>
        <p:txBody>
          <a:bodyPr/>
          <a:lstStyle/>
          <a:p>
            <a:endParaRPr lang="en-US"/>
          </a:p>
        </p:txBody>
      </p:sp>
      <p:sp>
        <p:nvSpPr>
          <p:cNvPr id="5" name="Icon circle"/>
          <p:cNvSpPr/>
          <p:nvPr/>
        </p:nvSpPr>
        <p:spPr>
          <a:xfrm>
            <a:off x="822960" y="1691640"/>
            <a:ext cx="731520" cy="731520"/>
          </a:xfrm>
          <a:prstGeom prst="ellipse">
            <a:avLst/>
          </a:prstGeom>
          <a:solidFill>
            <a:schemeClr val="accent3"/>
          </a:solidFill>
          <a:ln/>
        </p:spPr>
        <p:txBody>
          <a:bodyPr/>
          <a:lstStyle/>
          <a:p>
            <a:endParaRPr lang="en-US"/>
          </a:p>
        </p:txBody>
      </p:sp>
      <p:pic>
        <p:nvPicPr>
          <p:cNvPr id="6" name="Icon" descr="Heart icon"/>
          <p:cNvPicPr>
            <a:picLocks noChangeAspect="1"/>
          </p:cNvPicPr>
          <p:nvPr/>
        </p:nvPicPr>
        <p:blipFill>
          <a:blip r:embed="rId3"/>
          <a:stretch>
            <a:fillRect/>
          </a:stretch>
        </p:blipFill>
        <p:spPr>
          <a:xfrm>
            <a:off x="1005840" y="1874520"/>
            <a:ext cx="365760" cy="365760"/>
          </a:xfrm>
          <a:prstGeom prst="rect">
            <a:avLst/>
          </a:prstGeom>
        </p:spPr>
      </p:pic>
      <p:sp>
        <p:nvSpPr>
          <p:cNvPr id="7" name="Text"/>
          <p:cNvSpPr txBox="1"/>
          <p:nvPr/>
        </p:nvSpPr>
        <p:spPr>
          <a:xfrm>
            <a:off x="1737360" y="1691640"/>
            <a:ext cx="2011680" cy="731520"/>
          </a:xfrm>
          <a:prstGeom prst="rect">
            <a:avLst/>
          </a:prstGeom>
          <a:noFill/>
          <a:ln/>
        </p:spPr>
        <p:txBody>
          <a:bodyPr wrap="square" lIns="0" tIns="0" rIns="0" bIns="0" rtlCol="0" anchor="ctr"/>
          <a:lstStyle/>
          <a:p>
            <a:pPr marL="0" indent="0">
              <a:buNone/>
            </a:pPr>
            <a:r>
              <a:rPr lang="en-US" sz="2600" b="1" dirty="0">
                <a:solidFill>
                  <a:schemeClr val="tx2"/>
                </a:solidFill>
              </a:rPr>
              <a:t>Needs</a:t>
            </a:r>
            <a:endParaRPr lang="en-US" sz="2600" dirty="0"/>
          </a:p>
        </p:txBody>
      </p:sp>
      <p:sp>
        <p:nvSpPr>
          <p:cNvPr id="8" name="Text"/>
          <p:cNvSpPr txBox="1"/>
          <p:nvPr/>
        </p:nvSpPr>
        <p:spPr>
          <a:xfrm>
            <a:off x="822960" y="2651760"/>
            <a:ext cx="2834640" cy="1280160"/>
          </a:xfrm>
          <a:prstGeom prst="rect">
            <a:avLst/>
          </a:prstGeom>
          <a:noFill/>
          <a:ln/>
        </p:spPr>
        <p:txBody>
          <a:bodyPr wrap="square" lIns="0" tIns="0" rIns="0" bIns="0" rtlCol="0" anchor="t"/>
          <a:lstStyle/>
          <a:p>
            <a:pPr marL="0" indent="0">
              <a:buNone/>
            </a:pPr>
            <a:r>
              <a:rPr lang="en-US" sz="1500" dirty="0">
                <a:solidFill>
                  <a:schemeClr val="tx1"/>
                </a:solidFill>
              </a:rPr>
              <a:t>States of felt deprivation: physical (food, warmth, safety), social (belonging, affection) and individual (knowledge, self-expression).</a:t>
            </a:r>
            <a:endParaRPr lang="en-US" sz="1500" dirty="0"/>
          </a:p>
        </p:txBody>
      </p:sp>
      <p:sp>
        <p:nvSpPr>
          <p:cNvPr id="9" name="Text"/>
          <p:cNvSpPr txBox="1"/>
          <p:nvPr/>
        </p:nvSpPr>
        <p:spPr>
          <a:xfrm>
            <a:off x="822960" y="4069080"/>
            <a:ext cx="2834640" cy="502920"/>
          </a:xfrm>
          <a:prstGeom prst="rect">
            <a:avLst/>
          </a:prstGeom>
          <a:noFill/>
          <a:ln/>
        </p:spPr>
        <p:txBody>
          <a:bodyPr wrap="square" lIns="0" tIns="0" rIns="0" bIns="0" rtlCol="0" anchor="t"/>
          <a:lstStyle/>
          <a:p>
            <a:pPr marL="0" indent="0">
              <a:buNone/>
            </a:pPr>
            <a:r>
              <a:rPr lang="en-US" sz="1500" i="1" dirty="0">
                <a:solidFill>
                  <a:schemeClr val="accent1"/>
                </a:solidFill>
              </a:rPr>
              <a:t>I am hungry.</a:t>
            </a:r>
            <a:endParaRPr lang="en-US" sz="1500" dirty="0"/>
          </a:p>
        </p:txBody>
      </p:sp>
      <p:sp>
        <p:nvSpPr>
          <p:cNvPr id="10" name="Arrow"/>
          <p:cNvSpPr/>
          <p:nvPr/>
        </p:nvSpPr>
        <p:spPr>
          <a:xfrm>
            <a:off x="4005072" y="2834640"/>
            <a:ext cx="310896" cy="411480"/>
          </a:xfrm>
          <a:prstGeom prst="rightArrow">
            <a:avLst/>
          </a:prstGeom>
          <a:solidFill>
            <a:schemeClr val="accent6"/>
          </a:solidFill>
          <a:ln/>
        </p:spPr>
        <p:txBody>
          <a:bodyPr/>
          <a:lstStyle/>
          <a:p>
            <a:endParaRPr lang="en-US"/>
          </a:p>
        </p:txBody>
      </p:sp>
      <p:sp>
        <p:nvSpPr>
          <p:cNvPr id="11" name="Concept card"/>
          <p:cNvSpPr/>
          <p:nvPr/>
        </p:nvSpPr>
        <p:spPr>
          <a:xfrm>
            <a:off x="4389120" y="1463040"/>
            <a:ext cx="3383280" cy="3246120"/>
          </a:xfrm>
          <a:prstGeom prst="roundRect">
            <a:avLst>
              <a:gd name="adj" fmla="val 2817"/>
            </a:avLst>
          </a:prstGeom>
          <a:solidFill>
            <a:schemeClr val="bg2"/>
          </a:solidFill>
          <a:ln/>
        </p:spPr>
        <p:txBody>
          <a:bodyPr/>
          <a:lstStyle/>
          <a:p>
            <a:endParaRPr lang="en-US"/>
          </a:p>
        </p:txBody>
      </p:sp>
      <p:sp>
        <p:nvSpPr>
          <p:cNvPr id="12" name="Icon circle"/>
          <p:cNvSpPr/>
          <p:nvPr/>
        </p:nvSpPr>
        <p:spPr>
          <a:xfrm>
            <a:off x="4663440" y="1691640"/>
            <a:ext cx="731520" cy="731520"/>
          </a:xfrm>
          <a:prstGeom prst="ellipse">
            <a:avLst/>
          </a:prstGeom>
          <a:solidFill>
            <a:schemeClr val="accent4"/>
          </a:solidFill>
          <a:ln/>
        </p:spPr>
        <p:txBody>
          <a:bodyPr/>
          <a:lstStyle/>
          <a:p>
            <a:endParaRPr lang="en-US"/>
          </a:p>
        </p:txBody>
      </p:sp>
      <p:pic>
        <p:nvPicPr>
          <p:cNvPr id="13" name="Icon" descr="Star icon"/>
          <p:cNvPicPr>
            <a:picLocks noChangeAspect="1"/>
          </p:cNvPicPr>
          <p:nvPr/>
        </p:nvPicPr>
        <p:blipFill>
          <a:blip r:embed="rId4"/>
          <a:stretch>
            <a:fillRect/>
          </a:stretch>
        </p:blipFill>
        <p:spPr>
          <a:xfrm>
            <a:off x="4846320" y="1874520"/>
            <a:ext cx="365760" cy="365760"/>
          </a:xfrm>
          <a:prstGeom prst="rect">
            <a:avLst/>
          </a:prstGeom>
        </p:spPr>
      </p:pic>
      <p:sp>
        <p:nvSpPr>
          <p:cNvPr id="14" name="Text"/>
          <p:cNvSpPr txBox="1"/>
          <p:nvPr/>
        </p:nvSpPr>
        <p:spPr>
          <a:xfrm>
            <a:off x="5577840" y="1691640"/>
            <a:ext cx="2011680" cy="731520"/>
          </a:xfrm>
          <a:prstGeom prst="rect">
            <a:avLst/>
          </a:prstGeom>
          <a:noFill/>
          <a:ln/>
        </p:spPr>
        <p:txBody>
          <a:bodyPr wrap="square" lIns="0" tIns="0" rIns="0" bIns="0" rtlCol="0" anchor="ctr"/>
          <a:lstStyle/>
          <a:p>
            <a:pPr marL="0" indent="0">
              <a:buNone/>
            </a:pPr>
            <a:r>
              <a:rPr lang="en-US" sz="2600" b="1" dirty="0">
                <a:solidFill>
                  <a:schemeClr val="tx2"/>
                </a:solidFill>
              </a:rPr>
              <a:t>Wants</a:t>
            </a:r>
            <a:endParaRPr lang="en-US" sz="2600" dirty="0"/>
          </a:p>
        </p:txBody>
      </p:sp>
      <p:sp>
        <p:nvSpPr>
          <p:cNvPr id="15" name="Text"/>
          <p:cNvSpPr txBox="1"/>
          <p:nvPr/>
        </p:nvSpPr>
        <p:spPr>
          <a:xfrm>
            <a:off x="4663440" y="2651760"/>
            <a:ext cx="2834640" cy="1280160"/>
          </a:xfrm>
          <a:prstGeom prst="rect">
            <a:avLst/>
          </a:prstGeom>
          <a:noFill/>
          <a:ln/>
        </p:spPr>
        <p:txBody>
          <a:bodyPr wrap="square" lIns="0" tIns="0" rIns="0" bIns="0" rtlCol="0" anchor="t"/>
          <a:lstStyle/>
          <a:p>
            <a:pPr marL="0" indent="0">
              <a:buNone/>
            </a:pPr>
            <a:r>
              <a:rPr lang="en-US" sz="1500" dirty="0">
                <a:solidFill>
                  <a:schemeClr val="tx1"/>
                </a:solidFill>
              </a:rPr>
              <a:t>The form human needs take as shaped by culture and individual personality.</a:t>
            </a:r>
            <a:endParaRPr lang="en-US" sz="1500" dirty="0"/>
          </a:p>
        </p:txBody>
      </p:sp>
      <p:sp>
        <p:nvSpPr>
          <p:cNvPr id="16" name="Text"/>
          <p:cNvSpPr txBox="1"/>
          <p:nvPr/>
        </p:nvSpPr>
        <p:spPr>
          <a:xfrm>
            <a:off x="4663440" y="4069080"/>
            <a:ext cx="2834640" cy="502920"/>
          </a:xfrm>
          <a:prstGeom prst="rect">
            <a:avLst/>
          </a:prstGeom>
          <a:noFill/>
          <a:ln/>
        </p:spPr>
        <p:txBody>
          <a:bodyPr wrap="square" lIns="0" tIns="0" rIns="0" bIns="0" rtlCol="0" anchor="t"/>
          <a:lstStyle/>
          <a:p>
            <a:pPr marL="0" indent="0">
              <a:buNone/>
            </a:pPr>
            <a:r>
              <a:rPr lang="en-US" sz="1500" i="1" dirty="0">
                <a:solidFill>
                  <a:schemeClr val="accent1"/>
                </a:solidFill>
              </a:rPr>
              <a:t>I want a burger (elsewhere, a bowl of rice).</a:t>
            </a:r>
            <a:endParaRPr lang="en-US" sz="1500" dirty="0"/>
          </a:p>
        </p:txBody>
      </p:sp>
      <p:sp>
        <p:nvSpPr>
          <p:cNvPr id="17" name="Arrow"/>
          <p:cNvSpPr/>
          <p:nvPr/>
        </p:nvSpPr>
        <p:spPr>
          <a:xfrm>
            <a:off x="7845552" y="2834640"/>
            <a:ext cx="310896" cy="411480"/>
          </a:xfrm>
          <a:prstGeom prst="rightArrow">
            <a:avLst/>
          </a:prstGeom>
          <a:solidFill>
            <a:schemeClr val="accent6"/>
          </a:solidFill>
          <a:ln/>
        </p:spPr>
        <p:txBody>
          <a:bodyPr/>
          <a:lstStyle/>
          <a:p>
            <a:endParaRPr lang="en-US"/>
          </a:p>
        </p:txBody>
      </p:sp>
      <p:sp>
        <p:nvSpPr>
          <p:cNvPr id="18" name="Concept card"/>
          <p:cNvSpPr/>
          <p:nvPr/>
        </p:nvSpPr>
        <p:spPr>
          <a:xfrm>
            <a:off x="8229600" y="1463040"/>
            <a:ext cx="3383280" cy="3246120"/>
          </a:xfrm>
          <a:prstGeom prst="roundRect">
            <a:avLst>
              <a:gd name="adj" fmla="val 2817"/>
            </a:avLst>
          </a:prstGeom>
          <a:solidFill>
            <a:schemeClr val="bg2"/>
          </a:solidFill>
          <a:ln/>
        </p:spPr>
        <p:txBody>
          <a:bodyPr/>
          <a:lstStyle/>
          <a:p>
            <a:endParaRPr lang="en-US"/>
          </a:p>
        </p:txBody>
      </p:sp>
      <p:sp>
        <p:nvSpPr>
          <p:cNvPr id="19" name="Icon circle"/>
          <p:cNvSpPr/>
          <p:nvPr/>
        </p:nvSpPr>
        <p:spPr>
          <a:xfrm>
            <a:off x="8503920" y="1691640"/>
            <a:ext cx="731520" cy="731520"/>
          </a:xfrm>
          <a:prstGeom prst="ellipse">
            <a:avLst/>
          </a:prstGeom>
          <a:solidFill>
            <a:schemeClr val="accent1"/>
          </a:solidFill>
          <a:ln/>
        </p:spPr>
        <p:txBody>
          <a:bodyPr/>
          <a:lstStyle/>
          <a:p>
            <a:endParaRPr lang="en-US"/>
          </a:p>
        </p:txBody>
      </p:sp>
      <p:pic>
        <p:nvPicPr>
          <p:cNvPr id="20" name="Icon" descr="ShoppingCart icon"/>
          <p:cNvPicPr>
            <a:picLocks noChangeAspect="1"/>
          </p:cNvPicPr>
          <p:nvPr/>
        </p:nvPicPr>
        <p:blipFill>
          <a:blip r:embed="rId5"/>
          <a:stretch>
            <a:fillRect/>
          </a:stretch>
        </p:blipFill>
        <p:spPr>
          <a:xfrm>
            <a:off x="8686800" y="1874520"/>
            <a:ext cx="365760" cy="365760"/>
          </a:xfrm>
          <a:prstGeom prst="rect">
            <a:avLst/>
          </a:prstGeom>
        </p:spPr>
      </p:pic>
      <p:sp>
        <p:nvSpPr>
          <p:cNvPr id="21" name="Text"/>
          <p:cNvSpPr txBox="1"/>
          <p:nvPr/>
        </p:nvSpPr>
        <p:spPr>
          <a:xfrm>
            <a:off x="9418320" y="1691640"/>
            <a:ext cx="2011680" cy="731520"/>
          </a:xfrm>
          <a:prstGeom prst="rect">
            <a:avLst/>
          </a:prstGeom>
          <a:noFill/>
          <a:ln/>
        </p:spPr>
        <p:txBody>
          <a:bodyPr wrap="square" lIns="0" tIns="0" rIns="0" bIns="0" rtlCol="0" anchor="ctr"/>
          <a:lstStyle/>
          <a:p>
            <a:pPr marL="0" indent="0">
              <a:buNone/>
            </a:pPr>
            <a:r>
              <a:rPr lang="en-US" sz="2600" b="1" dirty="0">
                <a:solidFill>
                  <a:schemeClr val="tx2"/>
                </a:solidFill>
              </a:rPr>
              <a:t>Demands</a:t>
            </a:r>
            <a:endParaRPr lang="en-US" sz="2600" dirty="0"/>
          </a:p>
        </p:txBody>
      </p:sp>
      <p:sp>
        <p:nvSpPr>
          <p:cNvPr id="22" name="Text"/>
          <p:cNvSpPr txBox="1"/>
          <p:nvPr/>
        </p:nvSpPr>
        <p:spPr>
          <a:xfrm>
            <a:off x="8503920" y="2651760"/>
            <a:ext cx="2834640" cy="1280160"/>
          </a:xfrm>
          <a:prstGeom prst="rect">
            <a:avLst/>
          </a:prstGeom>
          <a:noFill/>
          <a:ln/>
        </p:spPr>
        <p:txBody>
          <a:bodyPr wrap="square" lIns="0" tIns="0" rIns="0" bIns="0" rtlCol="0" anchor="t"/>
          <a:lstStyle/>
          <a:p>
            <a:pPr marL="0" indent="0">
              <a:buNone/>
            </a:pPr>
            <a:r>
              <a:rPr lang="en-US" sz="1500" dirty="0">
                <a:solidFill>
                  <a:schemeClr val="tx1"/>
                </a:solidFill>
              </a:rPr>
              <a:t>Human wants backed by buying power. People choose the offering that gives the most value for their money.</a:t>
            </a:r>
            <a:endParaRPr lang="en-US" sz="1500" dirty="0"/>
          </a:p>
        </p:txBody>
      </p:sp>
      <p:sp>
        <p:nvSpPr>
          <p:cNvPr id="23" name="Text"/>
          <p:cNvSpPr txBox="1"/>
          <p:nvPr/>
        </p:nvSpPr>
        <p:spPr>
          <a:xfrm>
            <a:off x="8503920" y="4069080"/>
            <a:ext cx="2834640" cy="502920"/>
          </a:xfrm>
          <a:prstGeom prst="rect">
            <a:avLst/>
          </a:prstGeom>
          <a:noFill/>
          <a:ln/>
        </p:spPr>
        <p:txBody>
          <a:bodyPr wrap="square" lIns="0" tIns="0" rIns="0" bIns="0" rtlCol="0" anchor="t"/>
          <a:lstStyle/>
          <a:p>
            <a:pPr marL="0" indent="0">
              <a:buNone/>
            </a:pPr>
            <a:r>
              <a:rPr lang="en-US" sz="1500" i="1" dirty="0">
                <a:solidFill>
                  <a:schemeClr val="accent1"/>
                </a:solidFill>
              </a:rPr>
              <a:t>I will buy it at this price.</a:t>
            </a:r>
            <a:endParaRPr lang="en-US" sz="1500" dirty="0"/>
          </a:p>
        </p:txBody>
      </p:sp>
      <p:sp>
        <p:nvSpPr>
          <p:cNvPr id="24" name="Callout"/>
          <p:cNvSpPr/>
          <p:nvPr/>
        </p:nvSpPr>
        <p:spPr>
          <a:xfrm>
            <a:off x="548640" y="4983480"/>
            <a:ext cx="11064240" cy="1143000"/>
          </a:xfrm>
          <a:prstGeom prst="roundRect">
            <a:avLst>
              <a:gd name="adj" fmla="val 8000"/>
            </a:avLst>
          </a:prstGeom>
          <a:solidFill>
            <a:schemeClr val="tx2"/>
          </a:solidFill>
          <a:ln/>
        </p:spPr>
        <p:txBody>
          <a:bodyPr/>
          <a:lstStyle/>
          <a:p>
            <a:endParaRPr lang="en-US"/>
          </a:p>
        </p:txBody>
      </p:sp>
      <p:sp>
        <p:nvSpPr>
          <p:cNvPr id="25" name="Text"/>
          <p:cNvSpPr txBox="1"/>
          <p:nvPr/>
        </p:nvSpPr>
        <p:spPr>
          <a:xfrm>
            <a:off x="822960" y="5120640"/>
            <a:ext cx="10515600" cy="868680"/>
          </a:xfrm>
          <a:prstGeom prst="rect">
            <a:avLst/>
          </a:prstGeom>
          <a:noFill/>
          <a:ln/>
        </p:spPr>
        <p:txBody>
          <a:bodyPr wrap="square" lIns="0" tIns="0" rIns="0" bIns="0" rtlCol="0" anchor="ctr"/>
          <a:lstStyle/>
          <a:p>
            <a:pPr marL="0" indent="0">
              <a:buNone/>
            </a:pPr>
            <a:r>
              <a:rPr lang="en-US" sz="1700" dirty="0">
                <a:solidFill>
                  <a:schemeClr val="bg1"/>
                </a:solidFill>
              </a:rPr>
              <a:t>Marketers do not create needs; needs pre-exist. Marketers, together with other societal influences, shape wants and try to influence demand by making offerings attractive, affordable and easily available.</a:t>
            </a:r>
            <a:endParaRPr lang="en-US" sz="17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1"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Definition of Core Concepts </a:t>
            </a:r>
            <a:endParaRPr lang="en-US" sz="3400" dirty="0"/>
          </a:p>
        </p:txBody>
      </p:sp>
      <p:sp>
        <p:nvSpPr>
          <p:cNvPr id="4" name="Concept card"/>
          <p:cNvSpPr/>
          <p:nvPr/>
        </p:nvSpPr>
        <p:spPr>
          <a:xfrm>
            <a:off x="548640" y="1417320"/>
            <a:ext cx="3566160" cy="2194560"/>
          </a:xfrm>
          <a:prstGeom prst="roundRect">
            <a:avLst>
              <a:gd name="adj" fmla="val 4167"/>
            </a:avLst>
          </a:prstGeom>
          <a:solidFill>
            <a:schemeClr val="bg2"/>
          </a:solidFill>
          <a:ln/>
        </p:spPr>
        <p:txBody>
          <a:bodyPr/>
          <a:lstStyle/>
          <a:p>
            <a:endParaRPr lang="en-US"/>
          </a:p>
        </p:txBody>
      </p:sp>
      <p:sp>
        <p:nvSpPr>
          <p:cNvPr id="5" name="Icon circle"/>
          <p:cNvSpPr/>
          <p:nvPr/>
        </p:nvSpPr>
        <p:spPr>
          <a:xfrm>
            <a:off x="777240" y="1645920"/>
            <a:ext cx="548640" cy="548640"/>
          </a:xfrm>
          <a:prstGeom prst="ellipse">
            <a:avLst/>
          </a:prstGeom>
          <a:solidFill>
            <a:schemeClr val="accent1"/>
          </a:solidFill>
          <a:ln/>
        </p:spPr>
        <p:txBody>
          <a:bodyPr/>
          <a:lstStyle/>
          <a:p>
            <a:endParaRPr lang="en-US"/>
          </a:p>
        </p:txBody>
      </p:sp>
      <p:pic>
        <p:nvPicPr>
          <p:cNvPr id="6" name="Icon" descr="BoxOpen icon"/>
          <p:cNvPicPr>
            <a:picLocks noChangeAspect="1"/>
          </p:cNvPicPr>
          <p:nvPr/>
        </p:nvPicPr>
        <p:blipFill>
          <a:blip r:embed="rId3"/>
          <a:stretch>
            <a:fillRect/>
          </a:stretch>
        </p:blipFill>
        <p:spPr>
          <a:xfrm>
            <a:off x="914400" y="1783080"/>
            <a:ext cx="274320" cy="274320"/>
          </a:xfrm>
          <a:prstGeom prst="rect">
            <a:avLst/>
          </a:prstGeom>
        </p:spPr>
      </p:pic>
      <p:sp>
        <p:nvSpPr>
          <p:cNvPr id="7" name="Text"/>
          <p:cNvSpPr txBox="1"/>
          <p:nvPr/>
        </p:nvSpPr>
        <p:spPr>
          <a:xfrm>
            <a:off x="1463040" y="1645920"/>
            <a:ext cx="2468880" cy="548640"/>
          </a:xfrm>
          <a:prstGeom prst="rect">
            <a:avLst/>
          </a:prstGeom>
          <a:noFill/>
          <a:ln/>
        </p:spPr>
        <p:txBody>
          <a:bodyPr wrap="square" lIns="0" tIns="0" rIns="0" bIns="0" rtlCol="0" anchor="ctr"/>
          <a:lstStyle/>
          <a:p>
            <a:pPr marL="0" indent="0">
              <a:buNone/>
            </a:pPr>
            <a:r>
              <a:rPr lang="en-US" sz="1800" b="1" dirty="0">
                <a:solidFill>
                  <a:schemeClr val="tx2"/>
                </a:solidFill>
              </a:rPr>
              <a:t>Market offerings</a:t>
            </a:r>
            <a:endParaRPr lang="en-US" sz="1800" dirty="0"/>
          </a:p>
        </p:txBody>
      </p:sp>
      <p:sp>
        <p:nvSpPr>
          <p:cNvPr id="8" name="Text"/>
          <p:cNvSpPr txBox="1"/>
          <p:nvPr/>
        </p:nvSpPr>
        <p:spPr>
          <a:xfrm>
            <a:off x="777240" y="2331720"/>
            <a:ext cx="3108960" cy="1188720"/>
          </a:xfrm>
          <a:prstGeom prst="rect">
            <a:avLst/>
          </a:prstGeom>
          <a:noFill/>
          <a:ln/>
        </p:spPr>
        <p:txBody>
          <a:bodyPr wrap="square" lIns="0" tIns="0" rIns="0" bIns="0" rtlCol="0" anchor="t"/>
          <a:lstStyle/>
          <a:p>
            <a:pPr marL="0" indent="0">
              <a:buNone/>
            </a:pPr>
            <a:r>
              <a:rPr lang="en-US" sz="1600" dirty="0">
                <a:solidFill>
                  <a:schemeClr val="tx1"/>
                </a:solidFill>
              </a:rPr>
              <a:t>Combinations of products, services, information and experiences offered to satisfy a need or want. Customers buy benefits, not objects.</a:t>
            </a:r>
            <a:endParaRPr lang="en-US" sz="1600" dirty="0"/>
          </a:p>
        </p:txBody>
      </p:sp>
      <p:sp>
        <p:nvSpPr>
          <p:cNvPr id="9" name="Concept card"/>
          <p:cNvSpPr/>
          <p:nvPr/>
        </p:nvSpPr>
        <p:spPr>
          <a:xfrm>
            <a:off x="4297680" y="1417320"/>
            <a:ext cx="3566160" cy="2194560"/>
          </a:xfrm>
          <a:prstGeom prst="roundRect">
            <a:avLst>
              <a:gd name="adj" fmla="val 4167"/>
            </a:avLst>
          </a:prstGeom>
          <a:solidFill>
            <a:schemeClr val="bg2"/>
          </a:solidFill>
          <a:ln/>
        </p:spPr>
        <p:txBody>
          <a:bodyPr/>
          <a:lstStyle/>
          <a:p>
            <a:endParaRPr lang="en-US"/>
          </a:p>
        </p:txBody>
      </p:sp>
      <p:sp>
        <p:nvSpPr>
          <p:cNvPr id="10" name="Icon circle"/>
          <p:cNvSpPr/>
          <p:nvPr/>
        </p:nvSpPr>
        <p:spPr>
          <a:xfrm>
            <a:off x="4526280" y="1645920"/>
            <a:ext cx="548640" cy="548640"/>
          </a:xfrm>
          <a:prstGeom prst="ellipse">
            <a:avLst/>
          </a:prstGeom>
          <a:solidFill>
            <a:schemeClr val="accent4"/>
          </a:solidFill>
          <a:ln/>
        </p:spPr>
        <p:txBody>
          <a:bodyPr/>
          <a:lstStyle/>
          <a:p>
            <a:endParaRPr lang="en-US"/>
          </a:p>
        </p:txBody>
      </p:sp>
      <p:pic>
        <p:nvPicPr>
          <p:cNvPr id="11" name="Icon" descr="Gem icon"/>
          <p:cNvPicPr>
            <a:picLocks noChangeAspect="1"/>
          </p:cNvPicPr>
          <p:nvPr/>
        </p:nvPicPr>
        <p:blipFill>
          <a:blip r:embed="rId4"/>
          <a:stretch>
            <a:fillRect/>
          </a:stretch>
        </p:blipFill>
        <p:spPr>
          <a:xfrm>
            <a:off x="4663440" y="1783080"/>
            <a:ext cx="274320" cy="274320"/>
          </a:xfrm>
          <a:prstGeom prst="rect">
            <a:avLst/>
          </a:prstGeom>
        </p:spPr>
      </p:pic>
      <p:sp>
        <p:nvSpPr>
          <p:cNvPr id="12" name="Text"/>
          <p:cNvSpPr txBox="1"/>
          <p:nvPr/>
        </p:nvSpPr>
        <p:spPr>
          <a:xfrm>
            <a:off x="5212080" y="1645920"/>
            <a:ext cx="2468880" cy="548640"/>
          </a:xfrm>
          <a:prstGeom prst="rect">
            <a:avLst/>
          </a:prstGeom>
          <a:noFill/>
          <a:ln/>
        </p:spPr>
        <p:txBody>
          <a:bodyPr wrap="square" lIns="0" tIns="0" rIns="0" bIns="0" rtlCol="0" anchor="ctr"/>
          <a:lstStyle/>
          <a:p>
            <a:pPr marL="0" indent="0">
              <a:buNone/>
            </a:pPr>
            <a:r>
              <a:rPr lang="en-US" sz="1800" b="1" dirty="0">
                <a:solidFill>
                  <a:schemeClr val="tx2"/>
                </a:solidFill>
              </a:rPr>
              <a:t>Value proposition</a:t>
            </a:r>
            <a:endParaRPr lang="en-US" sz="1800" dirty="0"/>
          </a:p>
        </p:txBody>
      </p:sp>
      <p:sp>
        <p:nvSpPr>
          <p:cNvPr id="13" name="Text"/>
          <p:cNvSpPr txBox="1"/>
          <p:nvPr/>
        </p:nvSpPr>
        <p:spPr>
          <a:xfrm>
            <a:off x="4526280" y="2331720"/>
            <a:ext cx="3108960" cy="1188720"/>
          </a:xfrm>
          <a:prstGeom prst="rect">
            <a:avLst/>
          </a:prstGeom>
          <a:noFill/>
          <a:ln/>
        </p:spPr>
        <p:txBody>
          <a:bodyPr wrap="square" lIns="0" tIns="0" rIns="0" bIns="0" rtlCol="0" anchor="t"/>
          <a:lstStyle/>
          <a:p>
            <a:pPr marL="0" indent="0">
              <a:buNone/>
            </a:pPr>
            <a:r>
              <a:rPr lang="en-US" sz="1600" dirty="0">
                <a:solidFill>
                  <a:schemeClr val="tx1"/>
                </a:solidFill>
              </a:rPr>
              <a:t>The set of benefits a company promises to deliver. It differentiates one brand from another.</a:t>
            </a:r>
            <a:endParaRPr lang="en-US" sz="1600" dirty="0"/>
          </a:p>
        </p:txBody>
      </p:sp>
      <p:sp>
        <p:nvSpPr>
          <p:cNvPr id="14" name="Concept card"/>
          <p:cNvSpPr/>
          <p:nvPr/>
        </p:nvSpPr>
        <p:spPr>
          <a:xfrm>
            <a:off x="8046720" y="1417320"/>
            <a:ext cx="3566160" cy="2194560"/>
          </a:xfrm>
          <a:prstGeom prst="roundRect">
            <a:avLst>
              <a:gd name="adj" fmla="val 4167"/>
            </a:avLst>
          </a:prstGeom>
          <a:solidFill>
            <a:schemeClr val="bg2"/>
          </a:solidFill>
          <a:ln/>
        </p:spPr>
        <p:txBody>
          <a:bodyPr/>
          <a:lstStyle/>
          <a:p>
            <a:endParaRPr lang="en-US"/>
          </a:p>
        </p:txBody>
      </p:sp>
      <p:sp>
        <p:nvSpPr>
          <p:cNvPr id="15" name="Icon circle"/>
          <p:cNvSpPr/>
          <p:nvPr/>
        </p:nvSpPr>
        <p:spPr>
          <a:xfrm>
            <a:off x="8275320" y="1645920"/>
            <a:ext cx="548640" cy="548640"/>
          </a:xfrm>
          <a:prstGeom prst="ellipse">
            <a:avLst/>
          </a:prstGeom>
          <a:solidFill>
            <a:schemeClr val="accent3"/>
          </a:solidFill>
          <a:ln/>
        </p:spPr>
        <p:txBody>
          <a:bodyPr/>
          <a:lstStyle/>
          <a:p>
            <a:endParaRPr lang="en-US"/>
          </a:p>
        </p:txBody>
      </p:sp>
      <p:pic>
        <p:nvPicPr>
          <p:cNvPr id="16" name="Icon" descr="BalanceScale icon"/>
          <p:cNvPicPr>
            <a:picLocks noChangeAspect="1"/>
          </p:cNvPicPr>
          <p:nvPr/>
        </p:nvPicPr>
        <p:blipFill>
          <a:blip r:embed="rId5"/>
          <a:stretch>
            <a:fillRect/>
          </a:stretch>
        </p:blipFill>
        <p:spPr>
          <a:xfrm>
            <a:off x="8412480" y="1783080"/>
            <a:ext cx="274320" cy="274320"/>
          </a:xfrm>
          <a:prstGeom prst="rect">
            <a:avLst/>
          </a:prstGeom>
        </p:spPr>
      </p:pic>
      <p:sp>
        <p:nvSpPr>
          <p:cNvPr id="17" name="Text"/>
          <p:cNvSpPr txBox="1"/>
          <p:nvPr/>
        </p:nvSpPr>
        <p:spPr>
          <a:xfrm>
            <a:off x="8961120" y="1645920"/>
            <a:ext cx="2468880" cy="548640"/>
          </a:xfrm>
          <a:prstGeom prst="rect">
            <a:avLst/>
          </a:prstGeom>
          <a:noFill/>
          <a:ln/>
        </p:spPr>
        <p:txBody>
          <a:bodyPr wrap="square" lIns="0" tIns="0" rIns="0" bIns="0" rtlCol="0" anchor="ctr"/>
          <a:lstStyle/>
          <a:p>
            <a:pPr marL="0" indent="0">
              <a:buNone/>
            </a:pPr>
            <a:r>
              <a:rPr lang="en-US" sz="1800" b="1" dirty="0">
                <a:solidFill>
                  <a:schemeClr val="tx2"/>
                </a:solidFill>
              </a:rPr>
              <a:t>Customer value</a:t>
            </a:r>
            <a:endParaRPr lang="en-US" sz="1800" dirty="0"/>
          </a:p>
        </p:txBody>
      </p:sp>
      <p:sp>
        <p:nvSpPr>
          <p:cNvPr id="18" name="Text"/>
          <p:cNvSpPr txBox="1"/>
          <p:nvPr/>
        </p:nvSpPr>
        <p:spPr>
          <a:xfrm>
            <a:off x="8275320" y="2331720"/>
            <a:ext cx="3108960" cy="1188720"/>
          </a:xfrm>
          <a:prstGeom prst="rect">
            <a:avLst/>
          </a:prstGeom>
          <a:noFill/>
          <a:ln/>
        </p:spPr>
        <p:txBody>
          <a:bodyPr wrap="square" lIns="0" tIns="0" rIns="0" bIns="0" rtlCol="0" anchor="t"/>
          <a:lstStyle/>
          <a:p>
            <a:pPr marL="0" indent="0">
              <a:buNone/>
            </a:pPr>
            <a:r>
              <a:rPr lang="en-US" sz="1600" dirty="0">
                <a:solidFill>
                  <a:schemeClr val="tx1"/>
                </a:solidFill>
              </a:rPr>
              <a:t>The difference between the benefits of owning and using an offering and the costs of obtaining it.</a:t>
            </a:r>
            <a:endParaRPr lang="en-US" sz="1600" dirty="0"/>
          </a:p>
        </p:txBody>
      </p:sp>
      <p:sp>
        <p:nvSpPr>
          <p:cNvPr id="19" name="Concept card"/>
          <p:cNvSpPr/>
          <p:nvPr/>
        </p:nvSpPr>
        <p:spPr>
          <a:xfrm>
            <a:off x="548640" y="3794760"/>
            <a:ext cx="3566160" cy="2194560"/>
          </a:xfrm>
          <a:prstGeom prst="roundRect">
            <a:avLst>
              <a:gd name="adj" fmla="val 4167"/>
            </a:avLst>
          </a:prstGeom>
          <a:solidFill>
            <a:schemeClr val="bg2"/>
          </a:solidFill>
          <a:ln/>
        </p:spPr>
        <p:txBody>
          <a:bodyPr/>
          <a:lstStyle/>
          <a:p>
            <a:endParaRPr lang="en-US"/>
          </a:p>
        </p:txBody>
      </p:sp>
      <p:sp>
        <p:nvSpPr>
          <p:cNvPr id="20" name="Icon circle"/>
          <p:cNvSpPr/>
          <p:nvPr/>
        </p:nvSpPr>
        <p:spPr>
          <a:xfrm>
            <a:off x="777240" y="4023360"/>
            <a:ext cx="548640" cy="548640"/>
          </a:xfrm>
          <a:prstGeom prst="ellipse">
            <a:avLst/>
          </a:prstGeom>
          <a:solidFill>
            <a:schemeClr val="accent5"/>
          </a:solidFill>
          <a:ln/>
        </p:spPr>
        <p:txBody>
          <a:bodyPr/>
          <a:lstStyle/>
          <a:p>
            <a:endParaRPr lang="en-US"/>
          </a:p>
        </p:txBody>
      </p:sp>
      <p:pic>
        <p:nvPicPr>
          <p:cNvPr id="21" name="Icon" descr="Smile icon"/>
          <p:cNvPicPr>
            <a:picLocks noChangeAspect="1"/>
          </p:cNvPicPr>
          <p:nvPr/>
        </p:nvPicPr>
        <p:blipFill>
          <a:blip r:embed="rId6"/>
          <a:stretch>
            <a:fillRect/>
          </a:stretch>
        </p:blipFill>
        <p:spPr>
          <a:xfrm>
            <a:off x="914400" y="4160520"/>
            <a:ext cx="274320" cy="274320"/>
          </a:xfrm>
          <a:prstGeom prst="rect">
            <a:avLst/>
          </a:prstGeom>
        </p:spPr>
      </p:pic>
      <p:sp>
        <p:nvSpPr>
          <p:cNvPr id="22" name="Text"/>
          <p:cNvSpPr txBox="1"/>
          <p:nvPr/>
        </p:nvSpPr>
        <p:spPr>
          <a:xfrm>
            <a:off x="1463040" y="4023360"/>
            <a:ext cx="2468880" cy="548640"/>
          </a:xfrm>
          <a:prstGeom prst="rect">
            <a:avLst/>
          </a:prstGeom>
          <a:noFill/>
          <a:ln/>
        </p:spPr>
        <p:txBody>
          <a:bodyPr wrap="square" lIns="0" tIns="0" rIns="0" bIns="0" rtlCol="0" anchor="ctr"/>
          <a:lstStyle/>
          <a:p>
            <a:pPr marL="0" indent="0">
              <a:buNone/>
            </a:pPr>
            <a:r>
              <a:rPr lang="en-US" sz="1800" b="1" dirty="0">
                <a:solidFill>
                  <a:schemeClr val="tx2"/>
                </a:solidFill>
              </a:rPr>
              <a:t>Satisfaction</a:t>
            </a:r>
            <a:endParaRPr lang="en-US" sz="1800" dirty="0"/>
          </a:p>
        </p:txBody>
      </p:sp>
      <p:sp>
        <p:nvSpPr>
          <p:cNvPr id="23" name="Text"/>
          <p:cNvSpPr txBox="1"/>
          <p:nvPr/>
        </p:nvSpPr>
        <p:spPr>
          <a:xfrm>
            <a:off x="777240" y="4709160"/>
            <a:ext cx="3108960" cy="1188720"/>
          </a:xfrm>
          <a:prstGeom prst="rect">
            <a:avLst/>
          </a:prstGeom>
          <a:noFill/>
          <a:ln/>
        </p:spPr>
        <p:txBody>
          <a:bodyPr wrap="square" lIns="0" tIns="0" rIns="0" bIns="0" rtlCol="0" anchor="t"/>
          <a:lstStyle/>
          <a:p>
            <a:pPr marL="0" indent="0">
              <a:buNone/>
            </a:pPr>
            <a:r>
              <a:rPr lang="en-US" sz="1600" dirty="0">
                <a:solidFill>
                  <a:schemeClr val="tx1"/>
                </a:solidFill>
              </a:rPr>
              <a:t>Depends on perceived performance relative to expectations. Below expectations disappoints; above delights</a:t>
            </a:r>
            <a:r>
              <a:rPr lang="en-US" sz="1400" dirty="0">
                <a:solidFill>
                  <a:schemeClr val="tx1"/>
                </a:solidFill>
              </a:rPr>
              <a:t>.</a:t>
            </a:r>
            <a:endParaRPr lang="en-US" sz="1400" dirty="0"/>
          </a:p>
        </p:txBody>
      </p:sp>
      <p:sp>
        <p:nvSpPr>
          <p:cNvPr id="24" name="Concept card"/>
          <p:cNvSpPr/>
          <p:nvPr/>
        </p:nvSpPr>
        <p:spPr>
          <a:xfrm>
            <a:off x="4297680" y="3794760"/>
            <a:ext cx="3566160" cy="2194560"/>
          </a:xfrm>
          <a:prstGeom prst="roundRect">
            <a:avLst>
              <a:gd name="adj" fmla="val 4167"/>
            </a:avLst>
          </a:prstGeom>
          <a:solidFill>
            <a:schemeClr val="bg2"/>
          </a:solidFill>
          <a:ln/>
        </p:spPr>
        <p:txBody>
          <a:bodyPr/>
          <a:lstStyle/>
          <a:p>
            <a:endParaRPr lang="en-US"/>
          </a:p>
        </p:txBody>
      </p:sp>
      <p:sp>
        <p:nvSpPr>
          <p:cNvPr id="25" name="Icon circle"/>
          <p:cNvSpPr/>
          <p:nvPr/>
        </p:nvSpPr>
        <p:spPr>
          <a:xfrm>
            <a:off x="4526280" y="4023360"/>
            <a:ext cx="548640" cy="548640"/>
          </a:xfrm>
          <a:prstGeom prst="ellipse">
            <a:avLst/>
          </a:prstGeom>
          <a:solidFill>
            <a:schemeClr val="accent1"/>
          </a:solidFill>
          <a:ln/>
        </p:spPr>
        <p:txBody>
          <a:bodyPr/>
          <a:lstStyle/>
          <a:p>
            <a:endParaRPr lang="en-US"/>
          </a:p>
        </p:txBody>
      </p:sp>
      <p:pic>
        <p:nvPicPr>
          <p:cNvPr id="26" name="Icon" descr="Handshake icon"/>
          <p:cNvPicPr>
            <a:picLocks noChangeAspect="1"/>
          </p:cNvPicPr>
          <p:nvPr/>
        </p:nvPicPr>
        <p:blipFill>
          <a:blip r:embed="rId7"/>
          <a:stretch>
            <a:fillRect/>
          </a:stretch>
        </p:blipFill>
        <p:spPr>
          <a:xfrm>
            <a:off x="4663440" y="4160520"/>
            <a:ext cx="274320" cy="274320"/>
          </a:xfrm>
          <a:prstGeom prst="rect">
            <a:avLst/>
          </a:prstGeom>
        </p:spPr>
      </p:pic>
      <p:sp>
        <p:nvSpPr>
          <p:cNvPr id="27" name="Text"/>
          <p:cNvSpPr txBox="1"/>
          <p:nvPr/>
        </p:nvSpPr>
        <p:spPr>
          <a:xfrm>
            <a:off x="5212080" y="4023360"/>
            <a:ext cx="2468880" cy="548640"/>
          </a:xfrm>
          <a:prstGeom prst="rect">
            <a:avLst/>
          </a:prstGeom>
          <a:noFill/>
          <a:ln/>
        </p:spPr>
        <p:txBody>
          <a:bodyPr wrap="square" lIns="0" tIns="0" rIns="0" bIns="0" rtlCol="0" anchor="ctr"/>
          <a:lstStyle/>
          <a:p>
            <a:pPr marL="0" indent="0">
              <a:buNone/>
            </a:pPr>
            <a:r>
              <a:rPr lang="en-US" sz="1800" b="1" dirty="0">
                <a:solidFill>
                  <a:schemeClr val="tx2"/>
                </a:solidFill>
              </a:rPr>
              <a:t>Exchange and relationships</a:t>
            </a:r>
            <a:endParaRPr lang="en-US" sz="1800" dirty="0"/>
          </a:p>
        </p:txBody>
      </p:sp>
      <p:sp>
        <p:nvSpPr>
          <p:cNvPr id="28" name="Text"/>
          <p:cNvSpPr txBox="1"/>
          <p:nvPr/>
        </p:nvSpPr>
        <p:spPr>
          <a:xfrm>
            <a:off x="4526280" y="4709160"/>
            <a:ext cx="3108960" cy="1188720"/>
          </a:xfrm>
          <a:prstGeom prst="rect">
            <a:avLst/>
          </a:prstGeom>
          <a:noFill/>
          <a:ln/>
        </p:spPr>
        <p:txBody>
          <a:bodyPr wrap="square" lIns="0" tIns="0" rIns="0" bIns="0" rtlCol="0" anchor="t"/>
          <a:lstStyle/>
          <a:p>
            <a:pPr marL="0" indent="0">
              <a:buNone/>
            </a:pPr>
            <a:r>
              <a:rPr lang="en-US" sz="1600" dirty="0">
                <a:solidFill>
                  <a:schemeClr val="tx1"/>
                </a:solidFill>
              </a:rPr>
              <a:t>Obtaining a desired object by offering something in return. Marketing builds lasting exchange relationships.</a:t>
            </a:r>
            <a:endParaRPr lang="en-US" sz="1600" dirty="0"/>
          </a:p>
        </p:txBody>
      </p:sp>
      <p:sp>
        <p:nvSpPr>
          <p:cNvPr id="29" name="Concept card"/>
          <p:cNvSpPr/>
          <p:nvPr/>
        </p:nvSpPr>
        <p:spPr>
          <a:xfrm>
            <a:off x="8046720" y="3794760"/>
            <a:ext cx="3566160" cy="2194560"/>
          </a:xfrm>
          <a:prstGeom prst="roundRect">
            <a:avLst>
              <a:gd name="adj" fmla="val 4167"/>
            </a:avLst>
          </a:prstGeom>
          <a:solidFill>
            <a:schemeClr val="bg2"/>
          </a:solidFill>
          <a:ln/>
        </p:spPr>
        <p:txBody>
          <a:bodyPr/>
          <a:lstStyle/>
          <a:p>
            <a:endParaRPr lang="en-US"/>
          </a:p>
        </p:txBody>
      </p:sp>
      <p:sp>
        <p:nvSpPr>
          <p:cNvPr id="30" name="Icon circle"/>
          <p:cNvSpPr/>
          <p:nvPr/>
        </p:nvSpPr>
        <p:spPr>
          <a:xfrm>
            <a:off x="8275320" y="4023360"/>
            <a:ext cx="548640" cy="548640"/>
          </a:xfrm>
          <a:prstGeom prst="ellipse">
            <a:avLst/>
          </a:prstGeom>
          <a:solidFill>
            <a:schemeClr val="accent3"/>
          </a:solidFill>
          <a:ln/>
        </p:spPr>
        <p:txBody>
          <a:bodyPr/>
          <a:lstStyle/>
          <a:p>
            <a:endParaRPr lang="en-US"/>
          </a:p>
        </p:txBody>
      </p:sp>
      <p:pic>
        <p:nvPicPr>
          <p:cNvPr id="31" name="Icon" descr="Store icon"/>
          <p:cNvPicPr>
            <a:picLocks noChangeAspect="1"/>
          </p:cNvPicPr>
          <p:nvPr/>
        </p:nvPicPr>
        <p:blipFill>
          <a:blip r:embed="rId8"/>
          <a:stretch>
            <a:fillRect/>
          </a:stretch>
        </p:blipFill>
        <p:spPr>
          <a:xfrm>
            <a:off x="8412480" y="4160520"/>
            <a:ext cx="274320" cy="274320"/>
          </a:xfrm>
          <a:prstGeom prst="rect">
            <a:avLst/>
          </a:prstGeom>
        </p:spPr>
      </p:pic>
      <p:sp>
        <p:nvSpPr>
          <p:cNvPr id="32" name="Text"/>
          <p:cNvSpPr txBox="1"/>
          <p:nvPr/>
        </p:nvSpPr>
        <p:spPr>
          <a:xfrm>
            <a:off x="8961120" y="4023360"/>
            <a:ext cx="2468880" cy="548640"/>
          </a:xfrm>
          <a:prstGeom prst="rect">
            <a:avLst/>
          </a:prstGeom>
          <a:noFill/>
          <a:ln/>
        </p:spPr>
        <p:txBody>
          <a:bodyPr wrap="square" lIns="0" tIns="0" rIns="0" bIns="0" rtlCol="0" anchor="ctr"/>
          <a:lstStyle/>
          <a:p>
            <a:pPr marL="0" indent="0">
              <a:buNone/>
            </a:pPr>
            <a:r>
              <a:rPr lang="en-US" sz="1800" b="1" dirty="0">
                <a:solidFill>
                  <a:schemeClr val="tx2"/>
                </a:solidFill>
              </a:rPr>
              <a:t>Markets</a:t>
            </a:r>
            <a:endParaRPr lang="en-US" sz="1800" dirty="0"/>
          </a:p>
        </p:txBody>
      </p:sp>
      <p:sp>
        <p:nvSpPr>
          <p:cNvPr id="33" name="Text"/>
          <p:cNvSpPr txBox="1"/>
          <p:nvPr/>
        </p:nvSpPr>
        <p:spPr>
          <a:xfrm>
            <a:off x="8275320" y="4709160"/>
            <a:ext cx="3108960" cy="1188720"/>
          </a:xfrm>
          <a:prstGeom prst="rect">
            <a:avLst/>
          </a:prstGeom>
          <a:noFill/>
          <a:ln/>
        </p:spPr>
        <p:txBody>
          <a:bodyPr wrap="square" lIns="0" tIns="0" rIns="0" bIns="0" rtlCol="0" anchor="t"/>
          <a:lstStyle/>
          <a:p>
            <a:pPr marL="0" indent="0">
              <a:buNone/>
            </a:pPr>
            <a:r>
              <a:rPr lang="en-US" sz="1600" dirty="0">
                <a:solidFill>
                  <a:schemeClr val="tx1"/>
                </a:solidFill>
              </a:rPr>
              <a:t>The set of actual and potential buyers of an offering who share a need or want and can engage in exchange.</a:t>
            </a:r>
            <a:endParaRPr lang="en-US" sz="16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P spid="23" grpId="0" animBg="1"/>
      <p:bldP spid="27" grpId="0" animBg="1"/>
      <p:bldP spid="28" grpId="0" animBg="1"/>
      <p:bldP spid="32"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What can be marketed?</a:t>
            </a:r>
            <a:endParaRPr lang="en-US" sz="3400" dirty="0"/>
          </a:p>
        </p:txBody>
      </p:sp>
      <p:sp>
        <p:nvSpPr>
          <p:cNvPr id="4" name="Entity card"/>
          <p:cNvSpPr/>
          <p:nvPr/>
        </p:nvSpPr>
        <p:spPr>
          <a:xfrm>
            <a:off x="548640" y="1463040"/>
            <a:ext cx="2103120" cy="2240280"/>
          </a:xfrm>
          <a:prstGeom prst="roundRect">
            <a:avLst>
              <a:gd name="adj" fmla="val 4348"/>
            </a:avLst>
          </a:prstGeom>
          <a:solidFill>
            <a:schemeClr val="bg2"/>
          </a:solidFill>
          <a:ln/>
        </p:spPr>
        <p:txBody>
          <a:bodyPr/>
          <a:lstStyle/>
          <a:p>
            <a:endParaRPr lang="en-US"/>
          </a:p>
        </p:txBody>
      </p:sp>
      <p:sp>
        <p:nvSpPr>
          <p:cNvPr id="5" name="Icon circle"/>
          <p:cNvSpPr/>
          <p:nvPr/>
        </p:nvSpPr>
        <p:spPr>
          <a:xfrm>
            <a:off x="777240" y="1691640"/>
            <a:ext cx="640080" cy="640080"/>
          </a:xfrm>
          <a:prstGeom prst="ellipse">
            <a:avLst/>
          </a:prstGeom>
          <a:solidFill>
            <a:schemeClr val="accent1"/>
          </a:solidFill>
          <a:ln/>
        </p:spPr>
        <p:txBody>
          <a:bodyPr/>
          <a:lstStyle/>
          <a:p>
            <a:endParaRPr lang="en-US"/>
          </a:p>
        </p:txBody>
      </p:sp>
      <p:pic>
        <p:nvPicPr>
          <p:cNvPr id="6" name="Icon" descr="BoxOpen icon"/>
          <p:cNvPicPr>
            <a:picLocks noChangeAspect="1"/>
          </p:cNvPicPr>
          <p:nvPr/>
        </p:nvPicPr>
        <p:blipFill>
          <a:blip r:embed="rId3"/>
          <a:stretch>
            <a:fillRect/>
          </a:stretch>
        </p:blipFill>
        <p:spPr>
          <a:xfrm>
            <a:off x="937260" y="1851660"/>
            <a:ext cx="320040" cy="320040"/>
          </a:xfrm>
          <a:prstGeom prst="rect">
            <a:avLst/>
          </a:prstGeom>
        </p:spPr>
      </p:pic>
      <p:sp>
        <p:nvSpPr>
          <p:cNvPr id="7" name="Text"/>
          <p:cNvSpPr txBox="1"/>
          <p:nvPr/>
        </p:nvSpPr>
        <p:spPr>
          <a:xfrm>
            <a:off x="777240" y="2468880"/>
            <a:ext cx="1737360" cy="365760"/>
          </a:xfrm>
          <a:prstGeom prst="rect">
            <a:avLst/>
          </a:prstGeom>
          <a:noFill/>
          <a:ln/>
        </p:spPr>
        <p:txBody>
          <a:bodyPr wrap="square" lIns="0" tIns="0" rIns="0" bIns="0" rtlCol="0" anchor="t"/>
          <a:lstStyle/>
          <a:p>
            <a:pPr marL="0" indent="0">
              <a:buNone/>
            </a:pPr>
            <a:r>
              <a:rPr lang="en-US" sz="1700" b="1" dirty="0">
                <a:solidFill>
                  <a:schemeClr val="tx2"/>
                </a:solidFill>
              </a:rPr>
              <a:t>Goods</a:t>
            </a:r>
            <a:endParaRPr lang="en-US" sz="1700" dirty="0"/>
          </a:p>
        </p:txBody>
      </p:sp>
      <p:sp>
        <p:nvSpPr>
          <p:cNvPr id="8" name="Text"/>
          <p:cNvSpPr txBox="1"/>
          <p:nvPr/>
        </p:nvSpPr>
        <p:spPr>
          <a:xfrm>
            <a:off x="777240" y="2880360"/>
            <a:ext cx="1737360" cy="731520"/>
          </a:xfrm>
          <a:prstGeom prst="rect">
            <a:avLst/>
          </a:prstGeom>
          <a:noFill/>
          <a:ln/>
        </p:spPr>
        <p:txBody>
          <a:bodyPr wrap="square" lIns="0" tIns="0" rIns="0" bIns="0" rtlCol="0" anchor="t"/>
          <a:lstStyle/>
          <a:p>
            <a:pPr marL="0" indent="0">
              <a:buNone/>
            </a:pPr>
            <a:r>
              <a:rPr lang="en-US" sz="1400" dirty="0">
                <a:solidFill>
                  <a:schemeClr val="tx1"/>
                </a:solidFill>
              </a:rPr>
              <a:t>Cars, food, clothing</a:t>
            </a:r>
            <a:endParaRPr lang="en-US" sz="1400" dirty="0"/>
          </a:p>
        </p:txBody>
      </p:sp>
      <p:sp>
        <p:nvSpPr>
          <p:cNvPr id="9" name="Entity card"/>
          <p:cNvSpPr/>
          <p:nvPr/>
        </p:nvSpPr>
        <p:spPr>
          <a:xfrm>
            <a:off x="2788920" y="1463040"/>
            <a:ext cx="2103120" cy="2240280"/>
          </a:xfrm>
          <a:prstGeom prst="roundRect">
            <a:avLst>
              <a:gd name="adj" fmla="val 4348"/>
            </a:avLst>
          </a:prstGeom>
          <a:solidFill>
            <a:schemeClr val="bg2"/>
          </a:solidFill>
          <a:ln/>
        </p:spPr>
        <p:txBody>
          <a:bodyPr/>
          <a:lstStyle/>
          <a:p>
            <a:endParaRPr lang="en-US"/>
          </a:p>
        </p:txBody>
      </p:sp>
      <p:sp>
        <p:nvSpPr>
          <p:cNvPr id="10" name="Icon circle"/>
          <p:cNvSpPr/>
          <p:nvPr/>
        </p:nvSpPr>
        <p:spPr>
          <a:xfrm>
            <a:off x="3017520" y="1691640"/>
            <a:ext cx="640080" cy="640080"/>
          </a:xfrm>
          <a:prstGeom prst="ellipse">
            <a:avLst/>
          </a:prstGeom>
          <a:solidFill>
            <a:schemeClr val="accent3"/>
          </a:solidFill>
          <a:ln/>
        </p:spPr>
        <p:txBody>
          <a:bodyPr/>
          <a:lstStyle/>
          <a:p>
            <a:endParaRPr lang="en-US"/>
          </a:p>
        </p:txBody>
      </p:sp>
      <p:pic>
        <p:nvPicPr>
          <p:cNvPr id="11" name="Icon" descr="ConciergeBell icon"/>
          <p:cNvPicPr>
            <a:picLocks noChangeAspect="1"/>
          </p:cNvPicPr>
          <p:nvPr/>
        </p:nvPicPr>
        <p:blipFill>
          <a:blip r:embed="rId4"/>
          <a:stretch>
            <a:fillRect/>
          </a:stretch>
        </p:blipFill>
        <p:spPr>
          <a:xfrm>
            <a:off x="3177540" y="1851660"/>
            <a:ext cx="320040" cy="320040"/>
          </a:xfrm>
          <a:prstGeom prst="rect">
            <a:avLst/>
          </a:prstGeom>
        </p:spPr>
      </p:pic>
      <p:sp>
        <p:nvSpPr>
          <p:cNvPr id="12" name="Text"/>
          <p:cNvSpPr txBox="1"/>
          <p:nvPr/>
        </p:nvSpPr>
        <p:spPr>
          <a:xfrm>
            <a:off x="3017520" y="2468880"/>
            <a:ext cx="1737360" cy="365760"/>
          </a:xfrm>
          <a:prstGeom prst="rect">
            <a:avLst/>
          </a:prstGeom>
          <a:noFill/>
          <a:ln/>
        </p:spPr>
        <p:txBody>
          <a:bodyPr wrap="square" lIns="0" tIns="0" rIns="0" bIns="0" rtlCol="0" anchor="t"/>
          <a:lstStyle/>
          <a:p>
            <a:pPr marL="0" indent="0">
              <a:buNone/>
            </a:pPr>
            <a:r>
              <a:rPr lang="en-US" sz="1700" b="1" dirty="0">
                <a:solidFill>
                  <a:schemeClr val="tx2"/>
                </a:solidFill>
              </a:rPr>
              <a:t>Services</a:t>
            </a:r>
            <a:endParaRPr lang="en-US" sz="1700" dirty="0"/>
          </a:p>
        </p:txBody>
      </p:sp>
      <p:sp>
        <p:nvSpPr>
          <p:cNvPr id="13" name="Text"/>
          <p:cNvSpPr txBox="1"/>
          <p:nvPr/>
        </p:nvSpPr>
        <p:spPr>
          <a:xfrm>
            <a:off x="3017520" y="2880360"/>
            <a:ext cx="1737360" cy="731520"/>
          </a:xfrm>
          <a:prstGeom prst="rect">
            <a:avLst/>
          </a:prstGeom>
          <a:noFill/>
          <a:ln/>
        </p:spPr>
        <p:txBody>
          <a:bodyPr wrap="square" lIns="0" tIns="0" rIns="0" bIns="0" rtlCol="0" anchor="t"/>
          <a:lstStyle/>
          <a:p>
            <a:pPr marL="0" indent="0">
              <a:buNone/>
            </a:pPr>
            <a:r>
              <a:rPr lang="en-US" sz="1400" dirty="0">
                <a:solidFill>
                  <a:schemeClr val="tx1"/>
                </a:solidFill>
              </a:rPr>
              <a:t>Airlines, banks, consulting</a:t>
            </a:r>
            <a:endParaRPr lang="en-US" sz="1400" dirty="0"/>
          </a:p>
        </p:txBody>
      </p:sp>
      <p:sp>
        <p:nvSpPr>
          <p:cNvPr id="14" name="Entity card"/>
          <p:cNvSpPr/>
          <p:nvPr/>
        </p:nvSpPr>
        <p:spPr>
          <a:xfrm>
            <a:off x="5029200" y="1463040"/>
            <a:ext cx="2103120" cy="2240280"/>
          </a:xfrm>
          <a:prstGeom prst="roundRect">
            <a:avLst>
              <a:gd name="adj" fmla="val 4348"/>
            </a:avLst>
          </a:prstGeom>
          <a:solidFill>
            <a:schemeClr val="bg2"/>
          </a:solidFill>
          <a:ln/>
        </p:spPr>
        <p:txBody>
          <a:bodyPr/>
          <a:lstStyle/>
          <a:p>
            <a:endParaRPr lang="en-US"/>
          </a:p>
        </p:txBody>
      </p:sp>
      <p:sp>
        <p:nvSpPr>
          <p:cNvPr id="15" name="Icon circle"/>
          <p:cNvSpPr/>
          <p:nvPr/>
        </p:nvSpPr>
        <p:spPr>
          <a:xfrm>
            <a:off x="5257800" y="1691640"/>
            <a:ext cx="640080" cy="640080"/>
          </a:xfrm>
          <a:prstGeom prst="ellipse">
            <a:avLst/>
          </a:prstGeom>
          <a:solidFill>
            <a:schemeClr val="accent4"/>
          </a:solidFill>
          <a:ln/>
        </p:spPr>
        <p:txBody>
          <a:bodyPr/>
          <a:lstStyle/>
          <a:p>
            <a:endParaRPr lang="en-US"/>
          </a:p>
        </p:txBody>
      </p:sp>
      <p:pic>
        <p:nvPicPr>
          <p:cNvPr id="16" name="Icon" descr="CalendarAlt icon"/>
          <p:cNvPicPr>
            <a:picLocks noChangeAspect="1"/>
          </p:cNvPicPr>
          <p:nvPr/>
        </p:nvPicPr>
        <p:blipFill>
          <a:blip r:embed="rId5"/>
          <a:stretch>
            <a:fillRect/>
          </a:stretch>
        </p:blipFill>
        <p:spPr>
          <a:xfrm>
            <a:off x="5417820" y="1851660"/>
            <a:ext cx="320040" cy="320040"/>
          </a:xfrm>
          <a:prstGeom prst="rect">
            <a:avLst/>
          </a:prstGeom>
        </p:spPr>
      </p:pic>
      <p:sp>
        <p:nvSpPr>
          <p:cNvPr id="17" name="Text"/>
          <p:cNvSpPr txBox="1"/>
          <p:nvPr/>
        </p:nvSpPr>
        <p:spPr>
          <a:xfrm>
            <a:off x="5257800" y="2468880"/>
            <a:ext cx="1737360" cy="365760"/>
          </a:xfrm>
          <a:prstGeom prst="rect">
            <a:avLst/>
          </a:prstGeom>
          <a:noFill/>
          <a:ln/>
        </p:spPr>
        <p:txBody>
          <a:bodyPr wrap="square" lIns="0" tIns="0" rIns="0" bIns="0" rtlCol="0" anchor="t"/>
          <a:lstStyle/>
          <a:p>
            <a:pPr marL="0" indent="0">
              <a:buNone/>
            </a:pPr>
            <a:r>
              <a:rPr lang="en-US" sz="1700" b="1" dirty="0">
                <a:solidFill>
                  <a:schemeClr val="tx2"/>
                </a:solidFill>
              </a:rPr>
              <a:t>Events</a:t>
            </a:r>
            <a:endParaRPr lang="en-US" sz="1700" dirty="0"/>
          </a:p>
        </p:txBody>
      </p:sp>
      <p:sp>
        <p:nvSpPr>
          <p:cNvPr id="18" name="Text"/>
          <p:cNvSpPr txBox="1"/>
          <p:nvPr/>
        </p:nvSpPr>
        <p:spPr>
          <a:xfrm>
            <a:off x="5257800" y="2880360"/>
            <a:ext cx="1737360" cy="731520"/>
          </a:xfrm>
          <a:prstGeom prst="rect">
            <a:avLst/>
          </a:prstGeom>
          <a:noFill/>
          <a:ln/>
        </p:spPr>
        <p:txBody>
          <a:bodyPr wrap="square" lIns="0" tIns="0" rIns="0" bIns="0" rtlCol="0" anchor="t"/>
          <a:lstStyle/>
          <a:p>
            <a:pPr marL="0" indent="0">
              <a:buNone/>
            </a:pPr>
            <a:r>
              <a:rPr lang="en-US" sz="1400" dirty="0">
                <a:solidFill>
                  <a:schemeClr val="tx1"/>
                </a:solidFill>
              </a:rPr>
              <a:t>Trade shows, sports, concerts</a:t>
            </a:r>
            <a:endParaRPr lang="en-US" sz="1400" dirty="0"/>
          </a:p>
        </p:txBody>
      </p:sp>
      <p:sp>
        <p:nvSpPr>
          <p:cNvPr id="19" name="Entity card"/>
          <p:cNvSpPr/>
          <p:nvPr/>
        </p:nvSpPr>
        <p:spPr>
          <a:xfrm>
            <a:off x="7269480" y="1463040"/>
            <a:ext cx="2103120" cy="2240280"/>
          </a:xfrm>
          <a:prstGeom prst="roundRect">
            <a:avLst>
              <a:gd name="adj" fmla="val 4348"/>
            </a:avLst>
          </a:prstGeom>
          <a:solidFill>
            <a:schemeClr val="bg2"/>
          </a:solidFill>
          <a:ln/>
        </p:spPr>
        <p:txBody>
          <a:bodyPr/>
          <a:lstStyle/>
          <a:p>
            <a:endParaRPr lang="en-US"/>
          </a:p>
        </p:txBody>
      </p:sp>
      <p:sp>
        <p:nvSpPr>
          <p:cNvPr id="20" name="Icon circle"/>
          <p:cNvSpPr/>
          <p:nvPr/>
        </p:nvSpPr>
        <p:spPr>
          <a:xfrm>
            <a:off x="7498080" y="1691640"/>
            <a:ext cx="640080" cy="640080"/>
          </a:xfrm>
          <a:prstGeom prst="ellipse">
            <a:avLst/>
          </a:prstGeom>
          <a:solidFill>
            <a:schemeClr val="accent5"/>
          </a:solidFill>
          <a:ln/>
        </p:spPr>
        <p:txBody>
          <a:bodyPr/>
          <a:lstStyle/>
          <a:p>
            <a:endParaRPr lang="en-US"/>
          </a:p>
        </p:txBody>
      </p:sp>
      <p:pic>
        <p:nvPicPr>
          <p:cNvPr id="21" name="Icon" descr="Star icon"/>
          <p:cNvPicPr>
            <a:picLocks noChangeAspect="1"/>
          </p:cNvPicPr>
          <p:nvPr/>
        </p:nvPicPr>
        <p:blipFill>
          <a:blip r:embed="rId6"/>
          <a:stretch>
            <a:fillRect/>
          </a:stretch>
        </p:blipFill>
        <p:spPr>
          <a:xfrm>
            <a:off x="7658100" y="1851660"/>
            <a:ext cx="320040" cy="320040"/>
          </a:xfrm>
          <a:prstGeom prst="rect">
            <a:avLst/>
          </a:prstGeom>
        </p:spPr>
      </p:pic>
      <p:sp>
        <p:nvSpPr>
          <p:cNvPr id="22" name="Text"/>
          <p:cNvSpPr txBox="1"/>
          <p:nvPr/>
        </p:nvSpPr>
        <p:spPr>
          <a:xfrm>
            <a:off x="7498080" y="2468880"/>
            <a:ext cx="1737360" cy="365760"/>
          </a:xfrm>
          <a:prstGeom prst="rect">
            <a:avLst/>
          </a:prstGeom>
          <a:noFill/>
          <a:ln/>
        </p:spPr>
        <p:txBody>
          <a:bodyPr wrap="square" lIns="0" tIns="0" rIns="0" bIns="0" rtlCol="0" anchor="t"/>
          <a:lstStyle/>
          <a:p>
            <a:pPr marL="0" indent="0">
              <a:buNone/>
            </a:pPr>
            <a:r>
              <a:rPr lang="en-US" sz="1700" b="1" dirty="0">
                <a:solidFill>
                  <a:schemeClr val="tx2"/>
                </a:solidFill>
              </a:rPr>
              <a:t>Experiences</a:t>
            </a:r>
            <a:endParaRPr lang="en-US" sz="1700" dirty="0"/>
          </a:p>
        </p:txBody>
      </p:sp>
      <p:sp>
        <p:nvSpPr>
          <p:cNvPr id="23" name="Text"/>
          <p:cNvSpPr txBox="1"/>
          <p:nvPr/>
        </p:nvSpPr>
        <p:spPr>
          <a:xfrm>
            <a:off x="7498080" y="2880360"/>
            <a:ext cx="1737360" cy="731520"/>
          </a:xfrm>
          <a:prstGeom prst="rect">
            <a:avLst/>
          </a:prstGeom>
          <a:noFill/>
          <a:ln/>
        </p:spPr>
        <p:txBody>
          <a:bodyPr wrap="square" lIns="0" tIns="0" rIns="0" bIns="0" rtlCol="0" anchor="t"/>
          <a:lstStyle/>
          <a:p>
            <a:pPr marL="0" indent="0">
              <a:buNone/>
            </a:pPr>
            <a:r>
              <a:rPr lang="en-US" sz="1400" dirty="0">
                <a:solidFill>
                  <a:schemeClr val="tx1"/>
                </a:solidFill>
              </a:rPr>
              <a:t>Theme parks, tours, brand events</a:t>
            </a:r>
            <a:endParaRPr lang="en-US" sz="1400" dirty="0"/>
          </a:p>
        </p:txBody>
      </p:sp>
      <p:sp>
        <p:nvSpPr>
          <p:cNvPr id="24" name="Entity card"/>
          <p:cNvSpPr/>
          <p:nvPr/>
        </p:nvSpPr>
        <p:spPr>
          <a:xfrm>
            <a:off x="9509760" y="1463040"/>
            <a:ext cx="2103120" cy="2240280"/>
          </a:xfrm>
          <a:prstGeom prst="roundRect">
            <a:avLst>
              <a:gd name="adj" fmla="val 4348"/>
            </a:avLst>
          </a:prstGeom>
          <a:solidFill>
            <a:schemeClr val="bg2"/>
          </a:solidFill>
          <a:ln/>
        </p:spPr>
        <p:txBody>
          <a:bodyPr/>
          <a:lstStyle/>
          <a:p>
            <a:endParaRPr lang="en-US"/>
          </a:p>
        </p:txBody>
      </p:sp>
      <p:sp>
        <p:nvSpPr>
          <p:cNvPr id="25" name="Icon circle"/>
          <p:cNvSpPr/>
          <p:nvPr/>
        </p:nvSpPr>
        <p:spPr>
          <a:xfrm>
            <a:off x="9738360" y="1691640"/>
            <a:ext cx="640080" cy="640080"/>
          </a:xfrm>
          <a:prstGeom prst="ellipse">
            <a:avLst/>
          </a:prstGeom>
          <a:solidFill>
            <a:schemeClr val="tx2"/>
          </a:solidFill>
          <a:ln/>
        </p:spPr>
        <p:txBody>
          <a:bodyPr/>
          <a:lstStyle/>
          <a:p>
            <a:endParaRPr lang="en-US"/>
          </a:p>
        </p:txBody>
      </p:sp>
      <p:pic>
        <p:nvPicPr>
          <p:cNvPr id="26" name="Icon" descr="UserTie icon"/>
          <p:cNvPicPr>
            <a:picLocks noChangeAspect="1"/>
          </p:cNvPicPr>
          <p:nvPr/>
        </p:nvPicPr>
        <p:blipFill>
          <a:blip r:embed="rId7"/>
          <a:stretch>
            <a:fillRect/>
          </a:stretch>
        </p:blipFill>
        <p:spPr>
          <a:xfrm>
            <a:off x="9898380" y="1851660"/>
            <a:ext cx="320040" cy="320040"/>
          </a:xfrm>
          <a:prstGeom prst="rect">
            <a:avLst/>
          </a:prstGeom>
        </p:spPr>
      </p:pic>
      <p:sp>
        <p:nvSpPr>
          <p:cNvPr id="27" name="Text"/>
          <p:cNvSpPr txBox="1"/>
          <p:nvPr/>
        </p:nvSpPr>
        <p:spPr>
          <a:xfrm>
            <a:off x="9738360" y="2468880"/>
            <a:ext cx="1737360" cy="365760"/>
          </a:xfrm>
          <a:prstGeom prst="rect">
            <a:avLst/>
          </a:prstGeom>
          <a:noFill/>
          <a:ln/>
        </p:spPr>
        <p:txBody>
          <a:bodyPr wrap="square" lIns="0" tIns="0" rIns="0" bIns="0" rtlCol="0" anchor="t"/>
          <a:lstStyle/>
          <a:p>
            <a:pPr marL="0" indent="0">
              <a:buNone/>
            </a:pPr>
            <a:r>
              <a:rPr lang="en-US" sz="1700" b="1" dirty="0">
                <a:solidFill>
                  <a:schemeClr val="tx2"/>
                </a:solidFill>
              </a:rPr>
              <a:t>Persons</a:t>
            </a:r>
            <a:endParaRPr lang="en-US" sz="1700" dirty="0"/>
          </a:p>
        </p:txBody>
      </p:sp>
      <p:sp>
        <p:nvSpPr>
          <p:cNvPr id="28" name="Text"/>
          <p:cNvSpPr txBox="1"/>
          <p:nvPr/>
        </p:nvSpPr>
        <p:spPr>
          <a:xfrm>
            <a:off x="9738360" y="2880360"/>
            <a:ext cx="1737360" cy="731520"/>
          </a:xfrm>
          <a:prstGeom prst="rect">
            <a:avLst/>
          </a:prstGeom>
          <a:noFill/>
          <a:ln/>
        </p:spPr>
        <p:txBody>
          <a:bodyPr wrap="square" lIns="0" tIns="0" rIns="0" bIns="0" rtlCol="0" anchor="t"/>
          <a:lstStyle/>
          <a:p>
            <a:pPr marL="0" indent="0">
              <a:buNone/>
            </a:pPr>
            <a:r>
              <a:rPr lang="en-US" sz="1400" dirty="0">
                <a:solidFill>
                  <a:schemeClr val="tx1"/>
                </a:solidFill>
              </a:rPr>
              <a:t>Celebrity and political marketing</a:t>
            </a:r>
            <a:endParaRPr lang="en-US" sz="1400" dirty="0"/>
          </a:p>
        </p:txBody>
      </p:sp>
      <p:sp>
        <p:nvSpPr>
          <p:cNvPr id="29" name="Entity card"/>
          <p:cNvSpPr/>
          <p:nvPr/>
        </p:nvSpPr>
        <p:spPr>
          <a:xfrm>
            <a:off x="548640" y="3886200"/>
            <a:ext cx="2103120" cy="2240280"/>
          </a:xfrm>
          <a:prstGeom prst="roundRect">
            <a:avLst>
              <a:gd name="adj" fmla="val 4348"/>
            </a:avLst>
          </a:prstGeom>
          <a:solidFill>
            <a:schemeClr val="bg2"/>
          </a:solidFill>
          <a:ln/>
        </p:spPr>
        <p:txBody>
          <a:bodyPr/>
          <a:lstStyle/>
          <a:p>
            <a:endParaRPr lang="en-US"/>
          </a:p>
        </p:txBody>
      </p:sp>
      <p:sp>
        <p:nvSpPr>
          <p:cNvPr id="30" name="Icon circle"/>
          <p:cNvSpPr/>
          <p:nvPr/>
        </p:nvSpPr>
        <p:spPr>
          <a:xfrm>
            <a:off x="777240" y="4114800"/>
            <a:ext cx="640080" cy="640080"/>
          </a:xfrm>
          <a:prstGeom prst="ellipse">
            <a:avLst/>
          </a:prstGeom>
          <a:solidFill>
            <a:schemeClr val="accent1"/>
          </a:solidFill>
          <a:ln/>
        </p:spPr>
        <p:txBody>
          <a:bodyPr/>
          <a:lstStyle/>
          <a:p>
            <a:endParaRPr lang="en-US"/>
          </a:p>
        </p:txBody>
      </p:sp>
      <p:pic>
        <p:nvPicPr>
          <p:cNvPr id="31" name="Icon" descr="MapMarkedAlt icon"/>
          <p:cNvPicPr>
            <a:picLocks noChangeAspect="1"/>
          </p:cNvPicPr>
          <p:nvPr/>
        </p:nvPicPr>
        <p:blipFill>
          <a:blip r:embed="rId8"/>
          <a:stretch>
            <a:fillRect/>
          </a:stretch>
        </p:blipFill>
        <p:spPr>
          <a:xfrm>
            <a:off x="937260" y="4274820"/>
            <a:ext cx="320040" cy="320040"/>
          </a:xfrm>
          <a:prstGeom prst="rect">
            <a:avLst/>
          </a:prstGeom>
        </p:spPr>
      </p:pic>
      <p:sp>
        <p:nvSpPr>
          <p:cNvPr id="32" name="Text"/>
          <p:cNvSpPr txBox="1"/>
          <p:nvPr/>
        </p:nvSpPr>
        <p:spPr>
          <a:xfrm>
            <a:off x="777240" y="4892040"/>
            <a:ext cx="1737360" cy="365760"/>
          </a:xfrm>
          <a:prstGeom prst="rect">
            <a:avLst/>
          </a:prstGeom>
          <a:noFill/>
          <a:ln/>
        </p:spPr>
        <p:txBody>
          <a:bodyPr wrap="square" lIns="0" tIns="0" rIns="0" bIns="0" rtlCol="0" anchor="t"/>
          <a:lstStyle/>
          <a:p>
            <a:pPr marL="0" indent="0">
              <a:buNone/>
            </a:pPr>
            <a:r>
              <a:rPr lang="en-US" sz="1700" b="1" dirty="0">
                <a:solidFill>
                  <a:schemeClr val="tx2"/>
                </a:solidFill>
              </a:rPr>
              <a:t>Places</a:t>
            </a:r>
            <a:endParaRPr lang="en-US" sz="1700" dirty="0"/>
          </a:p>
        </p:txBody>
      </p:sp>
      <p:sp>
        <p:nvSpPr>
          <p:cNvPr id="33" name="Text"/>
          <p:cNvSpPr txBox="1"/>
          <p:nvPr/>
        </p:nvSpPr>
        <p:spPr>
          <a:xfrm>
            <a:off x="777240" y="5303520"/>
            <a:ext cx="1737360" cy="731520"/>
          </a:xfrm>
          <a:prstGeom prst="rect">
            <a:avLst/>
          </a:prstGeom>
          <a:noFill/>
          <a:ln/>
        </p:spPr>
        <p:txBody>
          <a:bodyPr wrap="square" lIns="0" tIns="0" rIns="0" bIns="0" rtlCol="0" anchor="t"/>
          <a:lstStyle/>
          <a:p>
            <a:pPr marL="0" indent="0">
              <a:buNone/>
            </a:pPr>
            <a:r>
              <a:rPr lang="en-US" sz="1400" dirty="0">
                <a:solidFill>
                  <a:schemeClr val="tx1"/>
                </a:solidFill>
              </a:rPr>
              <a:t>Cities, regions, tourism</a:t>
            </a:r>
            <a:endParaRPr lang="en-US" sz="1400" dirty="0"/>
          </a:p>
        </p:txBody>
      </p:sp>
      <p:sp>
        <p:nvSpPr>
          <p:cNvPr id="34" name="Entity card"/>
          <p:cNvSpPr/>
          <p:nvPr/>
        </p:nvSpPr>
        <p:spPr>
          <a:xfrm>
            <a:off x="2788920" y="3886200"/>
            <a:ext cx="2103120" cy="2240280"/>
          </a:xfrm>
          <a:prstGeom prst="roundRect">
            <a:avLst>
              <a:gd name="adj" fmla="val 4348"/>
            </a:avLst>
          </a:prstGeom>
          <a:solidFill>
            <a:schemeClr val="bg2"/>
          </a:solidFill>
          <a:ln/>
        </p:spPr>
        <p:txBody>
          <a:bodyPr/>
          <a:lstStyle/>
          <a:p>
            <a:endParaRPr lang="en-US"/>
          </a:p>
        </p:txBody>
      </p:sp>
      <p:sp>
        <p:nvSpPr>
          <p:cNvPr id="35" name="Icon circle"/>
          <p:cNvSpPr/>
          <p:nvPr/>
        </p:nvSpPr>
        <p:spPr>
          <a:xfrm>
            <a:off x="3017520" y="4114800"/>
            <a:ext cx="640080" cy="640080"/>
          </a:xfrm>
          <a:prstGeom prst="ellipse">
            <a:avLst/>
          </a:prstGeom>
          <a:solidFill>
            <a:schemeClr val="accent3"/>
          </a:solidFill>
          <a:ln/>
        </p:spPr>
        <p:txBody>
          <a:bodyPr/>
          <a:lstStyle/>
          <a:p>
            <a:endParaRPr lang="en-US"/>
          </a:p>
        </p:txBody>
      </p:sp>
      <p:pic>
        <p:nvPicPr>
          <p:cNvPr id="36" name="Icon" descr="Home icon"/>
          <p:cNvPicPr>
            <a:picLocks noChangeAspect="1"/>
          </p:cNvPicPr>
          <p:nvPr/>
        </p:nvPicPr>
        <p:blipFill>
          <a:blip r:embed="rId9"/>
          <a:stretch>
            <a:fillRect/>
          </a:stretch>
        </p:blipFill>
        <p:spPr>
          <a:xfrm>
            <a:off x="3177540" y="4274820"/>
            <a:ext cx="320040" cy="320040"/>
          </a:xfrm>
          <a:prstGeom prst="rect">
            <a:avLst/>
          </a:prstGeom>
        </p:spPr>
      </p:pic>
      <p:sp>
        <p:nvSpPr>
          <p:cNvPr id="37" name="Text"/>
          <p:cNvSpPr txBox="1"/>
          <p:nvPr/>
        </p:nvSpPr>
        <p:spPr>
          <a:xfrm>
            <a:off x="3017520" y="4892040"/>
            <a:ext cx="1737360" cy="365760"/>
          </a:xfrm>
          <a:prstGeom prst="rect">
            <a:avLst/>
          </a:prstGeom>
          <a:noFill/>
          <a:ln/>
        </p:spPr>
        <p:txBody>
          <a:bodyPr wrap="square" lIns="0" tIns="0" rIns="0" bIns="0" rtlCol="0" anchor="t"/>
          <a:lstStyle/>
          <a:p>
            <a:pPr marL="0" indent="0">
              <a:buNone/>
            </a:pPr>
            <a:r>
              <a:rPr lang="en-US" sz="1700" b="1" dirty="0">
                <a:solidFill>
                  <a:schemeClr val="tx2"/>
                </a:solidFill>
              </a:rPr>
              <a:t>Properties</a:t>
            </a:r>
            <a:endParaRPr lang="en-US" sz="1700" dirty="0"/>
          </a:p>
        </p:txBody>
      </p:sp>
      <p:sp>
        <p:nvSpPr>
          <p:cNvPr id="38" name="Text"/>
          <p:cNvSpPr txBox="1"/>
          <p:nvPr/>
        </p:nvSpPr>
        <p:spPr>
          <a:xfrm>
            <a:off x="3017520" y="5303520"/>
            <a:ext cx="1737360" cy="731520"/>
          </a:xfrm>
          <a:prstGeom prst="rect">
            <a:avLst/>
          </a:prstGeom>
          <a:noFill/>
          <a:ln/>
        </p:spPr>
        <p:txBody>
          <a:bodyPr wrap="square" lIns="0" tIns="0" rIns="0" bIns="0" rtlCol="0" anchor="t"/>
          <a:lstStyle/>
          <a:p>
            <a:pPr marL="0" indent="0">
              <a:buNone/>
            </a:pPr>
            <a:r>
              <a:rPr lang="en-US" sz="1400" dirty="0">
                <a:solidFill>
                  <a:schemeClr val="tx1"/>
                </a:solidFill>
              </a:rPr>
              <a:t>Real estate, shares, bonds</a:t>
            </a:r>
            <a:endParaRPr lang="en-US" sz="1400" dirty="0"/>
          </a:p>
        </p:txBody>
      </p:sp>
      <p:sp>
        <p:nvSpPr>
          <p:cNvPr id="39" name="Entity card"/>
          <p:cNvSpPr/>
          <p:nvPr/>
        </p:nvSpPr>
        <p:spPr>
          <a:xfrm>
            <a:off x="5029200" y="3886200"/>
            <a:ext cx="2103120" cy="2240280"/>
          </a:xfrm>
          <a:prstGeom prst="roundRect">
            <a:avLst>
              <a:gd name="adj" fmla="val 4348"/>
            </a:avLst>
          </a:prstGeom>
          <a:solidFill>
            <a:schemeClr val="bg2"/>
          </a:solidFill>
          <a:ln/>
        </p:spPr>
        <p:txBody>
          <a:bodyPr/>
          <a:lstStyle/>
          <a:p>
            <a:endParaRPr lang="en-US"/>
          </a:p>
        </p:txBody>
      </p:sp>
      <p:sp>
        <p:nvSpPr>
          <p:cNvPr id="40" name="Icon circle"/>
          <p:cNvSpPr/>
          <p:nvPr/>
        </p:nvSpPr>
        <p:spPr>
          <a:xfrm>
            <a:off x="5257800" y="4114800"/>
            <a:ext cx="640080" cy="640080"/>
          </a:xfrm>
          <a:prstGeom prst="ellipse">
            <a:avLst/>
          </a:prstGeom>
          <a:solidFill>
            <a:schemeClr val="accent4"/>
          </a:solidFill>
          <a:ln/>
        </p:spPr>
        <p:txBody>
          <a:bodyPr/>
          <a:lstStyle/>
          <a:p>
            <a:endParaRPr lang="en-US"/>
          </a:p>
        </p:txBody>
      </p:sp>
      <p:pic>
        <p:nvPicPr>
          <p:cNvPr id="41" name="Icon" descr="Landmark icon"/>
          <p:cNvPicPr>
            <a:picLocks noChangeAspect="1"/>
          </p:cNvPicPr>
          <p:nvPr/>
        </p:nvPicPr>
        <p:blipFill>
          <a:blip r:embed="rId10"/>
          <a:stretch>
            <a:fillRect/>
          </a:stretch>
        </p:blipFill>
        <p:spPr>
          <a:xfrm>
            <a:off x="5417820" y="4274820"/>
            <a:ext cx="320040" cy="320040"/>
          </a:xfrm>
          <a:prstGeom prst="rect">
            <a:avLst/>
          </a:prstGeom>
        </p:spPr>
      </p:pic>
      <p:sp>
        <p:nvSpPr>
          <p:cNvPr id="42" name="Text"/>
          <p:cNvSpPr txBox="1"/>
          <p:nvPr/>
        </p:nvSpPr>
        <p:spPr>
          <a:xfrm>
            <a:off x="5257800" y="4892040"/>
            <a:ext cx="1737360" cy="365760"/>
          </a:xfrm>
          <a:prstGeom prst="rect">
            <a:avLst/>
          </a:prstGeom>
          <a:noFill/>
          <a:ln/>
        </p:spPr>
        <p:txBody>
          <a:bodyPr wrap="square" lIns="0" tIns="0" rIns="0" bIns="0" rtlCol="0" anchor="t"/>
          <a:lstStyle/>
          <a:p>
            <a:pPr marL="0" indent="0">
              <a:buNone/>
            </a:pPr>
            <a:r>
              <a:rPr lang="en-US" sz="1700" b="1" dirty="0">
                <a:solidFill>
                  <a:schemeClr val="tx2"/>
                </a:solidFill>
              </a:rPr>
              <a:t>Organizations</a:t>
            </a:r>
            <a:endParaRPr lang="en-US" sz="1700" dirty="0"/>
          </a:p>
        </p:txBody>
      </p:sp>
      <p:sp>
        <p:nvSpPr>
          <p:cNvPr id="43" name="Text"/>
          <p:cNvSpPr txBox="1"/>
          <p:nvPr/>
        </p:nvSpPr>
        <p:spPr>
          <a:xfrm>
            <a:off x="5257800" y="5303520"/>
            <a:ext cx="1737360" cy="731520"/>
          </a:xfrm>
          <a:prstGeom prst="rect">
            <a:avLst/>
          </a:prstGeom>
          <a:noFill/>
          <a:ln/>
        </p:spPr>
        <p:txBody>
          <a:bodyPr wrap="square" lIns="0" tIns="0" rIns="0" bIns="0" rtlCol="0" anchor="t"/>
          <a:lstStyle/>
          <a:p>
            <a:pPr marL="0" indent="0">
              <a:buNone/>
            </a:pPr>
            <a:r>
              <a:rPr lang="en-US" sz="1400" dirty="0">
                <a:solidFill>
                  <a:schemeClr val="tx1"/>
                </a:solidFill>
              </a:rPr>
              <a:t>Corporate image, universities</a:t>
            </a:r>
            <a:endParaRPr lang="en-US" sz="1400" dirty="0"/>
          </a:p>
        </p:txBody>
      </p:sp>
      <p:sp>
        <p:nvSpPr>
          <p:cNvPr id="44" name="Entity card"/>
          <p:cNvSpPr/>
          <p:nvPr/>
        </p:nvSpPr>
        <p:spPr>
          <a:xfrm>
            <a:off x="7269480" y="3886200"/>
            <a:ext cx="2103120" cy="2240280"/>
          </a:xfrm>
          <a:prstGeom prst="roundRect">
            <a:avLst>
              <a:gd name="adj" fmla="val 4348"/>
            </a:avLst>
          </a:prstGeom>
          <a:solidFill>
            <a:schemeClr val="bg2"/>
          </a:solidFill>
          <a:ln/>
        </p:spPr>
        <p:txBody>
          <a:bodyPr/>
          <a:lstStyle/>
          <a:p>
            <a:endParaRPr lang="en-US"/>
          </a:p>
        </p:txBody>
      </p:sp>
      <p:sp>
        <p:nvSpPr>
          <p:cNvPr id="45" name="Icon circle"/>
          <p:cNvSpPr/>
          <p:nvPr/>
        </p:nvSpPr>
        <p:spPr>
          <a:xfrm>
            <a:off x="7498080" y="4114800"/>
            <a:ext cx="640080" cy="640080"/>
          </a:xfrm>
          <a:prstGeom prst="ellipse">
            <a:avLst/>
          </a:prstGeom>
          <a:solidFill>
            <a:schemeClr val="accent5"/>
          </a:solidFill>
          <a:ln/>
        </p:spPr>
        <p:txBody>
          <a:bodyPr/>
          <a:lstStyle/>
          <a:p>
            <a:endParaRPr lang="en-US"/>
          </a:p>
        </p:txBody>
      </p:sp>
      <p:pic>
        <p:nvPicPr>
          <p:cNvPr id="46" name="Icon" descr="InfoCircle icon"/>
          <p:cNvPicPr>
            <a:picLocks noChangeAspect="1"/>
          </p:cNvPicPr>
          <p:nvPr/>
        </p:nvPicPr>
        <p:blipFill>
          <a:blip r:embed="rId11"/>
          <a:stretch>
            <a:fillRect/>
          </a:stretch>
        </p:blipFill>
        <p:spPr>
          <a:xfrm>
            <a:off x="7658100" y="4274820"/>
            <a:ext cx="320040" cy="320040"/>
          </a:xfrm>
          <a:prstGeom prst="rect">
            <a:avLst/>
          </a:prstGeom>
        </p:spPr>
      </p:pic>
      <p:sp>
        <p:nvSpPr>
          <p:cNvPr id="47" name="Text"/>
          <p:cNvSpPr txBox="1"/>
          <p:nvPr/>
        </p:nvSpPr>
        <p:spPr>
          <a:xfrm>
            <a:off x="7498080" y="4892040"/>
            <a:ext cx="1737360" cy="365760"/>
          </a:xfrm>
          <a:prstGeom prst="rect">
            <a:avLst/>
          </a:prstGeom>
          <a:noFill/>
          <a:ln/>
        </p:spPr>
        <p:txBody>
          <a:bodyPr wrap="square" lIns="0" tIns="0" rIns="0" bIns="0" rtlCol="0" anchor="t"/>
          <a:lstStyle/>
          <a:p>
            <a:pPr marL="0" indent="0">
              <a:buNone/>
            </a:pPr>
            <a:r>
              <a:rPr lang="en-US" sz="1700" b="1" dirty="0">
                <a:solidFill>
                  <a:schemeClr val="tx2"/>
                </a:solidFill>
              </a:rPr>
              <a:t>Information</a:t>
            </a:r>
            <a:endParaRPr lang="en-US" sz="1700" dirty="0"/>
          </a:p>
        </p:txBody>
      </p:sp>
      <p:sp>
        <p:nvSpPr>
          <p:cNvPr id="48" name="Text"/>
          <p:cNvSpPr txBox="1"/>
          <p:nvPr/>
        </p:nvSpPr>
        <p:spPr>
          <a:xfrm>
            <a:off x="7498080" y="5303520"/>
            <a:ext cx="1737360" cy="731520"/>
          </a:xfrm>
          <a:prstGeom prst="rect">
            <a:avLst/>
          </a:prstGeom>
          <a:noFill/>
          <a:ln/>
        </p:spPr>
        <p:txBody>
          <a:bodyPr wrap="square" lIns="0" tIns="0" rIns="0" bIns="0" rtlCol="0" anchor="t"/>
          <a:lstStyle/>
          <a:p>
            <a:pPr marL="0" indent="0">
              <a:buNone/>
            </a:pPr>
            <a:r>
              <a:rPr lang="en-US" sz="1400" dirty="0">
                <a:solidFill>
                  <a:schemeClr val="tx1"/>
                </a:solidFill>
              </a:rPr>
              <a:t>Schools, publishers, directories</a:t>
            </a:r>
            <a:endParaRPr lang="en-US" sz="1400" dirty="0"/>
          </a:p>
        </p:txBody>
      </p:sp>
      <p:sp>
        <p:nvSpPr>
          <p:cNvPr id="49" name="Entity card"/>
          <p:cNvSpPr/>
          <p:nvPr/>
        </p:nvSpPr>
        <p:spPr>
          <a:xfrm>
            <a:off x="9509760" y="3886200"/>
            <a:ext cx="2103120" cy="2240280"/>
          </a:xfrm>
          <a:prstGeom prst="roundRect">
            <a:avLst>
              <a:gd name="adj" fmla="val 4348"/>
            </a:avLst>
          </a:prstGeom>
          <a:solidFill>
            <a:schemeClr val="bg2"/>
          </a:solidFill>
          <a:ln/>
        </p:spPr>
        <p:txBody>
          <a:bodyPr/>
          <a:lstStyle/>
          <a:p>
            <a:endParaRPr lang="en-US"/>
          </a:p>
        </p:txBody>
      </p:sp>
      <p:sp>
        <p:nvSpPr>
          <p:cNvPr id="50" name="Icon circle"/>
          <p:cNvSpPr/>
          <p:nvPr/>
        </p:nvSpPr>
        <p:spPr>
          <a:xfrm>
            <a:off x="9738360" y="4114800"/>
            <a:ext cx="640080" cy="640080"/>
          </a:xfrm>
          <a:prstGeom prst="ellipse">
            <a:avLst/>
          </a:prstGeom>
          <a:solidFill>
            <a:schemeClr val="tx2"/>
          </a:solidFill>
          <a:ln/>
        </p:spPr>
        <p:txBody>
          <a:bodyPr/>
          <a:lstStyle/>
          <a:p>
            <a:endParaRPr lang="en-US"/>
          </a:p>
        </p:txBody>
      </p:sp>
      <p:pic>
        <p:nvPicPr>
          <p:cNvPr id="51" name="Icon" descr="Lightbulb icon"/>
          <p:cNvPicPr>
            <a:picLocks noChangeAspect="1"/>
          </p:cNvPicPr>
          <p:nvPr/>
        </p:nvPicPr>
        <p:blipFill>
          <a:blip r:embed="rId12"/>
          <a:stretch>
            <a:fillRect/>
          </a:stretch>
        </p:blipFill>
        <p:spPr>
          <a:xfrm>
            <a:off x="9898380" y="4274820"/>
            <a:ext cx="320040" cy="320040"/>
          </a:xfrm>
          <a:prstGeom prst="rect">
            <a:avLst/>
          </a:prstGeom>
        </p:spPr>
      </p:pic>
      <p:sp>
        <p:nvSpPr>
          <p:cNvPr id="52" name="Text"/>
          <p:cNvSpPr txBox="1"/>
          <p:nvPr/>
        </p:nvSpPr>
        <p:spPr>
          <a:xfrm>
            <a:off x="9738360" y="4892040"/>
            <a:ext cx="1737360" cy="365760"/>
          </a:xfrm>
          <a:prstGeom prst="rect">
            <a:avLst/>
          </a:prstGeom>
          <a:noFill/>
          <a:ln/>
        </p:spPr>
        <p:txBody>
          <a:bodyPr wrap="square" lIns="0" tIns="0" rIns="0" bIns="0" rtlCol="0" anchor="t"/>
          <a:lstStyle/>
          <a:p>
            <a:pPr marL="0" indent="0">
              <a:buNone/>
            </a:pPr>
            <a:r>
              <a:rPr lang="en-US" sz="1700" b="1" dirty="0">
                <a:solidFill>
                  <a:schemeClr val="tx2"/>
                </a:solidFill>
              </a:rPr>
              <a:t>Ideas</a:t>
            </a:r>
            <a:endParaRPr lang="en-US" sz="1700" dirty="0"/>
          </a:p>
        </p:txBody>
      </p:sp>
      <p:sp>
        <p:nvSpPr>
          <p:cNvPr id="53" name="Text"/>
          <p:cNvSpPr txBox="1"/>
          <p:nvPr/>
        </p:nvSpPr>
        <p:spPr>
          <a:xfrm>
            <a:off x="9738360" y="5303520"/>
            <a:ext cx="1737360" cy="731520"/>
          </a:xfrm>
          <a:prstGeom prst="rect">
            <a:avLst/>
          </a:prstGeom>
          <a:noFill/>
          <a:ln/>
        </p:spPr>
        <p:txBody>
          <a:bodyPr wrap="square" lIns="0" tIns="0" rIns="0" bIns="0" rtlCol="0" anchor="t"/>
          <a:lstStyle/>
          <a:p>
            <a:pPr marL="0" indent="0">
              <a:buNone/>
            </a:pPr>
            <a:r>
              <a:rPr lang="en-US" sz="1400" dirty="0">
                <a:solidFill>
                  <a:schemeClr val="tx1"/>
                </a:solidFill>
              </a:rPr>
              <a:t>Social causes, health campaigns</a:t>
            </a:r>
            <a:endParaRPr lang="en-US" sz="14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4" grpId="0" animBg="1"/>
      <p:bldP spid="19" grpId="0" animBg="1"/>
      <p:bldP spid="24" grpId="0" animBg="1"/>
      <p:bldP spid="29" grpId="0" animBg="1"/>
      <p:bldP spid="34" grpId="0" animBg="1"/>
      <p:bldP spid="39" grpId="0" animBg="1"/>
      <p:bldP spid="44" grpId="0" animBg="1"/>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dirty="0"/>
              <a:t>Definition of </a:t>
            </a:r>
            <a:r>
              <a:rPr lang="en-US" sz="3400" b="1" dirty="0">
                <a:solidFill>
                  <a:schemeClr val="tx2"/>
                </a:solidFill>
              </a:rPr>
              <a:t>Marketing Management </a:t>
            </a:r>
            <a:endParaRPr lang="en-US" sz="3400" dirty="0"/>
          </a:p>
        </p:txBody>
      </p:sp>
      <p:sp>
        <p:nvSpPr>
          <p:cNvPr id="4" name="Definition"/>
          <p:cNvSpPr/>
          <p:nvPr/>
        </p:nvSpPr>
        <p:spPr>
          <a:xfrm>
            <a:off x="548640" y="1417320"/>
            <a:ext cx="6766560" cy="2834640"/>
          </a:xfrm>
          <a:prstGeom prst="roundRect">
            <a:avLst>
              <a:gd name="adj" fmla="val 3226"/>
            </a:avLst>
          </a:prstGeom>
          <a:solidFill>
            <a:schemeClr val="tx2"/>
          </a:solidFill>
          <a:ln/>
        </p:spPr>
        <p:txBody>
          <a:bodyPr/>
          <a:lstStyle/>
          <a:p>
            <a:endParaRPr lang="en-US"/>
          </a:p>
        </p:txBody>
      </p:sp>
      <p:sp>
        <p:nvSpPr>
          <p:cNvPr id="5" name="Text"/>
          <p:cNvSpPr txBox="1"/>
          <p:nvPr/>
        </p:nvSpPr>
        <p:spPr>
          <a:xfrm>
            <a:off x="868680" y="1645920"/>
            <a:ext cx="6126480" cy="274320"/>
          </a:xfrm>
          <a:prstGeom prst="rect">
            <a:avLst/>
          </a:prstGeom>
          <a:noFill/>
          <a:ln/>
        </p:spPr>
        <p:txBody>
          <a:bodyPr wrap="square" lIns="0" tIns="0" rIns="0" bIns="0" rtlCol="0" anchor="t"/>
          <a:lstStyle/>
          <a:p>
            <a:pPr marL="0" indent="0">
              <a:buNone/>
            </a:pPr>
            <a:r>
              <a:rPr lang="en-US" sz="1300" b="1" dirty="0">
                <a:solidFill>
                  <a:schemeClr val="accent2"/>
                </a:solidFill>
              </a:rPr>
              <a:t>KOTLER &amp; KELLER</a:t>
            </a:r>
            <a:endParaRPr lang="en-US" sz="1300" dirty="0"/>
          </a:p>
        </p:txBody>
      </p:sp>
      <p:sp>
        <p:nvSpPr>
          <p:cNvPr id="6" name="Text"/>
          <p:cNvSpPr txBox="1"/>
          <p:nvPr/>
        </p:nvSpPr>
        <p:spPr>
          <a:xfrm>
            <a:off x="868680" y="2011680"/>
            <a:ext cx="6126480" cy="2103120"/>
          </a:xfrm>
          <a:prstGeom prst="rect">
            <a:avLst/>
          </a:prstGeom>
          <a:noFill/>
          <a:ln/>
        </p:spPr>
        <p:txBody>
          <a:bodyPr wrap="square" lIns="0" tIns="0" rIns="0" bIns="0" rtlCol="0" anchor="t"/>
          <a:lstStyle/>
          <a:p>
            <a:pPr marL="0" indent="0">
              <a:buNone/>
            </a:pPr>
            <a:r>
              <a:rPr lang="en-US" sz="2200" b="1" dirty="0">
                <a:solidFill>
                  <a:schemeClr val="bg1"/>
                </a:solidFill>
              </a:rPr>
              <a:t>Marketing management is the art and science of choosing target markets and getting, keeping, and growing customers through creating, delivering, and communicating superior customer value.</a:t>
            </a:r>
            <a:endParaRPr lang="en-US" sz="2200" b="1" dirty="0"/>
          </a:p>
        </p:txBody>
      </p:sp>
      <p:sp>
        <p:nvSpPr>
          <p:cNvPr id="7" name="Marketer card"/>
          <p:cNvSpPr/>
          <p:nvPr/>
        </p:nvSpPr>
        <p:spPr>
          <a:xfrm>
            <a:off x="7498080" y="1417320"/>
            <a:ext cx="4114800" cy="2834640"/>
          </a:xfrm>
          <a:prstGeom prst="roundRect">
            <a:avLst>
              <a:gd name="adj" fmla="val 3226"/>
            </a:avLst>
          </a:prstGeom>
          <a:solidFill>
            <a:schemeClr val="bg2"/>
          </a:solidFill>
          <a:ln/>
        </p:spPr>
        <p:txBody>
          <a:bodyPr/>
          <a:lstStyle/>
          <a:p>
            <a:endParaRPr lang="en-US"/>
          </a:p>
        </p:txBody>
      </p:sp>
      <p:sp>
        <p:nvSpPr>
          <p:cNvPr id="8" name="Icon circle"/>
          <p:cNvSpPr/>
          <p:nvPr/>
        </p:nvSpPr>
        <p:spPr>
          <a:xfrm>
            <a:off x="7772400" y="1645920"/>
            <a:ext cx="640080" cy="640080"/>
          </a:xfrm>
          <a:prstGeom prst="ellipse">
            <a:avLst/>
          </a:prstGeom>
          <a:solidFill>
            <a:schemeClr val="accent1"/>
          </a:solidFill>
          <a:ln/>
        </p:spPr>
        <p:txBody>
          <a:bodyPr/>
          <a:lstStyle/>
          <a:p>
            <a:endParaRPr lang="en-US"/>
          </a:p>
        </p:txBody>
      </p:sp>
      <p:pic>
        <p:nvPicPr>
          <p:cNvPr id="9" name="Icon" descr="UserTie icon"/>
          <p:cNvPicPr>
            <a:picLocks noChangeAspect="1"/>
          </p:cNvPicPr>
          <p:nvPr/>
        </p:nvPicPr>
        <p:blipFill>
          <a:blip r:embed="rId3"/>
          <a:stretch>
            <a:fillRect/>
          </a:stretch>
        </p:blipFill>
        <p:spPr>
          <a:xfrm>
            <a:off x="7932420" y="1805940"/>
            <a:ext cx="320040" cy="320040"/>
          </a:xfrm>
          <a:prstGeom prst="rect">
            <a:avLst/>
          </a:prstGeom>
        </p:spPr>
      </p:pic>
      <p:sp>
        <p:nvSpPr>
          <p:cNvPr id="10" name="Text"/>
          <p:cNvSpPr txBox="1"/>
          <p:nvPr/>
        </p:nvSpPr>
        <p:spPr>
          <a:xfrm>
            <a:off x="8595360" y="1645920"/>
            <a:ext cx="2926080" cy="640080"/>
          </a:xfrm>
          <a:prstGeom prst="rect">
            <a:avLst/>
          </a:prstGeom>
          <a:noFill/>
          <a:ln/>
        </p:spPr>
        <p:txBody>
          <a:bodyPr wrap="square" lIns="0" tIns="0" rIns="0" bIns="0" rtlCol="0" anchor="ctr"/>
          <a:lstStyle/>
          <a:p>
            <a:pPr marL="0" indent="0">
              <a:buNone/>
            </a:pPr>
            <a:r>
              <a:rPr lang="en-US" sz="2000" b="1" dirty="0">
                <a:solidFill>
                  <a:schemeClr val="tx2"/>
                </a:solidFill>
              </a:rPr>
              <a:t>Who is a marketer?</a:t>
            </a:r>
            <a:endParaRPr lang="en-US" sz="2000" dirty="0"/>
          </a:p>
        </p:txBody>
      </p:sp>
      <p:sp>
        <p:nvSpPr>
          <p:cNvPr id="11" name="Text"/>
          <p:cNvSpPr txBox="1"/>
          <p:nvPr/>
        </p:nvSpPr>
        <p:spPr>
          <a:xfrm>
            <a:off x="7772400" y="2514600"/>
            <a:ext cx="3566160" cy="1554480"/>
          </a:xfrm>
          <a:prstGeom prst="rect">
            <a:avLst/>
          </a:prstGeom>
          <a:noFill/>
          <a:ln/>
        </p:spPr>
        <p:txBody>
          <a:bodyPr wrap="square" lIns="0" tIns="0" rIns="0" bIns="0" rtlCol="0" anchor="t"/>
          <a:lstStyle/>
          <a:p>
            <a:pPr marL="0" indent="0">
              <a:buNone/>
            </a:pPr>
            <a:r>
              <a:rPr lang="en-US" sz="1600" dirty="0">
                <a:solidFill>
                  <a:schemeClr val="tx1"/>
                </a:solidFill>
              </a:rPr>
              <a:t>Someone who seeks a response (attention, a purchase, a vote, a donation) from another party, the prospect.</a:t>
            </a:r>
            <a:endParaRPr lang="en-US" sz="1600" dirty="0"/>
          </a:p>
        </p:txBody>
      </p:sp>
      <p:sp>
        <p:nvSpPr>
          <p:cNvPr id="12" name="Part card"/>
          <p:cNvSpPr/>
          <p:nvPr/>
        </p:nvSpPr>
        <p:spPr>
          <a:xfrm>
            <a:off x="548640" y="4480560"/>
            <a:ext cx="3566160" cy="1645920"/>
          </a:xfrm>
          <a:prstGeom prst="roundRect">
            <a:avLst>
              <a:gd name="adj" fmla="val 5556"/>
            </a:avLst>
          </a:prstGeom>
          <a:solidFill>
            <a:schemeClr val="bg2"/>
          </a:solidFill>
          <a:ln/>
        </p:spPr>
        <p:txBody>
          <a:bodyPr/>
          <a:lstStyle/>
          <a:p>
            <a:endParaRPr lang="en-US"/>
          </a:p>
        </p:txBody>
      </p:sp>
      <p:sp>
        <p:nvSpPr>
          <p:cNvPr id="13" name="Icon circle"/>
          <p:cNvSpPr/>
          <p:nvPr/>
        </p:nvSpPr>
        <p:spPr>
          <a:xfrm>
            <a:off x="777240" y="4709160"/>
            <a:ext cx="640080" cy="640080"/>
          </a:xfrm>
          <a:prstGeom prst="ellipse">
            <a:avLst/>
          </a:prstGeom>
          <a:solidFill>
            <a:schemeClr val="accent3"/>
          </a:solidFill>
          <a:ln/>
        </p:spPr>
        <p:txBody>
          <a:bodyPr/>
          <a:lstStyle/>
          <a:p>
            <a:endParaRPr lang="en-US"/>
          </a:p>
        </p:txBody>
      </p:sp>
      <p:pic>
        <p:nvPicPr>
          <p:cNvPr id="14" name="Icon" descr="Bullseye icon"/>
          <p:cNvPicPr>
            <a:picLocks noChangeAspect="1"/>
          </p:cNvPicPr>
          <p:nvPr/>
        </p:nvPicPr>
        <p:blipFill>
          <a:blip r:embed="rId4"/>
          <a:stretch>
            <a:fillRect/>
          </a:stretch>
        </p:blipFill>
        <p:spPr>
          <a:xfrm>
            <a:off x="937260" y="4869180"/>
            <a:ext cx="320040" cy="320040"/>
          </a:xfrm>
          <a:prstGeom prst="rect">
            <a:avLst/>
          </a:prstGeom>
        </p:spPr>
      </p:pic>
      <p:sp>
        <p:nvSpPr>
          <p:cNvPr id="15" name="Text"/>
          <p:cNvSpPr txBox="1"/>
          <p:nvPr/>
        </p:nvSpPr>
        <p:spPr>
          <a:xfrm>
            <a:off x="1554480" y="4663440"/>
            <a:ext cx="2377440" cy="777240"/>
          </a:xfrm>
          <a:prstGeom prst="rect">
            <a:avLst/>
          </a:prstGeom>
          <a:noFill/>
          <a:ln/>
        </p:spPr>
        <p:txBody>
          <a:bodyPr wrap="square" lIns="0" tIns="0" rIns="0" bIns="0" rtlCol="0" anchor="ctr"/>
          <a:lstStyle/>
          <a:p>
            <a:pPr marL="0" indent="0">
              <a:buNone/>
            </a:pPr>
            <a:r>
              <a:rPr lang="en-US" sz="2000" b="1" dirty="0">
                <a:solidFill>
                  <a:schemeClr val="tx2"/>
                </a:solidFill>
              </a:rPr>
              <a:t>Choose target markets</a:t>
            </a:r>
            <a:endParaRPr lang="en-US" sz="2000" dirty="0"/>
          </a:p>
        </p:txBody>
      </p:sp>
      <p:sp>
        <p:nvSpPr>
          <p:cNvPr id="16" name="Text"/>
          <p:cNvSpPr txBox="1"/>
          <p:nvPr/>
        </p:nvSpPr>
        <p:spPr>
          <a:xfrm>
            <a:off x="777240" y="5532120"/>
            <a:ext cx="3108960" cy="502920"/>
          </a:xfrm>
          <a:prstGeom prst="rect">
            <a:avLst/>
          </a:prstGeom>
          <a:noFill/>
          <a:ln/>
        </p:spPr>
        <p:txBody>
          <a:bodyPr wrap="square" lIns="0" tIns="0" rIns="0" bIns="0" rtlCol="0" anchor="t"/>
          <a:lstStyle/>
          <a:p>
            <a:pPr marL="0" indent="0">
              <a:buNone/>
            </a:pPr>
            <a:r>
              <a:rPr lang="en-US" sz="1600" dirty="0">
                <a:solidFill>
                  <a:schemeClr val="tx1"/>
                </a:solidFill>
              </a:rPr>
              <a:t>Decide whom to serve</a:t>
            </a:r>
            <a:endParaRPr lang="en-US" sz="1600" dirty="0"/>
          </a:p>
        </p:txBody>
      </p:sp>
      <p:sp>
        <p:nvSpPr>
          <p:cNvPr id="17" name="Part card"/>
          <p:cNvSpPr/>
          <p:nvPr/>
        </p:nvSpPr>
        <p:spPr>
          <a:xfrm>
            <a:off x="4297680" y="4480560"/>
            <a:ext cx="3566160" cy="1645920"/>
          </a:xfrm>
          <a:prstGeom prst="roundRect">
            <a:avLst>
              <a:gd name="adj" fmla="val 5556"/>
            </a:avLst>
          </a:prstGeom>
          <a:solidFill>
            <a:schemeClr val="bg2"/>
          </a:solidFill>
          <a:ln/>
        </p:spPr>
        <p:txBody>
          <a:bodyPr/>
          <a:lstStyle/>
          <a:p>
            <a:endParaRPr lang="en-US"/>
          </a:p>
        </p:txBody>
      </p:sp>
      <p:sp>
        <p:nvSpPr>
          <p:cNvPr id="18" name="Icon circle"/>
          <p:cNvSpPr/>
          <p:nvPr/>
        </p:nvSpPr>
        <p:spPr>
          <a:xfrm>
            <a:off x="4526280" y="4709160"/>
            <a:ext cx="640080" cy="640080"/>
          </a:xfrm>
          <a:prstGeom prst="ellipse">
            <a:avLst/>
          </a:prstGeom>
          <a:solidFill>
            <a:schemeClr val="accent4"/>
          </a:solidFill>
          <a:ln/>
        </p:spPr>
        <p:txBody>
          <a:bodyPr/>
          <a:lstStyle/>
          <a:p>
            <a:endParaRPr lang="en-US"/>
          </a:p>
        </p:txBody>
      </p:sp>
      <p:pic>
        <p:nvPicPr>
          <p:cNvPr id="19" name="Icon" descr="Users icon"/>
          <p:cNvPicPr>
            <a:picLocks noChangeAspect="1"/>
          </p:cNvPicPr>
          <p:nvPr/>
        </p:nvPicPr>
        <p:blipFill>
          <a:blip r:embed="rId5"/>
          <a:stretch>
            <a:fillRect/>
          </a:stretch>
        </p:blipFill>
        <p:spPr>
          <a:xfrm>
            <a:off x="4686300" y="4869180"/>
            <a:ext cx="320040" cy="320040"/>
          </a:xfrm>
          <a:prstGeom prst="rect">
            <a:avLst/>
          </a:prstGeom>
        </p:spPr>
      </p:pic>
      <p:sp>
        <p:nvSpPr>
          <p:cNvPr id="20" name="Text"/>
          <p:cNvSpPr txBox="1"/>
          <p:nvPr/>
        </p:nvSpPr>
        <p:spPr>
          <a:xfrm>
            <a:off x="5303520" y="4663440"/>
            <a:ext cx="2377440" cy="777240"/>
          </a:xfrm>
          <a:prstGeom prst="rect">
            <a:avLst/>
          </a:prstGeom>
          <a:noFill/>
          <a:ln/>
        </p:spPr>
        <p:txBody>
          <a:bodyPr wrap="square" lIns="0" tIns="0" rIns="0" bIns="0" rtlCol="0" anchor="ctr"/>
          <a:lstStyle/>
          <a:p>
            <a:pPr marL="0" indent="0">
              <a:buNone/>
            </a:pPr>
            <a:r>
              <a:rPr lang="en-US" sz="2000" b="1" dirty="0">
                <a:solidFill>
                  <a:schemeClr val="tx2"/>
                </a:solidFill>
              </a:rPr>
              <a:t>Get, keep and grow customers</a:t>
            </a:r>
            <a:endParaRPr lang="en-US" sz="2000" dirty="0"/>
          </a:p>
        </p:txBody>
      </p:sp>
      <p:sp>
        <p:nvSpPr>
          <p:cNvPr id="21" name="Text"/>
          <p:cNvSpPr txBox="1"/>
          <p:nvPr/>
        </p:nvSpPr>
        <p:spPr>
          <a:xfrm>
            <a:off x="4526280" y="5532120"/>
            <a:ext cx="3108960" cy="502920"/>
          </a:xfrm>
          <a:prstGeom prst="rect">
            <a:avLst/>
          </a:prstGeom>
          <a:noFill/>
          <a:ln/>
        </p:spPr>
        <p:txBody>
          <a:bodyPr wrap="square" lIns="0" tIns="0" rIns="0" bIns="0" rtlCol="0" anchor="t"/>
          <a:lstStyle/>
          <a:p>
            <a:pPr marL="0" indent="0">
              <a:buNone/>
            </a:pPr>
            <a:r>
              <a:rPr lang="en-US" sz="1600" dirty="0">
                <a:solidFill>
                  <a:schemeClr val="tx1"/>
                </a:solidFill>
              </a:rPr>
              <a:t>Acquire, retain and deepen relationships</a:t>
            </a:r>
            <a:endParaRPr lang="en-US" sz="1600" dirty="0"/>
          </a:p>
        </p:txBody>
      </p:sp>
      <p:sp>
        <p:nvSpPr>
          <p:cNvPr id="22" name="Part card"/>
          <p:cNvSpPr/>
          <p:nvPr/>
        </p:nvSpPr>
        <p:spPr>
          <a:xfrm>
            <a:off x="8046720" y="4480560"/>
            <a:ext cx="3566160" cy="1645920"/>
          </a:xfrm>
          <a:prstGeom prst="roundRect">
            <a:avLst>
              <a:gd name="adj" fmla="val 5556"/>
            </a:avLst>
          </a:prstGeom>
          <a:solidFill>
            <a:schemeClr val="bg2"/>
          </a:solidFill>
          <a:ln/>
        </p:spPr>
        <p:txBody>
          <a:bodyPr/>
          <a:lstStyle/>
          <a:p>
            <a:endParaRPr lang="en-US"/>
          </a:p>
        </p:txBody>
      </p:sp>
      <p:sp>
        <p:nvSpPr>
          <p:cNvPr id="23" name="Icon circle"/>
          <p:cNvSpPr/>
          <p:nvPr/>
        </p:nvSpPr>
        <p:spPr>
          <a:xfrm>
            <a:off x="8275320" y="4709160"/>
            <a:ext cx="640080" cy="640080"/>
          </a:xfrm>
          <a:prstGeom prst="ellipse">
            <a:avLst/>
          </a:prstGeom>
          <a:solidFill>
            <a:schemeClr val="accent1"/>
          </a:solidFill>
          <a:ln/>
        </p:spPr>
        <p:txBody>
          <a:bodyPr/>
          <a:lstStyle/>
          <a:p>
            <a:endParaRPr lang="en-US"/>
          </a:p>
        </p:txBody>
      </p:sp>
      <p:pic>
        <p:nvPicPr>
          <p:cNvPr id="24" name="Icon" descr="Gem icon"/>
          <p:cNvPicPr>
            <a:picLocks noChangeAspect="1"/>
          </p:cNvPicPr>
          <p:nvPr/>
        </p:nvPicPr>
        <p:blipFill>
          <a:blip r:embed="rId6"/>
          <a:stretch>
            <a:fillRect/>
          </a:stretch>
        </p:blipFill>
        <p:spPr>
          <a:xfrm>
            <a:off x="8435340" y="4869180"/>
            <a:ext cx="320040" cy="320040"/>
          </a:xfrm>
          <a:prstGeom prst="rect">
            <a:avLst/>
          </a:prstGeom>
        </p:spPr>
      </p:pic>
      <p:sp>
        <p:nvSpPr>
          <p:cNvPr id="25" name="Text"/>
          <p:cNvSpPr txBox="1"/>
          <p:nvPr/>
        </p:nvSpPr>
        <p:spPr>
          <a:xfrm>
            <a:off x="9052560" y="4663440"/>
            <a:ext cx="2377440" cy="777240"/>
          </a:xfrm>
          <a:prstGeom prst="rect">
            <a:avLst/>
          </a:prstGeom>
          <a:noFill/>
          <a:ln/>
        </p:spPr>
        <p:txBody>
          <a:bodyPr wrap="square" lIns="0" tIns="0" rIns="0" bIns="0" rtlCol="0" anchor="ctr"/>
          <a:lstStyle/>
          <a:p>
            <a:pPr marL="0" indent="0">
              <a:buNone/>
            </a:pPr>
            <a:r>
              <a:rPr lang="en-US" sz="2000" b="1" dirty="0">
                <a:solidFill>
                  <a:schemeClr val="tx2"/>
                </a:solidFill>
              </a:rPr>
              <a:t>Create, deliver and communicate value</a:t>
            </a:r>
            <a:endParaRPr lang="en-US" sz="2000" dirty="0"/>
          </a:p>
        </p:txBody>
      </p:sp>
      <p:sp>
        <p:nvSpPr>
          <p:cNvPr id="26" name="Text"/>
          <p:cNvSpPr txBox="1"/>
          <p:nvPr/>
        </p:nvSpPr>
        <p:spPr>
          <a:xfrm>
            <a:off x="8275320" y="5532120"/>
            <a:ext cx="3108960" cy="502920"/>
          </a:xfrm>
          <a:prstGeom prst="rect">
            <a:avLst/>
          </a:prstGeom>
          <a:noFill/>
          <a:ln/>
        </p:spPr>
        <p:txBody>
          <a:bodyPr wrap="square" lIns="0" tIns="0" rIns="0" bIns="0" rtlCol="0" anchor="t"/>
          <a:lstStyle/>
          <a:p>
            <a:pPr marL="0" indent="0">
              <a:buNone/>
            </a:pPr>
            <a:r>
              <a:rPr lang="en-US" sz="1600" dirty="0">
                <a:solidFill>
                  <a:schemeClr val="tx1"/>
                </a:solidFill>
              </a:rPr>
              <a:t>Build the offer, channel it and tell the story</a:t>
            </a:r>
            <a:endParaRPr lang="en-US" sz="16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20" grpId="0" animBg="1"/>
      <p:bldP spid="21" grpId="0" animBg="1"/>
      <p:bldP spid="25"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Marketing Management is Demand </a:t>
            </a:r>
            <a:r>
              <a:rPr lang="en-US" dirty="0"/>
              <a:t>M</a:t>
            </a:r>
            <a:r>
              <a:rPr lang="en-US" sz="3400" b="1" dirty="0">
                <a:solidFill>
                  <a:schemeClr val="tx2"/>
                </a:solidFill>
              </a:rPr>
              <a:t>anagement</a:t>
            </a:r>
            <a:endParaRPr lang="en-US" sz="3400" dirty="0"/>
          </a:p>
        </p:txBody>
      </p:sp>
      <p:graphicFrame>
        <p:nvGraphicFramePr>
          <p:cNvPr id="11" name="Table"/>
          <p:cNvGraphicFramePr>
            <a:graphicFrameLocks noGrp="1"/>
          </p:cNvGraphicFramePr>
          <p:nvPr>
            <p:extLst>
              <p:ext uri="{D42A27DB-BD31-4B8C-83A1-F6EECF244321}">
                <p14:modId xmlns:p14="http://schemas.microsoft.com/office/powerpoint/2010/main" val="2650670031"/>
              </p:ext>
            </p:extLst>
          </p:nvPr>
        </p:nvGraphicFramePr>
        <p:xfrm>
          <a:off x="548640" y="1417320"/>
          <a:ext cx="11064240" cy="4526280"/>
        </p:xfrm>
        <a:graphic>
          <a:graphicData uri="http://schemas.openxmlformats.org/drawingml/2006/table">
            <a:tbl>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02920">
                <a:tc>
                  <a:txBody>
                    <a:bodyPr/>
                    <a:lstStyle/>
                    <a:p>
                      <a:pPr marL="0" indent="0">
                        <a:buNone/>
                      </a:pPr>
                      <a:r>
                        <a:rPr lang="en-US" sz="1800" b="1" dirty="0">
                          <a:solidFill>
                            <a:srgbClr val="FFFFFF"/>
                          </a:solidFill>
                        </a:rPr>
                        <a:t>State of demand</a:t>
                      </a:r>
                      <a:endParaRPr lang="en-US" sz="18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800" b="1" dirty="0">
                          <a:solidFill>
                            <a:srgbClr val="FFFFFF"/>
                          </a:solidFill>
                        </a:rPr>
                        <a:t>What it means</a:t>
                      </a:r>
                      <a:endParaRPr lang="en-US" sz="18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800" b="1" dirty="0">
                          <a:solidFill>
                            <a:srgbClr val="FFFFFF"/>
                          </a:solidFill>
                        </a:rPr>
                        <a:t>Marketing task</a:t>
                      </a:r>
                      <a:endParaRPr lang="en-US" sz="18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02920">
                <a:tc>
                  <a:txBody>
                    <a:bodyPr/>
                    <a:lstStyle/>
                    <a:p>
                      <a:pPr marL="0" indent="0">
                        <a:buNone/>
                      </a:pPr>
                      <a:r>
                        <a:rPr lang="en-US" sz="1600" b="1" dirty="0">
                          <a:solidFill>
                            <a:srgbClr val="1F2A5C"/>
                          </a:solidFill>
                        </a:rPr>
                        <a:t>Negative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The market dislikes the product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Conversional 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1"/>
                  </a:ext>
                </a:extLst>
              </a:tr>
              <a:tr h="502920">
                <a:tc>
                  <a:txBody>
                    <a:bodyPr/>
                    <a:lstStyle/>
                    <a:p>
                      <a:pPr marL="0" indent="0">
                        <a:buNone/>
                      </a:pPr>
                      <a:r>
                        <a:rPr lang="en-US" sz="1600" b="1" dirty="0">
                          <a:solidFill>
                            <a:srgbClr val="1F2A5C"/>
                          </a:solidFill>
                        </a:rPr>
                        <a:t>No demand</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Target customers are unaware or uninterested</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Stimulational 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600" b="1" dirty="0">
                          <a:solidFill>
                            <a:srgbClr val="1F2A5C"/>
                          </a:solidFill>
                        </a:rPr>
                        <a:t>Latent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A strong need that existing offerings do not satisfy</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Developmental 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3"/>
                  </a:ext>
                </a:extLst>
              </a:tr>
              <a:tr h="502920">
                <a:tc>
                  <a:txBody>
                    <a:bodyPr/>
                    <a:lstStyle/>
                    <a:p>
                      <a:pPr marL="0" indent="0">
                        <a:buNone/>
                      </a:pPr>
                      <a:r>
                        <a:rPr lang="en-US" sz="1600" b="1" dirty="0">
                          <a:solidFill>
                            <a:srgbClr val="1F2A5C"/>
                          </a:solidFill>
                        </a:rPr>
                        <a:t>Declining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Demand is falling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Remarketing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600" b="1" dirty="0">
                          <a:solidFill>
                            <a:srgbClr val="1F2A5C"/>
                          </a:solidFill>
                        </a:rPr>
                        <a:t>Irregular</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Demand varies by season, day or hour</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Synchro-marketing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5"/>
                  </a:ext>
                </a:extLst>
              </a:tr>
              <a:tr h="502920">
                <a:tc>
                  <a:txBody>
                    <a:bodyPr/>
                    <a:lstStyle/>
                    <a:p>
                      <a:pPr marL="0" indent="0">
                        <a:buNone/>
                      </a:pPr>
                      <a:r>
                        <a:rPr lang="en-US" sz="1600" b="1" dirty="0">
                          <a:solidFill>
                            <a:srgbClr val="1F2A5C"/>
                          </a:solidFill>
                        </a:rPr>
                        <a:t>Full</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Current volume matches capacity</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Maintenance 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600" b="1" dirty="0">
                          <a:solidFill>
                            <a:srgbClr val="1F2A5C"/>
                          </a:solidFill>
                        </a:rPr>
                        <a:t>Overfull</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Demand exceeds the ability to serve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Demarketing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7"/>
                  </a:ext>
                </a:extLst>
              </a:tr>
              <a:tr h="502920">
                <a:tc>
                  <a:txBody>
                    <a:bodyPr/>
                    <a:lstStyle/>
                    <a:p>
                      <a:pPr marL="0" indent="0">
                        <a:buNone/>
                      </a:pPr>
                      <a:r>
                        <a:rPr lang="en-US" sz="1600" b="1" dirty="0">
                          <a:solidFill>
                            <a:srgbClr val="1F2A5C"/>
                          </a:solidFill>
                        </a:rPr>
                        <a:t>Unwholesome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Demand for harmful products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Counter-marketing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The Five-Step </a:t>
            </a:r>
            <a:r>
              <a:rPr lang="en-US" dirty="0"/>
              <a:t>M</a:t>
            </a:r>
            <a:r>
              <a:rPr lang="en-US" sz="3400" b="1" dirty="0">
                <a:solidFill>
                  <a:schemeClr val="tx2"/>
                </a:solidFill>
              </a:rPr>
              <a:t>arketing </a:t>
            </a:r>
            <a:r>
              <a:rPr lang="en-US" dirty="0"/>
              <a:t>P</a:t>
            </a:r>
            <a:r>
              <a:rPr lang="en-US" sz="3400" b="1" dirty="0">
                <a:solidFill>
                  <a:schemeClr val="tx2"/>
                </a:solidFill>
              </a:rPr>
              <a:t>rocess</a:t>
            </a:r>
            <a:endParaRPr lang="en-US" sz="3400" dirty="0"/>
          </a:p>
        </p:txBody>
      </p:sp>
      <p:sp>
        <p:nvSpPr>
          <p:cNvPr id="4" name="Phase band"/>
          <p:cNvSpPr/>
          <p:nvPr/>
        </p:nvSpPr>
        <p:spPr>
          <a:xfrm>
            <a:off x="548640" y="1417320"/>
            <a:ext cx="8321040" cy="502920"/>
          </a:xfrm>
          <a:prstGeom prst="roundRect">
            <a:avLst>
              <a:gd name="adj" fmla="val 18182"/>
            </a:avLst>
          </a:prstGeom>
          <a:solidFill>
            <a:schemeClr val="accent3"/>
          </a:solidFill>
          <a:ln/>
        </p:spPr>
        <p:txBody>
          <a:bodyPr/>
          <a:lstStyle/>
          <a:p>
            <a:endParaRPr lang="en-US"/>
          </a:p>
        </p:txBody>
      </p:sp>
      <p:sp>
        <p:nvSpPr>
          <p:cNvPr id="5" name="Text"/>
          <p:cNvSpPr txBox="1"/>
          <p:nvPr/>
        </p:nvSpPr>
        <p:spPr>
          <a:xfrm>
            <a:off x="548640" y="1417320"/>
            <a:ext cx="8321040" cy="502920"/>
          </a:xfrm>
          <a:prstGeom prst="rect">
            <a:avLst/>
          </a:prstGeom>
          <a:noFill/>
          <a:ln/>
        </p:spPr>
        <p:txBody>
          <a:bodyPr wrap="square" lIns="0" tIns="0" rIns="0" bIns="0" rtlCol="0" anchor="ctr"/>
          <a:lstStyle/>
          <a:p>
            <a:pPr marL="0" indent="0" algn="ctr">
              <a:buNone/>
            </a:pPr>
            <a:r>
              <a:rPr lang="en-US" sz="2000" b="1" dirty="0">
                <a:solidFill>
                  <a:schemeClr val="bg1"/>
                </a:solidFill>
              </a:rPr>
              <a:t>Create value for customers and build customer relationships</a:t>
            </a:r>
            <a:endParaRPr lang="en-US" sz="2000" dirty="0"/>
          </a:p>
        </p:txBody>
      </p:sp>
      <p:sp>
        <p:nvSpPr>
          <p:cNvPr id="6" name="Phase band"/>
          <p:cNvSpPr/>
          <p:nvPr/>
        </p:nvSpPr>
        <p:spPr>
          <a:xfrm>
            <a:off x="9052560" y="1417320"/>
            <a:ext cx="2560320" cy="502920"/>
          </a:xfrm>
          <a:prstGeom prst="roundRect">
            <a:avLst>
              <a:gd name="adj" fmla="val 18182"/>
            </a:avLst>
          </a:prstGeom>
          <a:solidFill>
            <a:schemeClr val="accent1"/>
          </a:solidFill>
          <a:ln/>
        </p:spPr>
        <p:txBody>
          <a:bodyPr/>
          <a:lstStyle/>
          <a:p>
            <a:endParaRPr lang="en-US"/>
          </a:p>
        </p:txBody>
      </p:sp>
      <p:sp>
        <p:nvSpPr>
          <p:cNvPr id="7" name="Text"/>
          <p:cNvSpPr txBox="1"/>
          <p:nvPr/>
        </p:nvSpPr>
        <p:spPr>
          <a:xfrm>
            <a:off x="9052560" y="1417320"/>
            <a:ext cx="2560320" cy="502920"/>
          </a:xfrm>
          <a:prstGeom prst="rect">
            <a:avLst/>
          </a:prstGeom>
          <a:noFill/>
          <a:ln/>
        </p:spPr>
        <p:txBody>
          <a:bodyPr wrap="square" lIns="0" tIns="0" rIns="0" bIns="0" rtlCol="0" anchor="ctr"/>
          <a:lstStyle/>
          <a:p>
            <a:pPr marL="0" indent="0" algn="ctr">
              <a:buNone/>
            </a:pPr>
            <a:r>
              <a:rPr lang="en-US" sz="2000" b="1" dirty="0">
                <a:solidFill>
                  <a:schemeClr val="bg1"/>
                </a:solidFill>
              </a:rPr>
              <a:t>Capture value in return</a:t>
            </a:r>
            <a:endParaRPr lang="en-US" sz="2000" dirty="0"/>
          </a:p>
        </p:txBody>
      </p:sp>
      <p:sp>
        <p:nvSpPr>
          <p:cNvPr id="8" name="Step card"/>
          <p:cNvSpPr/>
          <p:nvPr/>
        </p:nvSpPr>
        <p:spPr>
          <a:xfrm>
            <a:off x="548640" y="2148840"/>
            <a:ext cx="2011680" cy="3566160"/>
          </a:xfrm>
          <a:prstGeom prst="roundRect">
            <a:avLst>
              <a:gd name="adj" fmla="val 4545"/>
            </a:avLst>
          </a:prstGeom>
          <a:solidFill>
            <a:schemeClr val="bg2"/>
          </a:solidFill>
          <a:ln/>
        </p:spPr>
        <p:txBody>
          <a:bodyPr/>
          <a:lstStyle/>
          <a:p>
            <a:endParaRPr lang="en-US"/>
          </a:p>
        </p:txBody>
      </p:sp>
      <p:sp>
        <p:nvSpPr>
          <p:cNvPr id="9" name="Number circle"/>
          <p:cNvSpPr/>
          <p:nvPr/>
        </p:nvSpPr>
        <p:spPr>
          <a:xfrm>
            <a:off x="777240" y="2377440"/>
            <a:ext cx="594360" cy="594360"/>
          </a:xfrm>
          <a:prstGeom prst="ellipse">
            <a:avLst/>
          </a:prstGeom>
          <a:solidFill>
            <a:schemeClr val="accent3"/>
          </a:solidFill>
          <a:ln/>
        </p:spPr>
        <p:txBody>
          <a:bodyPr/>
          <a:lstStyle/>
          <a:p>
            <a:endParaRPr lang="en-US"/>
          </a:p>
        </p:txBody>
      </p:sp>
      <p:sp>
        <p:nvSpPr>
          <p:cNvPr id="10" name="Number"/>
          <p:cNvSpPr txBox="1"/>
          <p:nvPr/>
        </p:nvSpPr>
        <p:spPr>
          <a:xfrm>
            <a:off x="777240" y="237744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11" name="Text"/>
          <p:cNvSpPr txBox="1"/>
          <p:nvPr/>
        </p:nvSpPr>
        <p:spPr>
          <a:xfrm>
            <a:off x="731520" y="3154680"/>
            <a:ext cx="1691640" cy="1417320"/>
          </a:xfrm>
          <a:prstGeom prst="rect">
            <a:avLst/>
          </a:prstGeom>
          <a:noFill/>
          <a:ln/>
        </p:spPr>
        <p:txBody>
          <a:bodyPr wrap="square" lIns="0" tIns="0" rIns="0" bIns="0" rtlCol="0" anchor="t"/>
          <a:lstStyle/>
          <a:p>
            <a:pPr marL="0" indent="0">
              <a:buNone/>
            </a:pPr>
            <a:r>
              <a:rPr lang="en-US" b="1" dirty="0">
                <a:solidFill>
                  <a:schemeClr val="tx2"/>
                </a:solidFill>
              </a:rPr>
              <a:t>Understand the marketplace and customer needs and wants</a:t>
            </a:r>
            <a:endParaRPr lang="en-US" dirty="0"/>
          </a:p>
        </p:txBody>
      </p:sp>
      <p:sp>
        <p:nvSpPr>
          <p:cNvPr id="12" name="Text"/>
          <p:cNvSpPr txBox="1"/>
          <p:nvPr/>
        </p:nvSpPr>
        <p:spPr>
          <a:xfrm>
            <a:off x="777240" y="4754880"/>
            <a:ext cx="1691640" cy="1005840"/>
          </a:xfrm>
          <a:prstGeom prst="rect">
            <a:avLst/>
          </a:prstGeom>
          <a:noFill/>
          <a:ln/>
        </p:spPr>
        <p:txBody>
          <a:bodyPr wrap="square" lIns="0" tIns="0" rIns="0" bIns="0" rtlCol="0" anchor="t"/>
          <a:lstStyle/>
          <a:p>
            <a:pPr marL="0" indent="0">
              <a:buNone/>
            </a:pPr>
            <a:r>
              <a:rPr lang="en-US" sz="1600" dirty="0">
                <a:solidFill>
                  <a:schemeClr val="tx1"/>
                </a:solidFill>
              </a:rPr>
              <a:t>Study needs, wants, demands, offerings and markets</a:t>
            </a:r>
            <a:endParaRPr lang="en-US" sz="1600" dirty="0"/>
          </a:p>
        </p:txBody>
      </p:sp>
      <p:sp>
        <p:nvSpPr>
          <p:cNvPr id="13" name="Arrow"/>
          <p:cNvSpPr/>
          <p:nvPr/>
        </p:nvSpPr>
        <p:spPr>
          <a:xfrm>
            <a:off x="2578608" y="3749040"/>
            <a:ext cx="228600" cy="320040"/>
          </a:xfrm>
          <a:prstGeom prst="rightArrow">
            <a:avLst/>
          </a:prstGeom>
          <a:solidFill>
            <a:schemeClr val="accent6"/>
          </a:solidFill>
          <a:ln/>
        </p:spPr>
        <p:txBody>
          <a:bodyPr/>
          <a:lstStyle/>
          <a:p>
            <a:endParaRPr lang="en-US"/>
          </a:p>
        </p:txBody>
      </p:sp>
      <p:sp>
        <p:nvSpPr>
          <p:cNvPr id="14" name="Step card"/>
          <p:cNvSpPr/>
          <p:nvPr/>
        </p:nvSpPr>
        <p:spPr>
          <a:xfrm>
            <a:off x="2811780" y="2148840"/>
            <a:ext cx="2011680" cy="3566160"/>
          </a:xfrm>
          <a:prstGeom prst="roundRect">
            <a:avLst>
              <a:gd name="adj" fmla="val 4545"/>
            </a:avLst>
          </a:prstGeom>
          <a:solidFill>
            <a:schemeClr val="bg2"/>
          </a:solidFill>
          <a:ln/>
        </p:spPr>
        <p:txBody>
          <a:bodyPr/>
          <a:lstStyle/>
          <a:p>
            <a:endParaRPr lang="en-US"/>
          </a:p>
        </p:txBody>
      </p:sp>
      <p:sp>
        <p:nvSpPr>
          <p:cNvPr id="15" name="Number circle"/>
          <p:cNvSpPr/>
          <p:nvPr/>
        </p:nvSpPr>
        <p:spPr>
          <a:xfrm>
            <a:off x="3040380" y="2377440"/>
            <a:ext cx="594360" cy="594360"/>
          </a:xfrm>
          <a:prstGeom prst="ellipse">
            <a:avLst/>
          </a:prstGeom>
          <a:solidFill>
            <a:schemeClr val="accent3"/>
          </a:solidFill>
          <a:ln/>
        </p:spPr>
        <p:txBody>
          <a:bodyPr/>
          <a:lstStyle/>
          <a:p>
            <a:endParaRPr lang="en-US"/>
          </a:p>
        </p:txBody>
      </p:sp>
      <p:sp>
        <p:nvSpPr>
          <p:cNvPr id="16" name="Number"/>
          <p:cNvSpPr txBox="1"/>
          <p:nvPr/>
        </p:nvSpPr>
        <p:spPr>
          <a:xfrm>
            <a:off x="3040380" y="237744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7" name="Text"/>
          <p:cNvSpPr txBox="1"/>
          <p:nvPr/>
        </p:nvSpPr>
        <p:spPr>
          <a:xfrm>
            <a:off x="2994660" y="3154680"/>
            <a:ext cx="1691640" cy="1417320"/>
          </a:xfrm>
          <a:prstGeom prst="rect">
            <a:avLst/>
          </a:prstGeom>
          <a:noFill/>
          <a:ln/>
        </p:spPr>
        <p:txBody>
          <a:bodyPr wrap="square" lIns="0" tIns="0" rIns="0" bIns="0" rtlCol="0" anchor="t"/>
          <a:lstStyle/>
          <a:p>
            <a:pPr marL="0" indent="0">
              <a:buNone/>
            </a:pPr>
            <a:r>
              <a:rPr lang="en-US" b="1" dirty="0">
                <a:solidFill>
                  <a:schemeClr val="tx2"/>
                </a:solidFill>
              </a:rPr>
              <a:t>Design a customer-driven marketing strategy</a:t>
            </a:r>
            <a:endParaRPr lang="en-US" dirty="0"/>
          </a:p>
        </p:txBody>
      </p:sp>
      <p:sp>
        <p:nvSpPr>
          <p:cNvPr id="18" name="Text"/>
          <p:cNvSpPr txBox="1"/>
          <p:nvPr/>
        </p:nvSpPr>
        <p:spPr>
          <a:xfrm>
            <a:off x="2933700" y="4791269"/>
            <a:ext cx="1935480" cy="1005840"/>
          </a:xfrm>
          <a:prstGeom prst="rect">
            <a:avLst/>
          </a:prstGeom>
          <a:noFill/>
          <a:ln/>
        </p:spPr>
        <p:txBody>
          <a:bodyPr wrap="square" lIns="0" tIns="0" rIns="0" bIns="0" rtlCol="0" anchor="t"/>
          <a:lstStyle/>
          <a:p>
            <a:pPr marL="0" indent="0">
              <a:buNone/>
            </a:pPr>
            <a:r>
              <a:rPr lang="en-US" sz="1600" dirty="0">
                <a:solidFill>
                  <a:schemeClr val="tx1"/>
                </a:solidFill>
              </a:rPr>
              <a:t>Choose whom to serve and how: segmentation, targeting, positioning</a:t>
            </a:r>
            <a:endParaRPr lang="en-US" sz="1600" dirty="0"/>
          </a:p>
        </p:txBody>
      </p:sp>
      <p:sp>
        <p:nvSpPr>
          <p:cNvPr id="19" name="Arrow"/>
          <p:cNvSpPr/>
          <p:nvPr/>
        </p:nvSpPr>
        <p:spPr>
          <a:xfrm>
            <a:off x="4841748" y="3749040"/>
            <a:ext cx="228600" cy="320040"/>
          </a:xfrm>
          <a:prstGeom prst="rightArrow">
            <a:avLst/>
          </a:prstGeom>
          <a:solidFill>
            <a:schemeClr val="accent6"/>
          </a:solidFill>
          <a:ln/>
        </p:spPr>
        <p:txBody>
          <a:bodyPr/>
          <a:lstStyle/>
          <a:p>
            <a:endParaRPr lang="en-US"/>
          </a:p>
        </p:txBody>
      </p:sp>
      <p:sp>
        <p:nvSpPr>
          <p:cNvPr id="20" name="Step card"/>
          <p:cNvSpPr/>
          <p:nvPr/>
        </p:nvSpPr>
        <p:spPr>
          <a:xfrm>
            <a:off x="5074920" y="2148840"/>
            <a:ext cx="2011680" cy="3566160"/>
          </a:xfrm>
          <a:prstGeom prst="roundRect">
            <a:avLst>
              <a:gd name="adj" fmla="val 4545"/>
            </a:avLst>
          </a:prstGeom>
          <a:solidFill>
            <a:schemeClr val="bg2"/>
          </a:solidFill>
          <a:ln/>
        </p:spPr>
        <p:txBody>
          <a:bodyPr/>
          <a:lstStyle/>
          <a:p>
            <a:endParaRPr lang="en-US"/>
          </a:p>
        </p:txBody>
      </p:sp>
      <p:sp>
        <p:nvSpPr>
          <p:cNvPr id="21" name="Number circle"/>
          <p:cNvSpPr/>
          <p:nvPr/>
        </p:nvSpPr>
        <p:spPr>
          <a:xfrm>
            <a:off x="5303520" y="2377440"/>
            <a:ext cx="594360" cy="594360"/>
          </a:xfrm>
          <a:prstGeom prst="ellipse">
            <a:avLst/>
          </a:prstGeom>
          <a:solidFill>
            <a:schemeClr val="accent3"/>
          </a:solidFill>
          <a:ln/>
        </p:spPr>
        <p:txBody>
          <a:bodyPr/>
          <a:lstStyle/>
          <a:p>
            <a:endParaRPr lang="en-US"/>
          </a:p>
        </p:txBody>
      </p:sp>
      <p:sp>
        <p:nvSpPr>
          <p:cNvPr id="22" name="Number"/>
          <p:cNvSpPr txBox="1"/>
          <p:nvPr/>
        </p:nvSpPr>
        <p:spPr>
          <a:xfrm>
            <a:off x="5303520" y="237744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23" name="Text"/>
          <p:cNvSpPr txBox="1"/>
          <p:nvPr/>
        </p:nvSpPr>
        <p:spPr>
          <a:xfrm>
            <a:off x="5257800" y="3154680"/>
            <a:ext cx="1691640" cy="1417320"/>
          </a:xfrm>
          <a:prstGeom prst="rect">
            <a:avLst/>
          </a:prstGeom>
          <a:noFill/>
          <a:ln/>
        </p:spPr>
        <p:txBody>
          <a:bodyPr wrap="square" lIns="0" tIns="0" rIns="0" bIns="0" rtlCol="0" anchor="t"/>
          <a:lstStyle/>
          <a:p>
            <a:pPr marL="0" indent="0">
              <a:buNone/>
            </a:pPr>
            <a:r>
              <a:rPr lang="en-US" b="1" dirty="0">
                <a:solidFill>
                  <a:schemeClr val="tx2"/>
                </a:solidFill>
              </a:rPr>
              <a:t>Construct an integrated marketing program</a:t>
            </a:r>
            <a:endParaRPr lang="en-US" dirty="0"/>
          </a:p>
        </p:txBody>
      </p:sp>
      <p:sp>
        <p:nvSpPr>
          <p:cNvPr id="24" name="Text"/>
          <p:cNvSpPr txBox="1"/>
          <p:nvPr/>
        </p:nvSpPr>
        <p:spPr>
          <a:xfrm>
            <a:off x="5257800" y="4777740"/>
            <a:ext cx="1828800" cy="1005840"/>
          </a:xfrm>
          <a:prstGeom prst="rect">
            <a:avLst/>
          </a:prstGeom>
          <a:noFill/>
          <a:ln/>
        </p:spPr>
        <p:txBody>
          <a:bodyPr wrap="square" lIns="0" tIns="0" rIns="0" bIns="0" rtlCol="0" anchor="t"/>
          <a:lstStyle/>
          <a:p>
            <a:pPr marL="0" indent="0">
              <a:buNone/>
            </a:pPr>
            <a:r>
              <a:rPr lang="en-US" sz="1600" dirty="0">
                <a:solidFill>
                  <a:schemeClr val="tx1"/>
                </a:solidFill>
              </a:rPr>
              <a:t>Product, price, place and promotion deliver superior value</a:t>
            </a:r>
            <a:endParaRPr lang="en-US" sz="1600" dirty="0"/>
          </a:p>
        </p:txBody>
      </p:sp>
      <p:sp>
        <p:nvSpPr>
          <p:cNvPr id="25" name="Arrow"/>
          <p:cNvSpPr/>
          <p:nvPr/>
        </p:nvSpPr>
        <p:spPr>
          <a:xfrm>
            <a:off x="7104888" y="3749040"/>
            <a:ext cx="228600" cy="320040"/>
          </a:xfrm>
          <a:prstGeom prst="rightArrow">
            <a:avLst/>
          </a:prstGeom>
          <a:solidFill>
            <a:schemeClr val="accent6"/>
          </a:solidFill>
          <a:ln/>
        </p:spPr>
        <p:txBody>
          <a:bodyPr/>
          <a:lstStyle/>
          <a:p>
            <a:endParaRPr lang="en-US"/>
          </a:p>
        </p:txBody>
      </p:sp>
      <p:sp>
        <p:nvSpPr>
          <p:cNvPr id="26" name="Step card"/>
          <p:cNvSpPr/>
          <p:nvPr/>
        </p:nvSpPr>
        <p:spPr>
          <a:xfrm>
            <a:off x="7338060" y="2148840"/>
            <a:ext cx="2011680" cy="3566160"/>
          </a:xfrm>
          <a:prstGeom prst="roundRect">
            <a:avLst>
              <a:gd name="adj" fmla="val 4545"/>
            </a:avLst>
          </a:prstGeom>
          <a:solidFill>
            <a:schemeClr val="bg2"/>
          </a:solidFill>
          <a:ln/>
        </p:spPr>
        <p:txBody>
          <a:bodyPr/>
          <a:lstStyle/>
          <a:p>
            <a:endParaRPr lang="en-US"/>
          </a:p>
        </p:txBody>
      </p:sp>
      <p:sp>
        <p:nvSpPr>
          <p:cNvPr id="27" name="Number circle"/>
          <p:cNvSpPr/>
          <p:nvPr/>
        </p:nvSpPr>
        <p:spPr>
          <a:xfrm>
            <a:off x="7566660" y="2377440"/>
            <a:ext cx="594360" cy="594360"/>
          </a:xfrm>
          <a:prstGeom prst="ellipse">
            <a:avLst/>
          </a:prstGeom>
          <a:solidFill>
            <a:schemeClr val="accent3"/>
          </a:solidFill>
          <a:ln/>
        </p:spPr>
        <p:txBody>
          <a:bodyPr/>
          <a:lstStyle/>
          <a:p>
            <a:endParaRPr lang="en-US"/>
          </a:p>
        </p:txBody>
      </p:sp>
      <p:sp>
        <p:nvSpPr>
          <p:cNvPr id="28" name="Number"/>
          <p:cNvSpPr txBox="1"/>
          <p:nvPr/>
        </p:nvSpPr>
        <p:spPr>
          <a:xfrm>
            <a:off x="7566660" y="237744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9" name="Text"/>
          <p:cNvSpPr txBox="1"/>
          <p:nvPr/>
        </p:nvSpPr>
        <p:spPr>
          <a:xfrm>
            <a:off x="7520940" y="3154680"/>
            <a:ext cx="1691640" cy="1417320"/>
          </a:xfrm>
          <a:prstGeom prst="rect">
            <a:avLst/>
          </a:prstGeom>
          <a:noFill/>
          <a:ln/>
        </p:spPr>
        <p:txBody>
          <a:bodyPr wrap="square" lIns="0" tIns="0" rIns="0" bIns="0" rtlCol="0" anchor="t"/>
          <a:lstStyle/>
          <a:p>
            <a:pPr marL="0" indent="0">
              <a:buNone/>
            </a:pPr>
            <a:r>
              <a:rPr lang="en-US" b="1" dirty="0">
                <a:solidFill>
                  <a:schemeClr val="tx2"/>
                </a:solidFill>
              </a:rPr>
              <a:t>Build customer relationships and create customer delight</a:t>
            </a:r>
            <a:endParaRPr lang="en-US" dirty="0"/>
          </a:p>
        </p:txBody>
      </p:sp>
      <p:sp>
        <p:nvSpPr>
          <p:cNvPr id="30" name="Text"/>
          <p:cNvSpPr txBox="1"/>
          <p:nvPr/>
        </p:nvSpPr>
        <p:spPr>
          <a:xfrm>
            <a:off x="7551420" y="4809931"/>
            <a:ext cx="1706880" cy="1005840"/>
          </a:xfrm>
          <a:prstGeom prst="rect">
            <a:avLst/>
          </a:prstGeom>
          <a:noFill/>
          <a:ln/>
        </p:spPr>
        <p:txBody>
          <a:bodyPr wrap="square" lIns="0" tIns="0" rIns="0" bIns="0" rtlCol="0" anchor="t"/>
          <a:lstStyle/>
          <a:p>
            <a:pPr marL="0" indent="0">
              <a:buNone/>
            </a:pPr>
            <a:r>
              <a:rPr lang="en-US" sz="1600" dirty="0">
                <a:solidFill>
                  <a:schemeClr val="tx1"/>
                </a:solidFill>
              </a:rPr>
              <a:t>Engage customers and manage relationships</a:t>
            </a:r>
            <a:endParaRPr lang="en-US" sz="1600" dirty="0"/>
          </a:p>
        </p:txBody>
      </p:sp>
      <p:sp>
        <p:nvSpPr>
          <p:cNvPr id="31" name="Arrow"/>
          <p:cNvSpPr/>
          <p:nvPr/>
        </p:nvSpPr>
        <p:spPr>
          <a:xfrm>
            <a:off x="9368028" y="3749040"/>
            <a:ext cx="228600" cy="320040"/>
          </a:xfrm>
          <a:prstGeom prst="rightArrow">
            <a:avLst/>
          </a:prstGeom>
          <a:solidFill>
            <a:schemeClr val="accent6"/>
          </a:solidFill>
          <a:ln/>
        </p:spPr>
        <p:txBody>
          <a:bodyPr/>
          <a:lstStyle/>
          <a:p>
            <a:endParaRPr lang="en-US"/>
          </a:p>
        </p:txBody>
      </p:sp>
      <p:sp>
        <p:nvSpPr>
          <p:cNvPr id="32" name="Step card"/>
          <p:cNvSpPr/>
          <p:nvPr/>
        </p:nvSpPr>
        <p:spPr>
          <a:xfrm>
            <a:off x="9601200" y="2148840"/>
            <a:ext cx="2011680" cy="3566160"/>
          </a:xfrm>
          <a:prstGeom prst="roundRect">
            <a:avLst>
              <a:gd name="adj" fmla="val 4545"/>
            </a:avLst>
          </a:prstGeom>
          <a:solidFill>
            <a:schemeClr val="bg2"/>
          </a:solidFill>
          <a:ln/>
        </p:spPr>
        <p:txBody>
          <a:bodyPr/>
          <a:lstStyle/>
          <a:p>
            <a:endParaRPr lang="en-US"/>
          </a:p>
        </p:txBody>
      </p:sp>
      <p:sp>
        <p:nvSpPr>
          <p:cNvPr id="33" name="Number circle"/>
          <p:cNvSpPr/>
          <p:nvPr/>
        </p:nvSpPr>
        <p:spPr>
          <a:xfrm>
            <a:off x="9829800" y="2377440"/>
            <a:ext cx="594360" cy="594360"/>
          </a:xfrm>
          <a:prstGeom prst="ellipse">
            <a:avLst/>
          </a:prstGeom>
          <a:solidFill>
            <a:schemeClr val="accent1"/>
          </a:solidFill>
          <a:ln/>
        </p:spPr>
        <p:txBody>
          <a:bodyPr/>
          <a:lstStyle/>
          <a:p>
            <a:endParaRPr lang="en-US"/>
          </a:p>
        </p:txBody>
      </p:sp>
      <p:sp>
        <p:nvSpPr>
          <p:cNvPr id="34" name="Number"/>
          <p:cNvSpPr txBox="1"/>
          <p:nvPr/>
        </p:nvSpPr>
        <p:spPr>
          <a:xfrm>
            <a:off x="9829800" y="237744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35" name="Text"/>
          <p:cNvSpPr txBox="1"/>
          <p:nvPr/>
        </p:nvSpPr>
        <p:spPr>
          <a:xfrm>
            <a:off x="9784080" y="3154680"/>
            <a:ext cx="1691640" cy="1417320"/>
          </a:xfrm>
          <a:prstGeom prst="rect">
            <a:avLst/>
          </a:prstGeom>
          <a:noFill/>
          <a:ln/>
        </p:spPr>
        <p:txBody>
          <a:bodyPr wrap="square" lIns="0" tIns="0" rIns="0" bIns="0" rtlCol="0" anchor="t"/>
          <a:lstStyle/>
          <a:p>
            <a:pPr marL="0" indent="0">
              <a:buNone/>
            </a:pPr>
            <a:r>
              <a:rPr lang="en-US" b="1" dirty="0">
                <a:solidFill>
                  <a:schemeClr val="tx2"/>
                </a:solidFill>
              </a:rPr>
              <a:t>Capture value from customers to create profits and customer equity</a:t>
            </a:r>
            <a:endParaRPr lang="en-US" dirty="0"/>
          </a:p>
        </p:txBody>
      </p:sp>
      <p:sp>
        <p:nvSpPr>
          <p:cNvPr id="36" name="Text"/>
          <p:cNvSpPr txBox="1"/>
          <p:nvPr/>
        </p:nvSpPr>
        <p:spPr>
          <a:xfrm>
            <a:off x="9768840" y="4791269"/>
            <a:ext cx="1691640" cy="1005840"/>
          </a:xfrm>
          <a:prstGeom prst="rect">
            <a:avLst/>
          </a:prstGeom>
          <a:noFill/>
          <a:ln/>
        </p:spPr>
        <p:txBody>
          <a:bodyPr wrap="square" lIns="0" tIns="0" rIns="0" bIns="0" rtlCol="0" anchor="t"/>
          <a:lstStyle/>
          <a:p>
            <a:pPr marL="0" indent="0">
              <a:buNone/>
            </a:pPr>
            <a:r>
              <a:rPr lang="en-US" sz="1600" dirty="0">
                <a:solidFill>
                  <a:schemeClr val="tx1"/>
                </a:solidFill>
              </a:rPr>
              <a:t>Sales, profit, loyalty and lifetime value</a:t>
            </a:r>
            <a:endParaRPr lang="en-US" sz="1600" dirty="0"/>
          </a:p>
        </p:txBody>
      </p:sp>
      <p:sp>
        <p:nvSpPr>
          <p:cNvPr id="37" name="Text"/>
          <p:cNvSpPr txBox="1"/>
          <p:nvPr/>
        </p:nvSpPr>
        <p:spPr>
          <a:xfrm>
            <a:off x="548640" y="5897880"/>
            <a:ext cx="11064240" cy="274320"/>
          </a:xfrm>
          <a:prstGeom prst="rect">
            <a:avLst/>
          </a:prstGeom>
          <a:noFill/>
          <a:ln/>
        </p:spPr>
        <p:txBody>
          <a:bodyPr wrap="square" lIns="0" tIns="0" rIns="0" bIns="0" rtlCol="0" anchor="t"/>
          <a:lstStyle/>
          <a:p>
            <a:pPr marL="0" indent="0">
              <a:buNone/>
            </a:pPr>
            <a:r>
              <a:rPr lang="en-US" sz="1200" i="1" dirty="0">
                <a:solidFill>
                  <a:schemeClr val="accent6"/>
                </a:solidFill>
              </a:rPr>
              <a:t>Source: Armstrong &amp; Kotler, a simple model of the marketing process</a:t>
            </a:r>
            <a:endParaRPr lang="en-US" sz="12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7" grpId="0" animBg="1"/>
      <p:bldP spid="18" grpId="0" animBg="1"/>
      <p:bldP spid="23" grpId="0" animBg="1"/>
      <p:bldP spid="24" grpId="0" animBg="1"/>
      <p:bldP spid="29" grpId="0" animBg="1"/>
      <p:bldP spid="30" grpId="0" animBg="1"/>
      <p:bldP spid="35" grpId="0" animBg="1"/>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Customer-Driven </a:t>
            </a:r>
            <a:r>
              <a:rPr lang="en-US" dirty="0"/>
              <a:t>M</a:t>
            </a:r>
            <a:r>
              <a:rPr lang="en-US" sz="3400" b="1" dirty="0">
                <a:solidFill>
                  <a:schemeClr val="tx2"/>
                </a:solidFill>
              </a:rPr>
              <a:t>arketing </a:t>
            </a:r>
            <a:r>
              <a:rPr lang="en-US" dirty="0"/>
              <a:t>S</a:t>
            </a:r>
            <a:r>
              <a:rPr lang="en-US" sz="3400" b="1" dirty="0">
                <a:solidFill>
                  <a:schemeClr val="tx2"/>
                </a:solidFill>
              </a:rPr>
              <a:t>trategy</a:t>
            </a:r>
            <a:endParaRPr lang="en-US" sz="3400" dirty="0"/>
          </a:p>
        </p:txBody>
      </p:sp>
      <p:sp>
        <p:nvSpPr>
          <p:cNvPr id="4" name="Strategy panel"/>
          <p:cNvSpPr/>
          <p:nvPr/>
        </p:nvSpPr>
        <p:spPr>
          <a:xfrm>
            <a:off x="548640" y="1417320"/>
            <a:ext cx="5440680" cy="3794760"/>
          </a:xfrm>
          <a:prstGeom prst="roundRect">
            <a:avLst>
              <a:gd name="adj" fmla="val 2410"/>
            </a:avLst>
          </a:prstGeom>
          <a:solidFill>
            <a:schemeClr val="bg2"/>
          </a:solidFill>
          <a:ln/>
        </p:spPr>
        <p:txBody>
          <a:bodyPr/>
          <a:lstStyle/>
          <a:p>
            <a:endParaRPr lang="en-US"/>
          </a:p>
        </p:txBody>
      </p:sp>
      <p:sp>
        <p:nvSpPr>
          <p:cNvPr id="5" name="Text"/>
          <p:cNvSpPr txBox="1"/>
          <p:nvPr/>
        </p:nvSpPr>
        <p:spPr>
          <a:xfrm>
            <a:off x="822960" y="1600200"/>
            <a:ext cx="4846320" cy="320040"/>
          </a:xfrm>
          <a:prstGeom prst="rect">
            <a:avLst/>
          </a:prstGeom>
          <a:noFill/>
          <a:ln/>
        </p:spPr>
        <p:txBody>
          <a:bodyPr wrap="square" lIns="0" tIns="0" rIns="0" bIns="0" rtlCol="0" anchor="t"/>
          <a:lstStyle/>
          <a:p>
            <a:pPr marL="0" indent="0">
              <a:buNone/>
            </a:pPr>
            <a:r>
              <a:rPr lang="en-US" sz="2000" b="1" dirty="0">
                <a:solidFill>
                  <a:schemeClr val="accent1"/>
                </a:solidFill>
              </a:rPr>
              <a:t>WHOM WILL WE SERVE?</a:t>
            </a:r>
            <a:endParaRPr lang="en-US" sz="2000" dirty="0"/>
          </a:p>
        </p:txBody>
      </p:sp>
      <p:sp>
        <p:nvSpPr>
          <p:cNvPr id="6" name="Icon circle"/>
          <p:cNvSpPr/>
          <p:nvPr/>
        </p:nvSpPr>
        <p:spPr>
          <a:xfrm>
            <a:off x="822960" y="2240280"/>
            <a:ext cx="685800" cy="685800"/>
          </a:xfrm>
          <a:prstGeom prst="ellipse">
            <a:avLst/>
          </a:prstGeom>
          <a:solidFill>
            <a:schemeClr val="accent3"/>
          </a:solidFill>
          <a:ln/>
        </p:spPr>
        <p:txBody>
          <a:bodyPr/>
          <a:lstStyle/>
          <a:p>
            <a:endParaRPr lang="en-US"/>
          </a:p>
        </p:txBody>
      </p:sp>
      <p:pic>
        <p:nvPicPr>
          <p:cNvPr id="7" name="Icon" descr="LayerGroup icon"/>
          <p:cNvPicPr>
            <a:picLocks noChangeAspect="1"/>
          </p:cNvPicPr>
          <p:nvPr/>
        </p:nvPicPr>
        <p:blipFill>
          <a:blip r:embed="rId3"/>
          <a:stretch>
            <a:fillRect/>
          </a:stretch>
        </p:blipFill>
        <p:spPr>
          <a:xfrm>
            <a:off x="994410" y="2411730"/>
            <a:ext cx="342900" cy="342900"/>
          </a:xfrm>
          <a:prstGeom prst="rect">
            <a:avLst/>
          </a:prstGeom>
        </p:spPr>
      </p:pic>
      <p:sp>
        <p:nvSpPr>
          <p:cNvPr id="8" name="Text"/>
          <p:cNvSpPr txBox="1"/>
          <p:nvPr/>
        </p:nvSpPr>
        <p:spPr>
          <a:xfrm>
            <a:off x="1737360" y="2148840"/>
            <a:ext cx="3931920" cy="1371600"/>
          </a:xfrm>
          <a:prstGeom prst="rect">
            <a:avLst/>
          </a:prstGeom>
          <a:noFill/>
          <a:ln/>
        </p:spPr>
        <p:txBody>
          <a:bodyPr wrap="square" lIns="0" tIns="0" rIns="0" bIns="0" rtlCol="0" anchor="t"/>
          <a:lstStyle/>
          <a:p>
            <a:pPr marL="0" indent="0">
              <a:spcAft>
                <a:spcPts val="300"/>
              </a:spcAft>
              <a:buNone/>
            </a:pPr>
            <a:r>
              <a:rPr lang="en-US" sz="1800" b="1" dirty="0">
                <a:solidFill>
                  <a:schemeClr val="tx2"/>
                </a:solidFill>
              </a:rPr>
              <a:t>Market segmentation</a:t>
            </a:r>
            <a:endParaRPr lang="en-US" sz="1400" dirty="0"/>
          </a:p>
          <a:p>
            <a:pPr marL="0" indent="0">
              <a:spcAft>
                <a:spcPts val="300"/>
              </a:spcAft>
              <a:buNone/>
            </a:pPr>
            <a:r>
              <a:rPr lang="en-US" sz="1600" dirty="0">
                <a:solidFill>
                  <a:schemeClr val="tx1"/>
                </a:solidFill>
              </a:rPr>
              <a:t>Dividing a market into smaller groups of buyers with distinct needs, characteristics or behaviors.</a:t>
            </a:r>
            <a:endParaRPr lang="en-US" sz="1600" dirty="0"/>
          </a:p>
        </p:txBody>
      </p:sp>
      <p:sp>
        <p:nvSpPr>
          <p:cNvPr id="9" name="Icon circle"/>
          <p:cNvSpPr/>
          <p:nvPr/>
        </p:nvSpPr>
        <p:spPr>
          <a:xfrm>
            <a:off x="822960" y="3749040"/>
            <a:ext cx="685800" cy="685800"/>
          </a:xfrm>
          <a:prstGeom prst="ellipse">
            <a:avLst/>
          </a:prstGeom>
          <a:solidFill>
            <a:schemeClr val="accent1"/>
          </a:solidFill>
          <a:ln/>
        </p:spPr>
        <p:txBody>
          <a:bodyPr/>
          <a:lstStyle/>
          <a:p>
            <a:endParaRPr lang="en-US"/>
          </a:p>
        </p:txBody>
      </p:sp>
      <p:pic>
        <p:nvPicPr>
          <p:cNvPr id="10" name="Icon" descr="Bullseye icon"/>
          <p:cNvPicPr>
            <a:picLocks noChangeAspect="1"/>
          </p:cNvPicPr>
          <p:nvPr/>
        </p:nvPicPr>
        <p:blipFill>
          <a:blip r:embed="rId4"/>
          <a:stretch>
            <a:fillRect/>
          </a:stretch>
        </p:blipFill>
        <p:spPr>
          <a:xfrm>
            <a:off x="994410" y="3920490"/>
            <a:ext cx="342900" cy="342900"/>
          </a:xfrm>
          <a:prstGeom prst="rect">
            <a:avLst/>
          </a:prstGeom>
        </p:spPr>
      </p:pic>
      <p:sp>
        <p:nvSpPr>
          <p:cNvPr id="11" name="Text"/>
          <p:cNvSpPr txBox="1"/>
          <p:nvPr/>
        </p:nvSpPr>
        <p:spPr>
          <a:xfrm>
            <a:off x="1737360" y="3657600"/>
            <a:ext cx="3931920" cy="1371600"/>
          </a:xfrm>
          <a:prstGeom prst="rect">
            <a:avLst/>
          </a:prstGeom>
          <a:noFill/>
          <a:ln/>
        </p:spPr>
        <p:txBody>
          <a:bodyPr wrap="square" lIns="0" tIns="0" rIns="0" bIns="0" rtlCol="0" anchor="t"/>
          <a:lstStyle/>
          <a:p>
            <a:pPr marL="0" indent="0">
              <a:spcAft>
                <a:spcPts val="300"/>
              </a:spcAft>
              <a:buNone/>
            </a:pPr>
            <a:r>
              <a:rPr lang="en-US" sz="1800" b="1" dirty="0">
                <a:solidFill>
                  <a:schemeClr val="tx2"/>
                </a:solidFill>
              </a:rPr>
              <a:t>Market targeting</a:t>
            </a:r>
            <a:endParaRPr lang="en-US" sz="1400" dirty="0"/>
          </a:p>
          <a:p>
            <a:pPr marL="0" indent="0">
              <a:spcAft>
                <a:spcPts val="300"/>
              </a:spcAft>
              <a:buNone/>
            </a:pPr>
            <a:r>
              <a:rPr lang="en-US" sz="1600" dirty="0">
                <a:solidFill>
                  <a:schemeClr val="tx1"/>
                </a:solidFill>
              </a:rPr>
              <a:t>Evaluating each segment's attractiveness and selecting one or more segments to enter.</a:t>
            </a:r>
            <a:endParaRPr lang="en-US" sz="1600" dirty="0"/>
          </a:p>
        </p:txBody>
      </p:sp>
      <p:sp>
        <p:nvSpPr>
          <p:cNvPr id="12" name="Strategy panel"/>
          <p:cNvSpPr/>
          <p:nvPr/>
        </p:nvSpPr>
        <p:spPr>
          <a:xfrm>
            <a:off x="6172200" y="1417320"/>
            <a:ext cx="5440680" cy="3794760"/>
          </a:xfrm>
          <a:prstGeom prst="roundRect">
            <a:avLst>
              <a:gd name="adj" fmla="val 2410"/>
            </a:avLst>
          </a:prstGeom>
          <a:solidFill>
            <a:schemeClr val="bg2"/>
          </a:solidFill>
          <a:ln/>
        </p:spPr>
        <p:txBody>
          <a:bodyPr/>
          <a:lstStyle/>
          <a:p>
            <a:endParaRPr lang="en-US"/>
          </a:p>
        </p:txBody>
      </p:sp>
      <p:sp>
        <p:nvSpPr>
          <p:cNvPr id="13" name="Text"/>
          <p:cNvSpPr txBox="1"/>
          <p:nvPr/>
        </p:nvSpPr>
        <p:spPr>
          <a:xfrm>
            <a:off x="6446520" y="1600200"/>
            <a:ext cx="4846320" cy="320040"/>
          </a:xfrm>
          <a:prstGeom prst="rect">
            <a:avLst/>
          </a:prstGeom>
          <a:noFill/>
          <a:ln/>
        </p:spPr>
        <p:txBody>
          <a:bodyPr wrap="square" lIns="0" tIns="0" rIns="0" bIns="0" rtlCol="0" anchor="t"/>
          <a:lstStyle/>
          <a:p>
            <a:pPr marL="0" indent="0">
              <a:buNone/>
            </a:pPr>
            <a:r>
              <a:rPr lang="en-US" sz="2000" b="1" dirty="0">
                <a:solidFill>
                  <a:schemeClr val="accent1"/>
                </a:solidFill>
              </a:rPr>
              <a:t>HOW CAN WE SERVE THEM BEST?</a:t>
            </a:r>
            <a:endParaRPr lang="en-US" sz="2000" dirty="0"/>
          </a:p>
        </p:txBody>
      </p:sp>
      <p:sp>
        <p:nvSpPr>
          <p:cNvPr id="14" name="Icon circle"/>
          <p:cNvSpPr/>
          <p:nvPr/>
        </p:nvSpPr>
        <p:spPr>
          <a:xfrm>
            <a:off x="6446520" y="2240280"/>
            <a:ext cx="685800" cy="685800"/>
          </a:xfrm>
          <a:prstGeom prst="ellipse">
            <a:avLst/>
          </a:prstGeom>
          <a:solidFill>
            <a:schemeClr val="accent4"/>
          </a:solidFill>
          <a:ln/>
        </p:spPr>
        <p:txBody>
          <a:bodyPr/>
          <a:lstStyle/>
          <a:p>
            <a:endParaRPr lang="en-US"/>
          </a:p>
        </p:txBody>
      </p:sp>
      <p:pic>
        <p:nvPicPr>
          <p:cNvPr id="15" name="Icon" descr="Gem icon"/>
          <p:cNvPicPr>
            <a:picLocks noChangeAspect="1"/>
          </p:cNvPicPr>
          <p:nvPr/>
        </p:nvPicPr>
        <p:blipFill>
          <a:blip r:embed="rId5"/>
          <a:stretch>
            <a:fillRect/>
          </a:stretch>
        </p:blipFill>
        <p:spPr>
          <a:xfrm>
            <a:off x="6617970" y="2411730"/>
            <a:ext cx="342900" cy="342900"/>
          </a:xfrm>
          <a:prstGeom prst="rect">
            <a:avLst/>
          </a:prstGeom>
        </p:spPr>
      </p:pic>
      <p:sp>
        <p:nvSpPr>
          <p:cNvPr id="16" name="Text"/>
          <p:cNvSpPr txBox="1"/>
          <p:nvPr/>
        </p:nvSpPr>
        <p:spPr>
          <a:xfrm>
            <a:off x="7360920" y="2148840"/>
            <a:ext cx="3931920" cy="1371600"/>
          </a:xfrm>
          <a:prstGeom prst="rect">
            <a:avLst/>
          </a:prstGeom>
          <a:noFill/>
          <a:ln/>
        </p:spPr>
        <p:txBody>
          <a:bodyPr wrap="square" lIns="0" tIns="0" rIns="0" bIns="0" rtlCol="0" anchor="t"/>
          <a:lstStyle/>
          <a:p>
            <a:pPr marL="0" indent="0">
              <a:spcAft>
                <a:spcPts val="300"/>
              </a:spcAft>
              <a:buNone/>
            </a:pPr>
            <a:r>
              <a:rPr lang="en-US" sz="1800" b="1" dirty="0">
                <a:solidFill>
                  <a:schemeClr val="tx2"/>
                </a:solidFill>
              </a:rPr>
              <a:t>Differentiation</a:t>
            </a:r>
            <a:endParaRPr lang="en-US" sz="1400" dirty="0"/>
          </a:p>
          <a:p>
            <a:pPr marL="0" indent="0">
              <a:spcAft>
                <a:spcPts val="300"/>
              </a:spcAft>
              <a:buNone/>
            </a:pPr>
            <a:r>
              <a:rPr lang="en-US" sz="1600" dirty="0">
                <a:solidFill>
                  <a:schemeClr val="tx1"/>
                </a:solidFill>
              </a:rPr>
              <a:t>Differentiating the market offering to create superior customer value.</a:t>
            </a:r>
            <a:endParaRPr lang="en-US" sz="1600" dirty="0"/>
          </a:p>
        </p:txBody>
      </p:sp>
      <p:sp>
        <p:nvSpPr>
          <p:cNvPr id="17" name="Icon circle"/>
          <p:cNvSpPr/>
          <p:nvPr/>
        </p:nvSpPr>
        <p:spPr>
          <a:xfrm>
            <a:off x="6446520" y="3749040"/>
            <a:ext cx="685800" cy="685800"/>
          </a:xfrm>
          <a:prstGeom prst="ellipse">
            <a:avLst/>
          </a:prstGeom>
          <a:solidFill>
            <a:schemeClr val="accent5"/>
          </a:solidFill>
          <a:ln/>
        </p:spPr>
        <p:txBody>
          <a:bodyPr/>
          <a:lstStyle/>
          <a:p>
            <a:endParaRPr lang="en-US"/>
          </a:p>
        </p:txBody>
      </p:sp>
      <p:pic>
        <p:nvPicPr>
          <p:cNvPr id="18" name="Icon" descr="Flag icon"/>
          <p:cNvPicPr>
            <a:picLocks noChangeAspect="1"/>
          </p:cNvPicPr>
          <p:nvPr/>
        </p:nvPicPr>
        <p:blipFill>
          <a:blip r:embed="rId6"/>
          <a:stretch>
            <a:fillRect/>
          </a:stretch>
        </p:blipFill>
        <p:spPr>
          <a:xfrm>
            <a:off x="6617970" y="3920490"/>
            <a:ext cx="342900" cy="342900"/>
          </a:xfrm>
          <a:prstGeom prst="rect">
            <a:avLst/>
          </a:prstGeom>
        </p:spPr>
      </p:pic>
      <p:sp>
        <p:nvSpPr>
          <p:cNvPr id="19" name="Text"/>
          <p:cNvSpPr txBox="1"/>
          <p:nvPr/>
        </p:nvSpPr>
        <p:spPr>
          <a:xfrm>
            <a:off x="7360920" y="3657600"/>
            <a:ext cx="3931920" cy="1371600"/>
          </a:xfrm>
          <a:prstGeom prst="rect">
            <a:avLst/>
          </a:prstGeom>
          <a:noFill/>
          <a:ln/>
        </p:spPr>
        <p:txBody>
          <a:bodyPr wrap="square" lIns="0" tIns="0" rIns="0" bIns="0" rtlCol="0" anchor="t"/>
          <a:lstStyle/>
          <a:p>
            <a:pPr marL="0" indent="0">
              <a:spcAft>
                <a:spcPts val="300"/>
              </a:spcAft>
              <a:buNone/>
            </a:pPr>
            <a:r>
              <a:rPr lang="en-US" sz="1800" b="1" dirty="0">
                <a:solidFill>
                  <a:schemeClr val="tx2"/>
                </a:solidFill>
              </a:rPr>
              <a:t>Positioning</a:t>
            </a:r>
            <a:endParaRPr lang="en-US" sz="1400" dirty="0"/>
          </a:p>
          <a:p>
            <a:pPr marL="0" indent="0">
              <a:spcAft>
                <a:spcPts val="300"/>
              </a:spcAft>
              <a:buNone/>
            </a:pPr>
            <a:r>
              <a:rPr lang="en-US" sz="1600" dirty="0">
                <a:solidFill>
                  <a:schemeClr val="tx1"/>
                </a:solidFill>
              </a:rPr>
              <a:t>Arranging for the offering to occupy a clear, distinctive and desirable place in target customers' minds.</a:t>
            </a:r>
            <a:endParaRPr lang="en-US" sz="1600" dirty="0"/>
          </a:p>
        </p:txBody>
      </p:sp>
      <p:sp>
        <p:nvSpPr>
          <p:cNvPr id="20" name="Callout"/>
          <p:cNvSpPr/>
          <p:nvPr/>
        </p:nvSpPr>
        <p:spPr>
          <a:xfrm>
            <a:off x="548640" y="5440680"/>
            <a:ext cx="11064240" cy="731520"/>
          </a:xfrm>
          <a:prstGeom prst="roundRect">
            <a:avLst>
              <a:gd name="adj" fmla="val 12500"/>
            </a:avLst>
          </a:prstGeom>
          <a:solidFill>
            <a:schemeClr val="tx2"/>
          </a:solidFill>
          <a:ln/>
        </p:spPr>
        <p:txBody>
          <a:bodyPr/>
          <a:lstStyle/>
          <a:p>
            <a:endParaRPr lang="en-US"/>
          </a:p>
        </p:txBody>
      </p:sp>
      <p:sp>
        <p:nvSpPr>
          <p:cNvPr id="21" name="Text"/>
          <p:cNvSpPr txBox="1"/>
          <p:nvPr/>
        </p:nvSpPr>
        <p:spPr>
          <a:xfrm>
            <a:off x="822960" y="5440680"/>
            <a:ext cx="10515600" cy="731520"/>
          </a:xfrm>
          <a:prstGeom prst="rect">
            <a:avLst/>
          </a:prstGeom>
          <a:noFill/>
          <a:ln/>
        </p:spPr>
        <p:txBody>
          <a:bodyPr wrap="square" lIns="0" tIns="0" rIns="0" bIns="0" rtlCol="0" anchor="ctr"/>
          <a:lstStyle/>
          <a:p>
            <a:pPr marL="0" indent="0">
              <a:buNone/>
            </a:pPr>
            <a:r>
              <a:rPr lang="en-US" dirty="0">
                <a:solidFill>
                  <a:schemeClr val="bg1"/>
                </a:solidFill>
              </a:rPr>
              <a:t>The result is a value proposition: the set of benefits or values the company promises to deliver to satisfy customers' needs</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The Marketing </a:t>
            </a:r>
            <a:r>
              <a:rPr lang="en-US" dirty="0"/>
              <a:t>M</a:t>
            </a:r>
            <a:r>
              <a:rPr lang="en-US" sz="3400" b="1" dirty="0">
                <a:solidFill>
                  <a:schemeClr val="tx2"/>
                </a:solidFill>
              </a:rPr>
              <a:t>ix: From 4Ps to Holistic 4Ps</a:t>
            </a:r>
            <a:endParaRPr lang="en-US" sz="3400" dirty="0"/>
          </a:p>
        </p:txBody>
      </p:sp>
      <p:graphicFrame>
        <p:nvGraphicFramePr>
          <p:cNvPr id="14" name="Table"/>
          <p:cNvGraphicFramePr>
            <a:graphicFrameLocks noGrp="1"/>
          </p:cNvGraphicFramePr>
          <p:nvPr>
            <p:extLst>
              <p:ext uri="{D42A27DB-BD31-4B8C-83A1-F6EECF244321}">
                <p14:modId xmlns:p14="http://schemas.microsoft.com/office/powerpoint/2010/main" val="677941043"/>
              </p:ext>
            </p:extLst>
          </p:nvPr>
        </p:nvGraphicFramePr>
        <p:xfrm>
          <a:off x="548640" y="1463040"/>
          <a:ext cx="6583680" cy="3931920"/>
        </p:xfrm>
        <a:graphic>
          <a:graphicData uri="http://schemas.openxmlformats.org/drawingml/2006/table">
            <a:tbl>
              <a:tblPr/>
              <a:tblGrid>
                <a:gridCol w="1371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pPr marL="0" indent="0">
                        <a:buNone/>
                      </a:pPr>
                      <a:r>
                        <a:rPr lang="en-US" sz="1600" b="1" dirty="0">
                          <a:solidFill>
                            <a:srgbClr val="FFFFFF"/>
                          </a:solidFill>
                        </a:rPr>
                        <a:t>Seller's 4Ps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Buyer's 4Cs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What it covers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68680">
                <a:tc>
                  <a:txBody>
                    <a:bodyPr/>
                    <a:lstStyle/>
                    <a:p>
                      <a:pPr marL="0" indent="0">
                        <a:buNone/>
                      </a:pPr>
                      <a:r>
                        <a:rPr lang="en-US" sz="1600" b="1" dirty="0">
                          <a:solidFill>
                            <a:srgbClr val="1F2A5C"/>
                          </a:solidFill>
                        </a:rPr>
                        <a:t>Product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Customer solution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Variety, quality, design, brand name, packaging and services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1"/>
                  </a:ext>
                </a:extLst>
              </a:tr>
              <a:tr h="868680">
                <a:tc>
                  <a:txBody>
                    <a:bodyPr/>
                    <a:lstStyle/>
                    <a:p>
                      <a:pPr marL="0" indent="0">
                        <a:buNone/>
                      </a:pPr>
                      <a:r>
                        <a:rPr lang="en-US" sz="1600" b="1" dirty="0">
                          <a:solidFill>
                            <a:srgbClr val="1F2A5C"/>
                          </a:solidFill>
                        </a:rPr>
                        <a:t>Price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Customer cost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List price, discounts, allowances, payment and credit terms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600" b="1" dirty="0">
                          <a:solidFill>
                            <a:srgbClr val="1F2A5C"/>
                          </a:solidFill>
                        </a:rPr>
                        <a:t>Place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Convenience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Channels, coverage, locations, inventory and logistics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3"/>
                  </a:ext>
                </a:extLst>
              </a:tr>
              <a:tr h="868680">
                <a:tc>
                  <a:txBody>
                    <a:bodyPr/>
                    <a:lstStyle/>
                    <a:p>
                      <a:pPr marL="0" indent="0">
                        <a:buNone/>
                      </a:pPr>
                      <a:r>
                        <a:rPr lang="en-US" sz="1600" b="1" dirty="0">
                          <a:solidFill>
                            <a:srgbClr val="1F2A5C"/>
                          </a:solidFill>
                        </a:rPr>
                        <a:t>Promotion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Communication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Advertising, personal selling, sales promotion and public relations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p:cNvSpPr txBox="1"/>
          <p:nvPr/>
        </p:nvSpPr>
        <p:spPr>
          <a:xfrm>
            <a:off x="548640" y="5669280"/>
            <a:ext cx="6583680" cy="365760"/>
          </a:xfrm>
          <a:prstGeom prst="rect">
            <a:avLst/>
          </a:prstGeom>
          <a:noFill/>
          <a:ln/>
        </p:spPr>
        <p:txBody>
          <a:bodyPr wrap="square" lIns="0" tIns="0" rIns="0" bIns="0" rtlCol="0" anchor="t"/>
          <a:lstStyle/>
          <a:p>
            <a:pPr marL="0" indent="0">
              <a:buNone/>
            </a:pPr>
            <a:r>
              <a:rPr lang="en-US" i="1" dirty="0">
                <a:solidFill>
                  <a:schemeClr val="accent1"/>
                </a:solidFill>
              </a:rPr>
              <a:t>Think like the buyer: every P IN THE 4Ps has a matching C.</a:t>
            </a:r>
            <a:endParaRPr lang="en-US" dirty="0"/>
          </a:p>
        </p:txBody>
      </p:sp>
      <p:sp>
        <p:nvSpPr>
          <p:cNvPr id="6" name="Holistic panel"/>
          <p:cNvSpPr/>
          <p:nvPr/>
        </p:nvSpPr>
        <p:spPr>
          <a:xfrm>
            <a:off x="7406640" y="1463040"/>
            <a:ext cx="4206240" cy="4663440"/>
          </a:xfrm>
          <a:prstGeom prst="roundRect">
            <a:avLst>
              <a:gd name="adj" fmla="val 2174"/>
            </a:avLst>
          </a:prstGeom>
          <a:solidFill>
            <a:schemeClr val="tx2"/>
          </a:solidFill>
          <a:ln/>
        </p:spPr>
        <p:txBody>
          <a:bodyPr/>
          <a:lstStyle/>
          <a:p>
            <a:endParaRPr lang="en-US"/>
          </a:p>
        </p:txBody>
      </p:sp>
      <p:sp>
        <p:nvSpPr>
          <p:cNvPr id="7" name="Text"/>
          <p:cNvSpPr txBox="1"/>
          <p:nvPr/>
        </p:nvSpPr>
        <p:spPr>
          <a:xfrm>
            <a:off x="7680960" y="1691640"/>
            <a:ext cx="3657600" cy="365760"/>
          </a:xfrm>
          <a:prstGeom prst="rect">
            <a:avLst/>
          </a:prstGeom>
          <a:noFill/>
          <a:ln/>
        </p:spPr>
        <p:txBody>
          <a:bodyPr wrap="square" lIns="0" tIns="0" rIns="0" bIns="0" rtlCol="0" anchor="t"/>
          <a:lstStyle/>
          <a:p>
            <a:pPr marL="0" indent="0">
              <a:buNone/>
            </a:pPr>
            <a:r>
              <a:rPr lang="en-US" sz="1800" b="1" dirty="0">
                <a:solidFill>
                  <a:schemeClr val="accent2"/>
                </a:solidFill>
              </a:rPr>
              <a:t>Holistic 4Ps (Kotler &amp; Keller)</a:t>
            </a:r>
            <a:endParaRPr lang="en-US" sz="1800" dirty="0"/>
          </a:p>
        </p:txBody>
      </p:sp>
      <p:sp>
        <p:nvSpPr>
          <p:cNvPr id="8" name="Text"/>
          <p:cNvSpPr txBox="1"/>
          <p:nvPr/>
        </p:nvSpPr>
        <p:spPr>
          <a:xfrm>
            <a:off x="7680960" y="2286000"/>
            <a:ext cx="3657600" cy="3657600"/>
          </a:xfrm>
          <a:prstGeom prst="rect">
            <a:avLst/>
          </a:prstGeom>
          <a:noFill/>
          <a:ln/>
        </p:spPr>
        <p:txBody>
          <a:bodyPr wrap="square" lIns="0" tIns="0" rIns="0" bIns="0" rtlCol="0" anchor="t"/>
          <a:lstStyle/>
          <a:p>
            <a:pPr marL="0" indent="0">
              <a:buNone/>
            </a:pPr>
            <a:r>
              <a:rPr lang="en-US" sz="1600" b="1" dirty="0">
                <a:solidFill>
                  <a:schemeClr val="bg1"/>
                </a:solidFill>
              </a:rPr>
              <a:t>People</a:t>
            </a:r>
            <a:endParaRPr lang="en-US" sz="1600" dirty="0"/>
          </a:p>
          <a:p>
            <a:pPr marL="0" indent="0">
              <a:spcAft>
                <a:spcPts val="1000"/>
              </a:spcAft>
              <a:buNone/>
            </a:pPr>
            <a:r>
              <a:rPr lang="en-US" sz="1600" dirty="0">
                <a:solidFill>
                  <a:schemeClr val="bg2"/>
                </a:solidFill>
              </a:rPr>
              <a:t>Employees and customers; people deliver the brand promise.</a:t>
            </a:r>
            <a:endParaRPr lang="en-US" sz="1600" dirty="0"/>
          </a:p>
          <a:p>
            <a:pPr marL="0" indent="0">
              <a:buNone/>
            </a:pPr>
            <a:r>
              <a:rPr lang="en-US" sz="1600" b="1" dirty="0">
                <a:solidFill>
                  <a:schemeClr val="bg1"/>
                </a:solidFill>
              </a:rPr>
              <a:t>Processes</a:t>
            </a:r>
            <a:endParaRPr lang="en-US" sz="1600" dirty="0"/>
          </a:p>
          <a:p>
            <a:pPr marL="0" indent="0">
              <a:spcAft>
                <a:spcPts val="1000"/>
              </a:spcAft>
              <a:buNone/>
            </a:pPr>
            <a:r>
              <a:rPr lang="en-US" sz="1600" dirty="0">
                <a:solidFill>
                  <a:schemeClr val="bg2"/>
                </a:solidFill>
              </a:rPr>
              <a:t>Creativity, discipline and structure in marketing management.</a:t>
            </a:r>
            <a:endParaRPr lang="en-US" sz="1600" dirty="0"/>
          </a:p>
          <a:p>
            <a:pPr marL="0" indent="0">
              <a:buNone/>
            </a:pPr>
            <a:r>
              <a:rPr lang="en-US" sz="1600" b="1" dirty="0">
                <a:solidFill>
                  <a:schemeClr val="bg1"/>
                </a:solidFill>
              </a:rPr>
              <a:t>Programs</a:t>
            </a:r>
            <a:endParaRPr lang="en-US" sz="1600" dirty="0"/>
          </a:p>
          <a:p>
            <a:pPr marL="0" indent="0">
              <a:spcAft>
                <a:spcPts val="1000"/>
              </a:spcAft>
              <a:buNone/>
            </a:pPr>
            <a:r>
              <a:rPr lang="en-US" sz="1600" dirty="0">
                <a:solidFill>
                  <a:schemeClr val="bg2"/>
                </a:solidFill>
              </a:rPr>
              <a:t>All consumer-directed activities, beyond the traditional mix.</a:t>
            </a:r>
            <a:endParaRPr lang="en-US" sz="1600" dirty="0"/>
          </a:p>
          <a:p>
            <a:pPr marL="0" indent="0">
              <a:buNone/>
            </a:pPr>
            <a:r>
              <a:rPr lang="en-US" sz="1600" b="1" dirty="0">
                <a:solidFill>
                  <a:schemeClr val="bg1"/>
                </a:solidFill>
              </a:rPr>
              <a:t>Performance</a:t>
            </a:r>
            <a:endParaRPr lang="en-US" sz="1600" dirty="0"/>
          </a:p>
          <a:p>
            <a:pPr marL="0" indent="0">
              <a:spcAft>
                <a:spcPts val="1000"/>
              </a:spcAft>
              <a:buNone/>
            </a:pPr>
            <a:r>
              <a:rPr lang="en-US" sz="1600" dirty="0">
                <a:solidFill>
                  <a:schemeClr val="bg2"/>
                </a:solidFill>
              </a:rPr>
              <a:t>Financial returns plus ethics, society, law and the environment.</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The Tasks of Marketing </a:t>
            </a:r>
            <a:r>
              <a:rPr lang="en-US" dirty="0"/>
              <a:t>M</a:t>
            </a:r>
            <a:r>
              <a:rPr lang="en-US" sz="3400" b="1" dirty="0">
                <a:solidFill>
                  <a:schemeClr val="tx2"/>
                </a:solidFill>
              </a:rPr>
              <a:t>anagement</a:t>
            </a:r>
            <a:endParaRPr lang="en-US" sz="3400" dirty="0"/>
          </a:p>
        </p:txBody>
      </p:sp>
      <p:sp>
        <p:nvSpPr>
          <p:cNvPr id="4" name="Task card"/>
          <p:cNvSpPr/>
          <p:nvPr/>
        </p:nvSpPr>
        <p:spPr>
          <a:xfrm>
            <a:off x="548640" y="1417320"/>
            <a:ext cx="2651760" cy="2286000"/>
          </a:xfrm>
          <a:prstGeom prst="roundRect">
            <a:avLst>
              <a:gd name="adj" fmla="val 4000"/>
            </a:avLst>
          </a:prstGeom>
          <a:solidFill>
            <a:schemeClr val="bg2"/>
          </a:solidFill>
          <a:ln/>
        </p:spPr>
        <p:txBody>
          <a:bodyPr/>
          <a:lstStyle/>
          <a:p>
            <a:endParaRPr lang="en-US"/>
          </a:p>
        </p:txBody>
      </p:sp>
      <p:sp>
        <p:nvSpPr>
          <p:cNvPr id="5" name="Icon circle"/>
          <p:cNvSpPr/>
          <p:nvPr/>
        </p:nvSpPr>
        <p:spPr>
          <a:xfrm>
            <a:off x="777240" y="1645920"/>
            <a:ext cx="548640" cy="548640"/>
          </a:xfrm>
          <a:prstGeom prst="ellipse">
            <a:avLst/>
          </a:prstGeom>
          <a:solidFill>
            <a:schemeClr val="accent1"/>
          </a:solidFill>
          <a:ln/>
        </p:spPr>
        <p:txBody>
          <a:bodyPr/>
          <a:lstStyle/>
          <a:p>
            <a:endParaRPr lang="en-US"/>
          </a:p>
        </p:txBody>
      </p:sp>
      <p:pic>
        <p:nvPicPr>
          <p:cNvPr id="6" name="Icon" descr="Compass icon"/>
          <p:cNvPicPr>
            <a:picLocks noChangeAspect="1"/>
          </p:cNvPicPr>
          <p:nvPr/>
        </p:nvPicPr>
        <p:blipFill>
          <a:blip r:embed="rId3"/>
          <a:stretch>
            <a:fillRect/>
          </a:stretch>
        </p:blipFill>
        <p:spPr>
          <a:xfrm>
            <a:off x="914400" y="1783080"/>
            <a:ext cx="274320" cy="274320"/>
          </a:xfrm>
          <a:prstGeom prst="rect">
            <a:avLst/>
          </a:prstGeom>
        </p:spPr>
      </p:pic>
      <p:sp>
        <p:nvSpPr>
          <p:cNvPr id="7" name="Text"/>
          <p:cNvSpPr txBox="1"/>
          <p:nvPr/>
        </p:nvSpPr>
        <p:spPr>
          <a:xfrm>
            <a:off x="777240" y="2331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Developing strategies and plans</a:t>
            </a:r>
            <a:endParaRPr lang="en-US" sz="1600" dirty="0"/>
          </a:p>
          <a:p>
            <a:pPr marL="0" indent="0">
              <a:spcAft>
                <a:spcPts val="300"/>
              </a:spcAft>
              <a:buNone/>
            </a:pPr>
            <a:r>
              <a:rPr lang="en-US" sz="1600" dirty="0">
                <a:solidFill>
                  <a:schemeClr val="tx1"/>
                </a:solidFill>
              </a:rPr>
              <a:t>Link marketing strategy to corporate goals and plan for each business.</a:t>
            </a:r>
            <a:endParaRPr lang="en-US" sz="1600" dirty="0"/>
          </a:p>
        </p:txBody>
      </p:sp>
      <p:sp>
        <p:nvSpPr>
          <p:cNvPr id="8" name="Task card"/>
          <p:cNvSpPr/>
          <p:nvPr/>
        </p:nvSpPr>
        <p:spPr>
          <a:xfrm>
            <a:off x="3355848" y="1417320"/>
            <a:ext cx="2651760" cy="2286000"/>
          </a:xfrm>
          <a:prstGeom prst="roundRect">
            <a:avLst>
              <a:gd name="adj" fmla="val 4000"/>
            </a:avLst>
          </a:prstGeom>
          <a:solidFill>
            <a:schemeClr val="bg2"/>
          </a:solidFill>
          <a:ln/>
        </p:spPr>
        <p:txBody>
          <a:bodyPr/>
          <a:lstStyle/>
          <a:p>
            <a:endParaRPr lang="en-US" dirty="0"/>
          </a:p>
        </p:txBody>
      </p:sp>
      <p:sp>
        <p:nvSpPr>
          <p:cNvPr id="9" name="Icon circle"/>
          <p:cNvSpPr/>
          <p:nvPr/>
        </p:nvSpPr>
        <p:spPr>
          <a:xfrm>
            <a:off x="3584448" y="1645920"/>
            <a:ext cx="548640" cy="548640"/>
          </a:xfrm>
          <a:prstGeom prst="ellipse">
            <a:avLst/>
          </a:prstGeom>
          <a:solidFill>
            <a:schemeClr val="accent3"/>
          </a:solidFill>
          <a:ln/>
        </p:spPr>
        <p:txBody>
          <a:bodyPr/>
          <a:lstStyle/>
          <a:p>
            <a:endParaRPr lang="en-US"/>
          </a:p>
        </p:txBody>
      </p:sp>
      <p:pic>
        <p:nvPicPr>
          <p:cNvPr id="10" name="Icon" descr="Search icon"/>
          <p:cNvPicPr>
            <a:picLocks noChangeAspect="1"/>
          </p:cNvPicPr>
          <p:nvPr/>
        </p:nvPicPr>
        <p:blipFill>
          <a:blip r:embed="rId4"/>
          <a:stretch>
            <a:fillRect/>
          </a:stretch>
        </p:blipFill>
        <p:spPr>
          <a:xfrm>
            <a:off x="3721608" y="1783080"/>
            <a:ext cx="274320" cy="274320"/>
          </a:xfrm>
          <a:prstGeom prst="rect">
            <a:avLst/>
          </a:prstGeom>
        </p:spPr>
      </p:pic>
      <p:sp>
        <p:nvSpPr>
          <p:cNvPr id="11" name="Text"/>
          <p:cNvSpPr txBox="1"/>
          <p:nvPr/>
        </p:nvSpPr>
        <p:spPr>
          <a:xfrm>
            <a:off x="3584448" y="2331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Capturing marketing insights</a:t>
            </a:r>
            <a:endParaRPr lang="en-US" sz="1600" dirty="0"/>
          </a:p>
          <a:p>
            <a:pPr marL="0" indent="0">
              <a:spcAft>
                <a:spcPts val="300"/>
              </a:spcAft>
              <a:buNone/>
            </a:pPr>
            <a:r>
              <a:rPr lang="en-US" sz="1600" dirty="0">
                <a:solidFill>
                  <a:schemeClr val="tx1"/>
                </a:solidFill>
              </a:rPr>
              <a:t>Research, forecasting and scanning the environment.</a:t>
            </a:r>
            <a:endParaRPr lang="en-US" sz="1600" dirty="0"/>
          </a:p>
        </p:txBody>
      </p:sp>
      <p:sp>
        <p:nvSpPr>
          <p:cNvPr id="12" name="Task card"/>
          <p:cNvSpPr/>
          <p:nvPr/>
        </p:nvSpPr>
        <p:spPr>
          <a:xfrm>
            <a:off x="6163056" y="1417320"/>
            <a:ext cx="2651760" cy="2286000"/>
          </a:xfrm>
          <a:prstGeom prst="roundRect">
            <a:avLst>
              <a:gd name="adj" fmla="val 4000"/>
            </a:avLst>
          </a:prstGeom>
          <a:solidFill>
            <a:schemeClr val="bg2"/>
          </a:solidFill>
          <a:ln/>
        </p:spPr>
        <p:txBody>
          <a:bodyPr/>
          <a:lstStyle/>
          <a:p>
            <a:endParaRPr lang="en-US"/>
          </a:p>
        </p:txBody>
      </p:sp>
      <p:sp>
        <p:nvSpPr>
          <p:cNvPr id="13" name="Icon circle"/>
          <p:cNvSpPr/>
          <p:nvPr/>
        </p:nvSpPr>
        <p:spPr>
          <a:xfrm>
            <a:off x="6391656" y="1645920"/>
            <a:ext cx="548640" cy="548640"/>
          </a:xfrm>
          <a:prstGeom prst="ellipse">
            <a:avLst/>
          </a:prstGeom>
          <a:solidFill>
            <a:schemeClr val="accent4"/>
          </a:solidFill>
          <a:ln/>
        </p:spPr>
        <p:txBody>
          <a:bodyPr/>
          <a:lstStyle/>
          <a:p>
            <a:endParaRPr lang="en-US"/>
          </a:p>
        </p:txBody>
      </p:sp>
      <p:pic>
        <p:nvPicPr>
          <p:cNvPr id="14" name="Icon" descr="Users icon"/>
          <p:cNvPicPr>
            <a:picLocks noChangeAspect="1"/>
          </p:cNvPicPr>
          <p:nvPr/>
        </p:nvPicPr>
        <p:blipFill>
          <a:blip r:embed="rId5"/>
          <a:stretch>
            <a:fillRect/>
          </a:stretch>
        </p:blipFill>
        <p:spPr>
          <a:xfrm>
            <a:off x="6528816" y="1783080"/>
            <a:ext cx="274320" cy="274320"/>
          </a:xfrm>
          <a:prstGeom prst="rect">
            <a:avLst/>
          </a:prstGeom>
        </p:spPr>
      </p:pic>
      <p:sp>
        <p:nvSpPr>
          <p:cNvPr id="15" name="Text"/>
          <p:cNvSpPr txBox="1"/>
          <p:nvPr/>
        </p:nvSpPr>
        <p:spPr>
          <a:xfrm>
            <a:off x="6391656" y="2331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Connecting with customers</a:t>
            </a:r>
            <a:endParaRPr lang="en-US" sz="1600" dirty="0"/>
          </a:p>
          <a:p>
            <a:pPr marL="0" indent="0">
              <a:spcAft>
                <a:spcPts val="300"/>
              </a:spcAft>
              <a:buNone/>
            </a:pPr>
            <a:r>
              <a:rPr lang="en-US" sz="1600" dirty="0">
                <a:solidFill>
                  <a:schemeClr val="tx1"/>
                </a:solidFill>
              </a:rPr>
              <a:t>Relationships, segmentation, targeting and loyalty.</a:t>
            </a:r>
            <a:endParaRPr lang="en-US" sz="1600" dirty="0"/>
          </a:p>
        </p:txBody>
      </p:sp>
      <p:sp>
        <p:nvSpPr>
          <p:cNvPr id="16" name="Task card"/>
          <p:cNvSpPr/>
          <p:nvPr/>
        </p:nvSpPr>
        <p:spPr>
          <a:xfrm>
            <a:off x="8970264" y="1417320"/>
            <a:ext cx="2651760" cy="2286000"/>
          </a:xfrm>
          <a:prstGeom prst="roundRect">
            <a:avLst>
              <a:gd name="adj" fmla="val 4000"/>
            </a:avLst>
          </a:prstGeom>
          <a:solidFill>
            <a:schemeClr val="bg2"/>
          </a:solidFill>
          <a:ln/>
        </p:spPr>
        <p:txBody>
          <a:bodyPr/>
          <a:lstStyle/>
          <a:p>
            <a:endParaRPr lang="en-US"/>
          </a:p>
        </p:txBody>
      </p:sp>
      <p:sp>
        <p:nvSpPr>
          <p:cNvPr id="17" name="Icon circle"/>
          <p:cNvSpPr/>
          <p:nvPr/>
        </p:nvSpPr>
        <p:spPr>
          <a:xfrm>
            <a:off x="9198864" y="1645920"/>
            <a:ext cx="548640" cy="548640"/>
          </a:xfrm>
          <a:prstGeom prst="ellipse">
            <a:avLst/>
          </a:prstGeom>
          <a:solidFill>
            <a:schemeClr val="accent5"/>
          </a:solidFill>
          <a:ln/>
        </p:spPr>
        <p:txBody>
          <a:bodyPr/>
          <a:lstStyle/>
          <a:p>
            <a:endParaRPr lang="en-US"/>
          </a:p>
        </p:txBody>
      </p:sp>
      <p:pic>
        <p:nvPicPr>
          <p:cNvPr id="18" name="Icon" descr="Award icon"/>
          <p:cNvPicPr>
            <a:picLocks noChangeAspect="1"/>
          </p:cNvPicPr>
          <p:nvPr/>
        </p:nvPicPr>
        <p:blipFill>
          <a:blip r:embed="rId6"/>
          <a:stretch>
            <a:fillRect/>
          </a:stretch>
        </p:blipFill>
        <p:spPr>
          <a:xfrm>
            <a:off x="9336024" y="1783080"/>
            <a:ext cx="274320" cy="274320"/>
          </a:xfrm>
          <a:prstGeom prst="rect">
            <a:avLst/>
          </a:prstGeom>
        </p:spPr>
      </p:pic>
      <p:sp>
        <p:nvSpPr>
          <p:cNvPr id="19" name="Text"/>
          <p:cNvSpPr txBox="1"/>
          <p:nvPr/>
        </p:nvSpPr>
        <p:spPr>
          <a:xfrm>
            <a:off x="9198864" y="2331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Building strong brands</a:t>
            </a:r>
            <a:endParaRPr lang="en-US" sz="1600" dirty="0"/>
          </a:p>
          <a:p>
            <a:pPr marL="0" indent="0">
              <a:spcAft>
                <a:spcPts val="300"/>
              </a:spcAft>
              <a:buNone/>
            </a:pPr>
            <a:r>
              <a:rPr lang="en-US" sz="1600" dirty="0">
                <a:solidFill>
                  <a:schemeClr val="tx1"/>
                </a:solidFill>
              </a:rPr>
              <a:t>Brand equity, positioning and brand-building communication.</a:t>
            </a:r>
            <a:endParaRPr lang="en-US" sz="1600" dirty="0"/>
          </a:p>
        </p:txBody>
      </p:sp>
      <p:sp>
        <p:nvSpPr>
          <p:cNvPr id="20" name="Task card"/>
          <p:cNvSpPr/>
          <p:nvPr/>
        </p:nvSpPr>
        <p:spPr>
          <a:xfrm>
            <a:off x="548640" y="3886200"/>
            <a:ext cx="2651760" cy="2286000"/>
          </a:xfrm>
          <a:prstGeom prst="roundRect">
            <a:avLst>
              <a:gd name="adj" fmla="val 4000"/>
            </a:avLst>
          </a:prstGeom>
          <a:solidFill>
            <a:schemeClr val="bg2"/>
          </a:solidFill>
          <a:ln/>
        </p:spPr>
        <p:txBody>
          <a:bodyPr/>
          <a:lstStyle/>
          <a:p>
            <a:endParaRPr lang="en-US"/>
          </a:p>
        </p:txBody>
      </p:sp>
      <p:sp>
        <p:nvSpPr>
          <p:cNvPr id="21" name="Icon circle"/>
          <p:cNvSpPr/>
          <p:nvPr/>
        </p:nvSpPr>
        <p:spPr>
          <a:xfrm>
            <a:off x="777240" y="4114800"/>
            <a:ext cx="548640" cy="548640"/>
          </a:xfrm>
          <a:prstGeom prst="ellipse">
            <a:avLst/>
          </a:prstGeom>
          <a:solidFill>
            <a:schemeClr val="accent1"/>
          </a:solidFill>
          <a:ln/>
        </p:spPr>
        <p:txBody>
          <a:bodyPr/>
          <a:lstStyle/>
          <a:p>
            <a:endParaRPr lang="en-US"/>
          </a:p>
        </p:txBody>
      </p:sp>
      <p:pic>
        <p:nvPicPr>
          <p:cNvPr id="22" name="Icon" descr="Cogs icon"/>
          <p:cNvPicPr>
            <a:picLocks noChangeAspect="1"/>
          </p:cNvPicPr>
          <p:nvPr/>
        </p:nvPicPr>
        <p:blipFill>
          <a:blip r:embed="rId7"/>
          <a:stretch>
            <a:fillRect/>
          </a:stretch>
        </p:blipFill>
        <p:spPr>
          <a:xfrm>
            <a:off x="914400" y="4251960"/>
            <a:ext cx="274320" cy="274320"/>
          </a:xfrm>
          <a:prstGeom prst="rect">
            <a:avLst/>
          </a:prstGeom>
        </p:spPr>
      </p:pic>
      <p:sp>
        <p:nvSpPr>
          <p:cNvPr id="23" name="Text"/>
          <p:cNvSpPr txBox="1"/>
          <p:nvPr/>
        </p:nvSpPr>
        <p:spPr>
          <a:xfrm>
            <a:off x="777240" y="480060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Shaping market offerings</a:t>
            </a:r>
            <a:endParaRPr lang="en-US" sz="1600" dirty="0"/>
          </a:p>
          <a:p>
            <a:pPr marL="0" indent="0">
              <a:spcAft>
                <a:spcPts val="300"/>
              </a:spcAft>
              <a:buNone/>
            </a:pPr>
            <a:r>
              <a:rPr lang="en-US" sz="1600" dirty="0">
                <a:solidFill>
                  <a:schemeClr val="tx1"/>
                </a:solidFill>
              </a:rPr>
              <a:t>Product strategy, services and pricing decisions.</a:t>
            </a:r>
            <a:endParaRPr lang="en-US" sz="1600" dirty="0"/>
          </a:p>
        </p:txBody>
      </p:sp>
      <p:sp>
        <p:nvSpPr>
          <p:cNvPr id="24" name="Task card"/>
          <p:cNvSpPr/>
          <p:nvPr/>
        </p:nvSpPr>
        <p:spPr>
          <a:xfrm>
            <a:off x="3355848" y="3886200"/>
            <a:ext cx="2651760" cy="2286000"/>
          </a:xfrm>
          <a:prstGeom prst="roundRect">
            <a:avLst>
              <a:gd name="adj" fmla="val 4000"/>
            </a:avLst>
          </a:prstGeom>
          <a:solidFill>
            <a:schemeClr val="bg2"/>
          </a:solidFill>
          <a:ln/>
        </p:spPr>
        <p:txBody>
          <a:bodyPr/>
          <a:lstStyle/>
          <a:p>
            <a:endParaRPr lang="en-US"/>
          </a:p>
        </p:txBody>
      </p:sp>
      <p:sp>
        <p:nvSpPr>
          <p:cNvPr id="25" name="Icon circle"/>
          <p:cNvSpPr/>
          <p:nvPr/>
        </p:nvSpPr>
        <p:spPr>
          <a:xfrm>
            <a:off x="3584448" y="4114800"/>
            <a:ext cx="548640" cy="548640"/>
          </a:xfrm>
          <a:prstGeom prst="ellipse">
            <a:avLst/>
          </a:prstGeom>
          <a:solidFill>
            <a:schemeClr val="accent3"/>
          </a:solidFill>
          <a:ln/>
        </p:spPr>
        <p:txBody>
          <a:bodyPr/>
          <a:lstStyle/>
          <a:p>
            <a:endParaRPr lang="en-US"/>
          </a:p>
        </p:txBody>
      </p:sp>
      <p:pic>
        <p:nvPicPr>
          <p:cNvPr id="26" name="Icon" descr="Truck icon"/>
          <p:cNvPicPr>
            <a:picLocks noChangeAspect="1"/>
          </p:cNvPicPr>
          <p:nvPr/>
        </p:nvPicPr>
        <p:blipFill>
          <a:blip r:embed="rId8"/>
          <a:stretch>
            <a:fillRect/>
          </a:stretch>
        </p:blipFill>
        <p:spPr>
          <a:xfrm>
            <a:off x="3721608" y="4251960"/>
            <a:ext cx="274320" cy="274320"/>
          </a:xfrm>
          <a:prstGeom prst="rect">
            <a:avLst/>
          </a:prstGeom>
        </p:spPr>
      </p:pic>
      <p:sp>
        <p:nvSpPr>
          <p:cNvPr id="27" name="Text"/>
          <p:cNvSpPr txBox="1"/>
          <p:nvPr/>
        </p:nvSpPr>
        <p:spPr>
          <a:xfrm>
            <a:off x="3584448" y="480060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Delivering and communicating value</a:t>
            </a:r>
            <a:endParaRPr lang="en-US" sz="1600" dirty="0"/>
          </a:p>
          <a:p>
            <a:pPr marL="0" indent="0">
              <a:spcAft>
                <a:spcPts val="300"/>
              </a:spcAft>
              <a:buNone/>
            </a:pPr>
            <a:r>
              <a:rPr lang="en-US" sz="1600" dirty="0">
                <a:solidFill>
                  <a:schemeClr val="tx1"/>
                </a:solidFill>
              </a:rPr>
              <a:t>Channels, retailing, logistics and integrated communications.</a:t>
            </a:r>
            <a:endParaRPr lang="en-US" sz="1600" dirty="0"/>
          </a:p>
        </p:txBody>
      </p:sp>
      <p:sp>
        <p:nvSpPr>
          <p:cNvPr id="28" name="Task card"/>
          <p:cNvSpPr/>
          <p:nvPr/>
        </p:nvSpPr>
        <p:spPr>
          <a:xfrm>
            <a:off x="6163056" y="3886200"/>
            <a:ext cx="2651760" cy="2286000"/>
          </a:xfrm>
          <a:prstGeom prst="roundRect">
            <a:avLst>
              <a:gd name="adj" fmla="val 4000"/>
            </a:avLst>
          </a:prstGeom>
          <a:solidFill>
            <a:schemeClr val="bg2"/>
          </a:solidFill>
          <a:ln/>
        </p:spPr>
        <p:txBody>
          <a:bodyPr/>
          <a:lstStyle/>
          <a:p>
            <a:endParaRPr lang="en-US"/>
          </a:p>
        </p:txBody>
      </p:sp>
      <p:sp>
        <p:nvSpPr>
          <p:cNvPr id="29" name="Icon circle"/>
          <p:cNvSpPr/>
          <p:nvPr/>
        </p:nvSpPr>
        <p:spPr>
          <a:xfrm>
            <a:off x="6391656" y="4114800"/>
            <a:ext cx="548640" cy="548640"/>
          </a:xfrm>
          <a:prstGeom prst="ellipse">
            <a:avLst/>
          </a:prstGeom>
          <a:solidFill>
            <a:schemeClr val="accent4"/>
          </a:solidFill>
          <a:ln/>
        </p:spPr>
        <p:txBody>
          <a:bodyPr/>
          <a:lstStyle/>
          <a:p>
            <a:endParaRPr lang="en-US"/>
          </a:p>
        </p:txBody>
      </p:sp>
      <p:pic>
        <p:nvPicPr>
          <p:cNvPr id="30" name="Icon" descr="Seedling icon"/>
          <p:cNvPicPr>
            <a:picLocks noChangeAspect="1"/>
          </p:cNvPicPr>
          <p:nvPr/>
        </p:nvPicPr>
        <p:blipFill>
          <a:blip r:embed="rId9"/>
          <a:stretch>
            <a:fillRect/>
          </a:stretch>
        </p:blipFill>
        <p:spPr>
          <a:xfrm>
            <a:off x="6528816" y="4251960"/>
            <a:ext cx="274320" cy="274320"/>
          </a:xfrm>
          <a:prstGeom prst="rect">
            <a:avLst/>
          </a:prstGeom>
        </p:spPr>
      </p:pic>
      <p:sp>
        <p:nvSpPr>
          <p:cNvPr id="31" name="Text"/>
          <p:cNvSpPr txBox="1"/>
          <p:nvPr/>
        </p:nvSpPr>
        <p:spPr>
          <a:xfrm>
            <a:off x="6391656" y="480060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tx2"/>
                </a:solidFill>
              </a:rPr>
              <a:t>Creating long-term growth</a:t>
            </a:r>
            <a:endParaRPr lang="en-US" sz="1600" dirty="0"/>
          </a:p>
          <a:p>
            <a:pPr marL="0" indent="0">
              <a:spcAft>
                <a:spcPts val="300"/>
              </a:spcAft>
              <a:buNone/>
            </a:pPr>
            <a:r>
              <a:rPr lang="en-US" sz="1600" dirty="0">
                <a:solidFill>
                  <a:schemeClr val="tx1"/>
                </a:solidFill>
              </a:rPr>
              <a:t>New offerings, global markets and sustainable growth.</a:t>
            </a:r>
            <a:endParaRPr lang="en-US" sz="1600" dirty="0"/>
          </a:p>
        </p:txBody>
      </p:sp>
      <p:sp>
        <p:nvSpPr>
          <p:cNvPr id="32" name="Summary card"/>
          <p:cNvSpPr/>
          <p:nvPr/>
        </p:nvSpPr>
        <p:spPr>
          <a:xfrm>
            <a:off x="8970264" y="3886200"/>
            <a:ext cx="2651760" cy="2286000"/>
          </a:xfrm>
          <a:prstGeom prst="roundRect">
            <a:avLst>
              <a:gd name="adj" fmla="val 4000"/>
            </a:avLst>
          </a:prstGeom>
          <a:solidFill>
            <a:schemeClr val="tx2"/>
          </a:solidFill>
          <a:ln/>
        </p:spPr>
        <p:txBody>
          <a:bodyPr/>
          <a:lstStyle/>
          <a:p>
            <a:endParaRPr lang="en-US"/>
          </a:p>
        </p:txBody>
      </p:sp>
      <p:sp>
        <p:nvSpPr>
          <p:cNvPr id="33" name="Text"/>
          <p:cNvSpPr txBox="1"/>
          <p:nvPr/>
        </p:nvSpPr>
        <p:spPr>
          <a:xfrm>
            <a:off x="9198864" y="4069080"/>
            <a:ext cx="2194560" cy="1828800"/>
          </a:xfrm>
          <a:prstGeom prst="rect">
            <a:avLst/>
          </a:prstGeom>
          <a:noFill/>
          <a:ln/>
        </p:spPr>
        <p:txBody>
          <a:bodyPr wrap="square" lIns="0" tIns="0" rIns="0" bIns="0" rtlCol="0" anchor="ctr"/>
          <a:lstStyle/>
          <a:p>
            <a:pPr marL="0" indent="0">
              <a:buNone/>
            </a:pPr>
            <a:r>
              <a:rPr lang="en-US" b="1" dirty="0">
                <a:solidFill>
                  <a:schemeClr val="bg1"/>
                </a:solidFill>
              </a:rPr>
              <a:t>Seven tasks, one goal: sustainable value creation for customers and the firm.</a:t>
            </a:r>
            <a:endParaRPr lang="en-US"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6" grpId="0" animBg="1"/>
      <p:bldP spid="20" grpId="0" animBg="1"/>
      <p:bldP spid="24" grpId="0" animBg="1"/>
      <p:bldP spid="28" grpId="0" animBg="1"/>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number"/>
          <p:cNvSpPr txBox="1"/>
          <p:nvPr/>
        </p:nvSpPr>
        <p:spPr>
          <a:xfrm>
            <a:off x="822960" y="1554480"/>
            <a:ext cx="3657600" cy="1280160"/>
          </a:xfrm>
          <a:prstGeom prst="rect">
            <a:avLst/>
          </a:prstGeom>
          <a:noFill/>
          <a:ln/>
        </p:spPr>
        <p:txBody>
          <a:bodyPr wrap="square" lIns="0" tIns="0" rIns="0" bIns="0" rtlCol="0" anchor="ctr"/>
          <a:lstStyle/>
          <a:p>
            <a:pPr marL="0" indent="0">
              <a:buNone/>
            </a:pPr>
            <a:r>
              <a:rPr lang="en-US" sz="8000" b="1" dirty="0">
                <a:solidFill>
                  <a:schemeClr val="accent1"/>
                </a:solidFill>
              </a:rPr>
              <a:t>03</a:t>
            </a:r>
            <a:endParaRPr lang="en-US" sz="8000" dirty="0"/>
          </a:p>
        </p:txBody>
      </p:sp>
      <p:sp>
        <p:nvSpPr>
          <p:cNvPr id="3" name="Text 0"/>
          <p:cNvSpPr>
            <a:spLocks noGrp="1"/>
          </p:cNvSpPr>
          <p:nvPr>
            <p:ph type="title" idx="100" hasCustomPrompt="1"/>
          </p:nvPr>
        </p:nvSpPr>
        <p:spPr>
          <a:xfrm>
            <a:off x="822960" y="2926080"/>
            <a:ext cx="7680960" cy="1188720"/>
          </a:xfrm>
          <a:prstGeom prst="rect">
            <a:avLst/>
          </a:prstGeom>
          <a:noFill/>
          <a:ln/>
        </p:spPr>
        <p:txBody>
          <a:bodyPr wrap="square" lIns="0" tIns="0" rIns="0" bIns="0" rtlCol="0" anchor="t"/>
          <a:lstStyle/>
          <a:p>
            <a:pPr marL="0" indent="0" algn="l">
              <a:buNone/>
            </a:pPr>
            <a:r>
              <a:rPr lang="en-US" sz="4400" b="1" dirty="0">
                <a:solidFill>
                  <a:schemeClr val="bg1"/>
                </a:solidFill>
              </a:rPr>
              <a:t>Evolution of marketing</a:t>
            </a:r>
            <a:endParaRPr lang="en-US" sz="4400" dirty="0"/>
          </a:p>
        </p:txBody>
      </p:sp>
      <p:sp>
        <p:nvSpPr>
          <p:cNvPr id="4" name="Text 0"/>
          <p:cNvSpPr>
            <a:spLocks noGrp="1"/>
          </p:cNvSpPr>
          <p:nvPr>
            <p:ph type="body" idx="101" hasCustomPrompt="1"/>
          </p:nvPr>
        </p:nvSpPr>
        <p:spPr>
          <a:xfrm>
            <a:off x="822960" y="4206240"/>
            <a:ext cx="7498080" cy="1280160"/>
          </a:xfrm>
          <a:prstGeom prst="rect">
            <a:avLst/>
          </a:prstGeom>
          <a:noFill/>
          <a:ln/>
        </p:spPr>
        <p:txBody>
          <a:bodyPr wrap="square" lIns="0" tIns="0" rIns="0" bIns="0" rtlCol="0" anchor="t"/>
          <a:lstStyle/>
          <a:p>
            <a:pPr marL="0" indent="0">
              <a:buNone/>
            </a:pPr>
            <a:r>
              <a:rPr lang="en-US" sz="2000" dirty="0">
                <a:solidFill>
                  <a:schemeClr val="bg2"/>
                </a:solidFill>
              </a:rPr>
              <a:t>From production and selling to relationships, digital engagement and social responsibility</a:t>
            </a:r>
            <a:endParaRPr lang="en-US" sz="2000" dirty="0"/>
          </a:p>
        </p:txBody>
      </p:sp>
      <p:sp>
        <p:nvSpPr>
          <p:cNvPr id="5" name="Icon circle"/>
          <p:cNvSpPr/>
          <p:nvPr/>
        </p:nvSpPr>
        <p:spPr>
          <a:xfrm>
            <a:off x="8961120" y="2103120"/>
            <a:ext cx="2560320" cy="2560320"/>
          </a:xfrm>
          <a:prstGeom prst="ellipse">
            <a:avLst/>
          </a:prstGeom>
          <a:solidFill>
            <a:schemeClr val="accent1"/>
          </a:solidFill>
          <a:ln/>
        </p:spPr>
        <p:txBody>
          <a:bodyPr/>
          <a:lstStyle/>
          <a:p>
            <a:endParaRPr lang="en-US"/>
          </a:p>
        </p:txBody>
      </p:sp>
      <p:pic>
        <p:nvPicPr>
          <p:cNvPr id="6" name="Icon" descr="ChartLine icon"/>
          <p:cNvPicPr>
            <a:picLocks noChangeAspect="1"/>
          </p:cNvPicPr>
          <p:nvPr/>
        </p:nvPicPr>
        <p:blipFill>
          <a:blip r:embed="rId3"/>
          <a:stretch>
            <a:fillRect/>
          </a:stretch>
        </p:blipFill>
        <p:spPr>
          <a:xfrm>
            <a:off x="9601200" y="2743200"/>
            <a:ext cx="1280160" cy="1280160"/>
          </a:xfrm>
          <a:prstGeom prst="rect">
            <a:avLst/>
          </a:prstGeom>
        </p:spPr>
      </p:pic>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Marketing Eras</a:t>
            </a:r>
            <a:endParaRPr lang="en-US" sz="3400" dirty="0"/>
          </a:p>
        </p:txBody>
      </p:sp>
      <p:sp>
        <p:nvSpPr>
          <p:cNvPr id="4" name="Timeline"/>
          <p:cNvSpPr/>
          <p:nvPr/>
        </p:nvSpPr>
        <p:spPr>
          <a:xfrm>
            <a:off x="1600200" y="2148840"/>
            <a:ext cx="8961120" cy="0"/>
          </a:xfrm>
          <a:prstGeom prst="line">
            <a:avLst/>
          </a:prstGeom>
          <a:noFill/>
          <a:ln w="25400">
            <a:solidFill>
              <a:schemeClr val="accent6"/>
            </a:solidFill>
            <a:prstDash val="solid"/>
          </a:ln>
        </p:spPr>
        <p:txBody>
          <a:bodyPr/>
          <a:lstStyle/>
          <a:p>
            <a:endParaRPr lang="en-US"/>
          </a:p>
        </p:txBody>
      </p:sp>
      <p:sp>
        <p:nvSpPr>
          <p:cNvPr id="5" name="Icon circle"/>
          <p:cNvSpPr/>
          <p:nvPr/>
        </p:nvSpPr>
        <p:spPr>
          <a:xfrm>
            <a:off x="1165860" y="1737360"/>
            <a:ext cx="868680" cy="868680"/>
          </a:xfrm>
          <a:prstGeom prst="ellipse">
            <a:avLst/>
          </a:prstGeom>
          <a:solidFill>
            <a:schemeClr val="accent6"/>
          </a:solidFill>
          <a:ln/>
        </p:spPr>
        <p:txBody>
          <a:bodyPr/>
          <a:lstStyle/>
          <a:p>
            <a:endParaRPr lang="en-US"/>
          </a:p>
        </p:txBody>
      </p:sp>
      <p:pic>
        <p:nvPicPr>
          <p:cNvPr id="6" name="Icon" descr="Industry icon"/>
          <p:cNvPicPr>
            <a:picLocks noChangeAspect="1"/>
          </p:cNvPicPr>
          <p:nvPr/>
        </p:nvPicPr>
        <p:blipFill>
          <a:blip r:embed="rId3"/>
          <a:stretch>
            <a:fillRect/>
          </a:stretch>
        </p:blipFill>
        <p:spPr>
          <a:xfrm>
            <a:off x="1383030" y="1954530"/>
            <a:ext cx="434340" cy="434340"/>
          </a:xfrm>
          <a:prstGeom prst="rect">
            <a:avLst/>
          </a:prstGeom>
        </p:spPr>
      </p:pic>
      <p:sp>
        <p:nvSpPr>
          <p:cNvPr id="7" name="Era card"/>
          <p:cNvSpPr/>
          <p:nvPr/>
        </p:nvSpPr>
        <p:spPr>
          <a:xfrm>
            <a:off x="548640" y="2834640"/>
            <a:ext cx="2103120" cy="3017520"/>
          </a:xfrm>
          <a:prstGeom prst="roundRect">
            <a:avLst>
              <a:gd name="adj" fmla="val 4348"/>
            </a:avLst>
          </a:prstGeom>
          <a:solidFill>
            <a:schemeClr val="bg2"/>
          </a:solidFill>
          <a:ln/>
        </p:spPr>
        <p:txBody>
          <a:bodyPr/>
          <a:lstStyle/>
          <a:p>
            <a:endParaRPr lang="en-US"/>
          </a:p>
        </p:txBody>
      </p:sp>
      <p:sp>
        <p:nvSpPr>
          <p:cNvPr id="8" name="Text"/>
          <p:cNvSpPr txBox="1"/>
          <p:nvPr/>
        </p:nvSpPr>
        <p:spPr>
          <a:xfrm>
            <a:off x="685800" y="2971800"/>
            <a:ext cx="1828800" cy="594360"/>
          </a:xfrm>
          <a:prstGeom prst="rect">
            <a:avLst/>
          </a:prstGeom>
          <a:noFill/>
          <a:ln/>
        </p:spPr>
        <p:txBody>
          <a:bodyPr wrap="square" lIns="0" tIns="0" rIns="0" bIns="0" rtlCol="0" anchor="t"/>
          <a:lstStyle/>
          <a:p>
            <a:pPr marL="0" indent="0">
              <a:buNone/>
            </a:pPr>
            <a:r>
              <a:rPr lang="en-US" sz="1800" b="1" dirty="0">
                <a:solidFill>
                  <a:schemeClr val="tx2"/>
                </a:solidFill>
              </a:rPr>
              <a:t>Production era</a:t>
            </a:r>
            <a:endParaRPr lang="en-US" sz="1800" dirty="0"/>
          </a:p>
        </p:txBody>
      </p:sp>
      <p:sp>
        <p:nvSpPr>
          <p:cNvPr id="9" name="Text"/>
          <p:cNvSpPr txBox="1"/>
          <p:nvPr/>
        </p:nvSpPr>
        <p:spPr>
          <a:xfrm>
            <a:off x="685800" y="3611880"/>
            <a:ext cx="1828800" cy="274320"/>
          </a:xfrm>
          <a:prstGeom prst="rect">
            <a:avLst/>
          </a:prstGeom>
          <a:noFill/>
          <a:ln/>
        </p:spPr>
        <p:txBody>
          <a:bodyPr wrap="square" lIns="0" tIns="0" rIns="0" bIns="0" rtlCol="0" anchor="t"/>
          <a:lstStyle/>
          <a:p>
            <a:pPr marL="0" indent="0">
              <a:buNone/>
            </a:pPr>
            <a:r>
              <a:rPr lang="en-US" sz="1600" b="1" dirty="0">
                <a:solidFill>
                  <a:schemeClr val="accent1"/>
                </a:solidFill>
              </a:rPr>
              <a:t>To about 1920s</a:t>
            </a:r>
            <a:endParaRPr lang="en-US" sz="1600" dirty="0"/>
          </a:p>
        </p:txBody>
      </p:sp>
      <p:sp>
        <p:nvSpPr>
          <p:cNvPr id="10" name="Text"/>
          <p:cNvSpPr txBox="1"/>
          <p:nvPr/>
        </p:nvSpPr>
        <p:spPr>
          <a:xfrm>
            <a:off x="685800" y="4023360"/>
            <a:ext cx="1828800" cy="1737360"/>
          </a:xfrm>
          <a:prstGeom prst="rect">
            <a:avLst/>
          </a:prstGeom>
          <a:noFill/>
          <a:ln/>
        </p:spPr>
        <p:txBody>
          <a:bodyPr wrap="square" lIns="0" tIns="0" rIns="0" bIns="0" rtlCol="0" anchor="t"/>
          <a:lstStyle/>
          <a:p>
            <a:pPr marL="0" indent="0">
              <a:buNone/>
            </a:pPr>
            <a:r>
              <a:rPr lang="en-US" sz="1600" dirty="0">
                <a:solidFill>
                  <a:schemeClr val="tx1"/>
                </a:solidFill>
              </a:rPr>
              <a:t>Demand exceeds supply. Firms focus on making more, at lower cost.</a:t>
            </a:r>
            <a:endParaRPr lang="en-US" sz="1600" dirty="0"/>
          </a:p>
        </p:txBody>
      </p:sp>
      <p:sp>
        <p:nvSpPr>
          <p:cNvPr id="11" name="Icon circle"/>
          <p:cNvSpPr/>
          <p:nvPr/>
        </p:nvSpPr>
        <p:spPr>
          <a:xfrm>
            <a:off x="3406140" y="1737360"/>
            <a:ext cx="868680" cy="868680"/>
          </a:xfrm>
          <a:prstGeom prst="ellipse">
            <a:avLst/>
          </a:prstGeom>
          <a:solidFill>
            <a:schemeClr val="accent5"/>
          </a:solidFill>
          <a:ln/>
        </p:spPr>
        <p:txBody>
          <a:bodyPr/>
          <a:lstStyle/>
          <a:p>
            <a:endParaRPr lang="en-US"/>
          </a:p>
        </p:txBody>
      </p:sp>
      <p:pic>
        <p:nvPicPr>
          <p:cNvPr id="12" name="Icon" descr="Bullhorn icon"/>
          <p:cNvPicPr>
            <a:picLocks noChangeAspect="1"/>
          </p:cNvPicPr>
          <p:nvPr/>
        </p:nvPicPr>
        <p:blipFill>
          <a:blip r:embed="rId4"/>
          <a:stretch>
            <a:fillRect/>
          </a:stretch>
        </p:blipFill>
        <p:spPr>
          <a:xfrm>
            <a:off x="3623310" y="1954530"/>
            <a:ext cx="434340" cy="434340"/>
          </a:xfrm>
          <a:prstGeom prst="rect">
            <a:avLst/>
          </a:prstGeom>
        </p:spPr>
      </p:pic>
      <p:sp>
        <p:nvSpPr>
          <p:cNvPr id="13" name="Era card"/>
          <p:cNvSpPr/>
          <p:nvPr/>
        </p:nvSpPr>
        <p:spPr>
          <a:xfrm>
            <a:off x="2788920" y="2834640"/>
            <a:ext cx="2103120" cy="3017520"/>
          </a:xfrm>
          <a:prstGeom prst="roundRect">
            <a:avLst>
              <a:gd name="adj" fmla="val 4348"/>
            </a:avLst>
          </a:prstGeom>
          <a:solidFill>
            <a:schemeClr val="bg2"/>
          </a:solidFill>
          <a:ln/>
        </p:spPr>
        <p:txBody>
          <a:bodyPr/>
          <a:lstStyle/>
          <a:p>
            <a:endParaRPr lang="en-US"/>
          </a:p>
        </p:txBody>
      </p:sp>
      <p:sp>
        <p:nvSpPr>
          <p:cNvPr id="14" name="Text"/>
          <p:cNvSpPr txBox="1"/>
          <p:nvPr/>
        </p:nvSpPr>
        <p:spPr>
          <a:xfrm>
            <a:off x="2926080" y="2971800"/>
            <a:ext cx="1828800" cy="594360"/>
          </a:xfrm>
          <a:prstGeom prst="rect">
            <a:avLst/>
          </a:prstGeom>
          <a:noFill/>
          <a:ln/>
        </p:spPr>
        <p:txBody>
          <a:bodyPr wrap="square" lIns="0" tIns="0" rIns="0" bIns="0" rtlCol="0" anchor="t"/>
          <a:lstStyle/>
          <a:p>
            <a:pPr marL="0" indent="0">
              <a:buNone/>
            </a:pPr>
            <a:r>
              <a:rPr lang="en-US" sz="1800" b="1" dirty="0">
                <a:solidFill>
                  <a:schemeClr val="tx2"/>
                </a:solidFill>
              </a:rPr>
              <a:t>Sales era</a:t>
            </a:r>
            <a:endParaRPr lang="en-US" sz="1800" dirty="0"/>
          </a:p>
        </p:txBody>
      </p:sp>
      <p:sp>
        <p:nvSpPr>
          <p:cNvPr id="15" name="Text"/>
          <p:cNvSpPr txBox="1"/>
          <p:nvPr/>
        </p:nvSpPr>
        <p:spPr>
          <a:xfrm>
            <a:off x="2926080" y="3611880"/>
            <a:ext cx="1828800" cy="274320"/>
          </a:xfrm>
          <a:prstGeom prst="rect">
            <a:avLst/>
          </a:prstGeom>
          <a:noFill/>
          <a:ln/>
        </p:spPr>
        <p:txBody>
          <a:bodyPr wrap="square" lIns="0" tIns="0" rIns="0" bIns="0" rtlCol="0" anchor="t"/>
          <a:lstStyle/>
          <a:p>
            <a:pPr marL="0" indent="0">
              <a:buNone/>
            </a:pPr>
            <a:r>
              <a:rPr lang="en-US" sz="1600" b="1" dirty="0">
                <a:solidFill>
                  <a:schemeClr val="accent1"/>
                </a:solidFill>
              </a:rPr>
              <a:t>About 1920s to 1950</a:t>
            </a:r>
            <a:endParaRPr lang="en-US" sz="1600" dirty="0"/>
          </a:p>
        </p:txBody>
      </p:sp>
      <p:sp>
        <p:nvSpPr>
          <p:cNvPr id="16" name="Text"/>
          <p:cNvSpPr txBox="1"/>
          <p:nvPr/>
        </p:nvSpPr>
        <p:spPr>
          <a:xfrm>
            <a:off x="2926080" y="4023360"/>
            <a:ext cx="1828800" cy="1737360"/>
          </a:xfrm>
          <a:prstGeom prst="rect">
            <a:avLst/>
          </a:prstGeom>
          <a:noFill/>
          <a:ln/>
        </p:spPr>
        <p:txBody>
          <a:bodyPr wrap="square" lIns="0" tIns="0" rIns="0" bIns="0" rtlCol="0" anchor="t"/>
          <a:lstStyle/>
          <a:p>
            <a:pPr marL="0" indent="0">
              <a:buNone/>
            </a:pPr>
            <a:r>
              <a:rPr lang="en-US" sz="1600" dirty="0">
                <a:solidFill>
                  <a:schemeClr val="tx1"/>
                </a:solidFill>
              </a:rPr>
              <a:t>Supply exceeds demand. Firms rely on selling and promotion to move output.</a:t>
            </a:r>
            <a:endParaRPr lang="en-US" sz="1600" dirty="0"/>
          </a:p>
        </p:txBody>
      </p:sp>
      <p:sp>
        <p:nvSpPr>
          <p:cNvPr id="17" name="Icon circle"/>
          <p:cNvSpPr/>
          <p:nvPr/>
        </p:nvSpPr>
        <p:spPr>
          <a:xfrm>
            <a:off x="5646420" y="1737360"/>
            <a:ext cx="868680" cy="868680"/>
          </a:xfrm>
          <a:prstGeom prst="ellipse">
            <a:avLst/>
          </a:prstGeom>
          <a:solidFill>
            <a:schemeClr val="accent4"/>
          </a:solidFill>
          <a:ln/>
        </p:spPr>
        <p:txBody>
          <a:bodyPr/>
          <a:lstStyle/>
          <a:p>
            <a:endParaRPr lang="en-US"/>
          </a:p>
        </p:txBody>
      </p:sp>
      <p:pic>
        <p:nvPicPr>
          <p:cNvPr id="18" name="Icon" descr="Bullseye icon"/>
          <p:cNvPicPr>
            <a:picLocks noChangeAspect="1"/>
          </p:cNvPicPr>
          <p:nvPr/>
        </p:nvPicPr>
        <p:blipFill>
          <a:blip r:embed="rId5"/>
          <a:stretch>
            <a:fillRect/>
          </a:stretch>
        </p:blipFill>
        <p:spPr>
          <a:xfrm>
            <a:off x="5863590" y="1954530"/>
            <a:ext cx="434340" cy="434340"/>
          </a:xfrm>
          <a:prstGeom prst="rect">
            <a:avLst/>
          </a:prstGeom>
        </p:spPr>
      </p:pic>
      <p:sp>
        <p:nvSpPr>
          <p:cNvPr id="19" name="Era card"/>
          <p:cNvSpPr/>
          <p:nvPr/>
        </p:nvSpPr>
        <p:spPr>
          <a:xfrm>
            <a:off x="5029200" y="2834640"/>
            <a:ext cx="2103120" cy="3017520"/>
          </a:xfrm>
          <a:prstGeom prst="roundRect">
            <a:avLst>
              <a:gd name="adj" fmla="val 4348"/>
            </a:avLst>
          </a:prstGeom>
          <a:solidFill>
            <a:schemeClr val="bg2"/>
          </a:solidFill>
          <a:ln/>
        </p:spPr>
        <p:txBody>
          <a:bodyPr/>
          <a:lstStyle/>
          <a:p>
            <a:endParaRPr lang="en-US"/>
          </a:p>
        </p:txBody>
      </p:sp>
      <p:sp>
        <p:nvSpPr>
          <p:cNvPr id="20" name="Text"/>
          <p:cNvSpPr txBox="1"/>
          <p:nvPr/>
        </p:nvSpPr>
        <p:spPr>
          <a:xfrm>
            <a:off x="5166360" y="2971800"/>
            <a:ext cx="1828800" cy="594360"/>
          </a:xfrm>
          <a:prstGeom prst="rect">
            <a:avLst/>
          </a:prstGeom>
          <a:noFill/>
          <a:ln/>
        </p:spPr>
        <p:txBody>
          <a:bodyPr wrap="square" lIns="0" tIns="0" rIns="0" bIns="0" rtlCol="0" anchor="t"/>
          <a:lstStyle/>
          <a:p>
            <a:pPr marL="0" indent="0">
              <a:buNone/>
            </a:pPr>
            <a:r>
              <a:rPr lang="en-US" sz="1800" b="1" dirty="0">
                <a:solidFill>
                  <a:schemeClr val="tx2"/>
                </a:solidFill>
              </a:rPr>
              <a:t>Marketing era</a:t>
            </a:r>
            <a:endParaRPr lang="en-US" sz="1800" dirty="0"/>
          </a:p>
        </p:txBody>
      </p:sp>
      <p:sp>
        <p:nvSpPr>
          <p:cNvPr id="21" name="Text"/>
          <p:cNvSpPr txBox="1"/>
          <p:nvPr/>
        </p:nvSpPr>
        <p:spPr>
          <a:xfrm>
            <a:off x="5166360" y="3611880"/>
            <a:ext cx="1828800" cy="274320"/>
          </a:xfrm>
          <a:prstGeom prst="rect">
            <a:avLst/>
          </a:prstGeom>
          <a:noFill/>
          <a:ln/>
        </p:spPr>
        <p:txBody>
          <a:bodyPr wrap="square" lIns="0" tIns="0" rIns="0" bIns="0" rtlCol="0" anchor="t"/>
          <a:lstStyle/>
          <a:p>
            <a:pPr marL="0" indent="0">
              <a:buNone/>
            </a:pPr>
            <a:r>
              <a:rPr lang="en-US" sz="1600" b="1" dirty="0">
                <a:solidFill>
                  <a:schemeClr val="accent1"/>
                </a:solidFill>
              </a:rPr>
              <a:t>About 1950s to 1980</a:t>
            </a:r>
            <a:endParaRPr lang="en-US" sz="1600" dirty="0"/>
          </a:p>
        </p:txBody>
      </p:sp>
      <p:sp>
        <p:nvSpPr>
          <p:cNvPr id="22" name="Text"/>
          <p:cNvSpPr txBox="1"/>
          <p:nvPr/>
        </p:nvSpPr>
        <p:spPr>
          <a:xfrm>
            <a:off x="5166360" y="4023360"/>
            <a:ext cx="1828800" cy="1737360"/>
          </a:xfrm>
          <a:prstGeom prst="rect">
            <a:avLst/>
          </a:prstGeom>
          <a:noFill/>
          <a:ln/>
        </p:spPr>
        <p:txBody>
          <a:bodyPr wrap="square" lIns="0" tIns="0" rIns="0" bIns="0" rtlCol="0" anchor="t"/>
          <a:lstStyle/>
          <a:p>
            <a:pPr marL="0" indent="0">
              <a:buNone/>
            </a:pPr>
            <a:r>
              <a:rPr lang="en-US" sz="1600" dirty="0">
                <a:solidFill>
                  <a:schemeClr val="tx1"/>
                </a:solidFill>
              </a:rPr>
              <a:t>Customer needs drive decisions. Research, segmentation and marketing departments emerge.</a:t>
            </a:r>
            <a:endParaRPr lang="en-US" sz="1600" dirty="0"/>
          </a:p>
        </p:txBody>
      </p:sp>
      <p:sp>
        <p:nvSpPr>
          <p:cNvPr id="23" name="Icon circle"/>
          <p:cNvSpPr/>
          <p:nvPr/>
        </p:nvSpPr>
        <p:spPr>
          <a:xfrm>
            <a:off x="7886700" y="1737360"/>
            <a:ext cx="868680" cy="868680"/>
          </a:xfrm>
          <a:prstGeom prst="ellipse">
            <a:avLst/>
          </a:prstGeom>
          <a:solidFill>
            <a:schemeClr val="accent3"/>
          </a:solidFill>
          <a:ln/>
        </p:spPr>
        <p:txBody>
          <a:bodyPr/>
          <a:lstStyle/>
          <a:p>
            <a:endParaRPr lang="en-US"/>
          </a:p>
        </p:txBody>
      </p:sp>
      <p:pic>
        <p:nvPicPr>
          <p:cNvPr id="24" name="Icon" descr="Handshake icon"/>
          <p:cNvPicPr>
            <a:picLocks noChangeAspect="1"/>
          </p:cNvPicPr>
          <p:nvPr/>
        </p:nvPicPr>
        <p:blipFill>
          <a:blip r:embed="rId6"/>
          <a:stretch>
            <a:fillRect/>
          </a:stretch>
        </p:blipFill>
        <p:spPr>
          <a:xfrm>
            <a:off x="8103870" y="1954530"/>
            <a:ext cx="434340" cy="434340"/>
          </a:xfrm>
          <a:prstGeom prst="rect">
            <a:avLst/>
          </a:prstGeom>
        </p:spPr>
      </p:pic>
      <p:sp>
        <p:nvSpPr>
          <p:cNvPr id="25" name="Era card"/>
          <p:cNvSpPr/>
          <p:nvPr/>
        </p:nvSpPr>
        <p:spPr>
          <a:xfrm>
            <a:off x="7269480" y="2834640"/>
            <a:ext cx="2103120" cy="3017520"/>
          </a:xfrm>
          <a:prstGeom prst="roundRect">
            <a:avLst>
              <a:gd name="adj" fmla="val 4348"/>
            </a:avLst>
          </a:prstGeom>
          <a:solidFill>
            <a:schemeClr val="bg2"/>
          </a:solidFill>
          <a:ln/>
        </p:spPr>
        <p:txBody>
          <a:bodyPr/>
          <a:lstStyle/>
          <a:p>
            <a:endParaRPr lang="en-US"/>
          </a:p>
        </p:txBody>
      </p:sp>
      <p:sp>
        <p:nvSpPr>
          <p:cNvPr id="26" name="Text"/>
          <p:cNvSpPr txBox="1"/>
          <p:nvPr/>
        </p:nvSpPr>
        <p:spPr>
          <a:xfrm>
            <a:off x="7406640" y="2971800"/>
            <a:ext cx="1828800" cy="594360"/>
          </a:xfrm>
          <a:prstGeom prst="rect">
            <a:avLst/>
          </a:prstGeom>
          <a:noFill/>
          <a:ln/>
        </p:spPr>
        <p:txBody>
          <a:bodyPr wrap="square" lIns="0" tIns="0" rIns="0" bIns="0" rtlCol="0" anchor="t"/>
          <a:lstStyle/>
          <a:p>
            <a:pPr marL="0" indent="0">
              <a:buNone/>
            </a:pPr>
            <a:r>
              <a:rPr lang="en-US" sz="1800" b="1" dirty="0">
                <a:solidFill>
                  <a:schemeClr val="tx2"/>
                </a:solidFill>
              </a:rPr>
              <a:t>Relationship era</a:t>
            </a:r>
            <a:endParaRPr lang="en-US" sz="1800" dirty="0"/>
          </a:p>
        </p:txBody>
      </p:sp>
      <p:sp>
        <p:nvSpPr>
          <p:cNvPr id="27" name="Text"/>
          <p:cNvSpPr txBox="1"/>
          <p:nvPr/>
        </p:nvSpPr>
        <p:spPr>
          <a:xfrm>
            <a:off x="7406640" y="3611880"/>
            <a:ext cx="1828800" cy="274320"/>
          </a:xfrm>
          <a:prstGeom prst="rect">
            <a:avLst/>
          </a:prstGeom>
          <a:noFill/>
          <a:ln/>
        </p:spPr>
        <p:txBody>
          <a:bodyPr wrap="square" lIns="0" tIns="0" rIns="0" bIns="0" rtlCol="0" anchor="t"/>
          <a:lstStyle/>
          <a:p>
            <a:pPr marL="0" indent="0">
              <a:buNone/>
            </a:pPr>
            <a:r>
              <a:rPr lang="en-US" sz="1600" b="1" dirty="0">
                <a:solidFill>
                  <a:schemeClr val="accent1"/>
                </a:solidFill>
              </a:rPr>
              <a:t>About 1980s to 2000</a:t>
            </a:r>
            <a:endParaRPr lang="en-US" sz="1600" dirty="0"/>
          </a:p>
        </p:txBody>
      </p:sp>
      <p:sp>
        <p:nvSpPr>
          <p:cNvPr id="28" name="Text"/>
          <p:cNvSpPr txBox="1"/>
          <p:nvPr/>
        </p:nvSpPr>
        <p:spPr>
          <a:xfrm>
            <a:off x="7406640" y="4023360"/>
            <a:ext cx="1828800" cy="1737360"/>
          </a:xfrm>
          <a:prstGeom prst="rect">
            <a:avLst/>
          </a:prstGeom>
          <a:noFill/>
          <a:ln/>
        </p:spPr>
        <p:txBody>
          <a:bodyPr wrap="square" lIns="0" tIns="0" rIns="0" bIns="0" rtlCol="0" anchor="t"/>
          <a:lstStyle/>
          <a:p>
            <a:pPr marL="0" indent="0">
              <a:buNone/>
            </a:pPr>
            <a:r>
              <a:rPr lang="en-US" sz="1600" dirty="0">
                <a:solidFill>
                  <a:schemeClr val="tx1"/>
                </a:solidFill>
              </a:rPr>
              <a:t>Retention, loyalty and service quality matter. CRM and lifetime value take hold.</a:t>
            </a:r>
            <a:endParaRPr lang="en-US" sz="1600" dirty="0"/>
          </a:p>
        </p:txBody>
      </p:sp>
      <p:sp>
        <p:nvSpPr>
          <p:cNvPr id="29" name="Icon circle"/>
          <p:cNvSpPr/>
          <p:nvPr/>
        </p:nvSpPr>
        <p:spPr>
          <a:xfrm>
            <a:off x="10126980" y="1737360"/>
            <a:ext cx="868680" cy="868680"/>
          </a:xfrm>
          <a:prstGeom prst="ellipse">
            <a:avLst/>
          </a:prstGeom>
          <a:solidFill>
            <a:schemeClr val="accent1"/>
          </a:solidFill>
          <a:ln/>
        </p:spPr>
        <p:txBody>
          <a:bodyPr/>
          <a:lstStyle/>
          <a:p>
            <a:endParaRPr lang="en-US"/>
          </a:p>
        </p:txBody>
      </p:sp>
      <p:pic>
        <p:nvPicPr>
          <p:cNvPr id="30" name="Icon" descr="Globe icon"/>
          <p:cNvPicPr>
            <a:picLocks noChangeAspect="1"/>
          </p:cNvPicPr>
          <p:nvPr/>
        </p:nvPicPr>
        <p:blipFill>
          <a:blip r:embed="rId7"/>
          <a:stretch>
            <a:fillRect/>
          </a:stretch>
        </p:blipFill>
        <p:spPr>
          <a:xfrm>
            <a:off x="10344150" y="1954530"/>
            <a:ext cx="434340" cy="434340"/>
          </a:xfrm>
          <a:prstGeom prst="rect">
            <a:avLst/>
          </a:prstGeom>
        </p:spPr>
      </p:pic>
      <p:sp>
        <p:nvSpPr>
          <p:cNvPr id="31" name="Era card"/>
          <p:cNvSpPr/>
          <p:nvPr/>
        </p:nvSpPr>
        <p:spPr>
          <a:xfrm>
            <a:off x="9509760" y="2834640"/>
            <a:ext cx="2103120" cy="3017520"/>
          </a:xfrm>
          <a:prstGeom prst="roundRect">
            <a:avLst>
              <a:gd name="adj" fmla="val 4348"/>
            </a:avLst>
          </a:prstGeom>
          <a:solidFill>
            <a:schemeClr val="bg2"/>
          </a:solidFill>
          <a:ln/>
        </p:spPr>
        <p:txBody>
          <a:bodyPr/>
          <a:lstStyle/>
          <a:p>
            <a:endParaRPr lang="en-US"/>
          </a:p>
        </p:txBody>
      </p:sp>
      <p:sp>
        <p:nvSpPr>
          <p:cNvPr id="32" name="Text"/>
          <p:cNvSpPr txBox="1"/>
          <p:nvPr/>
        </p:nvSpPr>
        <p:spPr>
          <a:xfrm>
            <a:off x="9646920" y="2971800"/>
            <a:ext cx="1828800" cy="594360"/>
          </a:xfrm>
          <a:prstGeom prst="rect">
            <a:avLst/>
          </a:prstGeom>
          <a:noFill/>
          <a:ln/>
        </p:spPr>
        <p:txBody>
          <a:bodyPr wrap="square" lIns="0" tIns="0" rIns="0" bIns="0" rtlCol="0" anchor="t"/>
          <a:lstStyle/>
          <a:p>
            <a:pPr marL="0" indent="0">
              <a:buNone/>
            </a:pPr>
            <a:r>
              <a:rPr lang="en-US" sz="1800" b="1" dirty="0">
                <a:solidFill>
                  <a:schemeClr val="tx2"/>
                </a:solidFill>
              </a:rPr>
              <a:t>Digital and societal era</a:t>
            </a:r>
            <a:endParaRPr lang="en-US" sz="1800" dirty="0"/>
          </a:p>
        </p:txBody>
      </p:sp>
      <p:sp>
        <p:nvSpPr>
          <p:cNvPr id="33" name="Text"/>
          <p:cNvSpPr txBox="1"/>
          <p:nvPr/>
        </p:nvSpPr>
        <p:spPr>
          <a:xfrm>
            <a:off x="9646920" y="3611880"/>
            <a:ext cx="1828800" cy="274320"/>
          </a:xfrm>
          <a:prstGeom prst="rect">
            <a:avLst/>
          </a:prstGeom>
          <a:noFill/>
          <a:ln/>
        </p:spPr>
        <p:txBody>
          <a:bodyPr wrap="square" lIns="0" tIns="0" rIns="0" bIns="0" rtlCol="0" anchor="t"/>
          <a:lstStyle/>
          <a:p>
            <a:pPr marL="0" indent="0">
              <a:buNone/>
            </a:pPr>
            <a:r>
              <a:rPr lang="en-US" sz="1600" b="1" dirty="0">
                <a:solidFill>
                  <a:schemeClr val="accent1"/>
                </a:solidFill>
              </a:rPr>
              <a:t>2000s to today</a:t>
            </a:r>
            <a:endParaRPr lang="en-US" sz="1600" dirty="0"/>
          </a:p>
        </p:txBody>
      </p:sp>
      <p:sp>
        <p:nvSpPr>
          <p:cNvPr id="34" name="Text"/>
          <p:cNvSpPr txBox="1"/>
          <p:nvPr/>
        </p:nvSpPr>
        <p:spPr>
          <a:xfrm>
            <a:off x="9646920" y="4023360"/>
            <a:ext cx="1828800" cy="1737360"/>
          </a:xfrm>
          <a:prstGeom prst="rect">
            <a:avLst/>
          </a:prstGeom>
          <a:noFill/>
          <a:ln/>
        </p:spPr>
        <p:txBody>
          <a:bodyPr wrap="square" lIns="0" tIns="0" rIns="0" bIns="0" rtlCol="0" anchor="t"/>
          <a:lstStyle/>
          <a:p>
            <a:pPr marL="0" indent="0">
              <a:buNone/>
            </a:pPr>
            <a:r>
              <a:rPr lang="en-US" sz="1600" dirty="0">
                <a:solidFill>
                  <a:schemeClr val="tx1"/>
                </a:solidFill>
              </a:rPr>
              <a:t>Internet, social media and data. Empowered customers expect purpose and responsibility.</a:t>
            </a:r>
            <a:endParaRPr lang="en-US" sz="1600" dirty="0"/>
          </a:p>
        </p:txBody>
      </p:sp>
      <p:sp>
        <p:nvSpPr>
          <p:cNvPr id="35" name="Text"/>
          <p:cNvSpPr txBox="1"/>
          <p:nvPr/>
        </p:nvSpPr>
        <p:spPr>
          <a:xfrm>
            <a:off x="548640" y="5943600"/>
            <a:ext cx="11064240" cy="274320"/>
          </a:xfrm>
          <a:prstGeom prst="rect">
            <a:avLst/>
          </a:prstGeom>
          <a:noFill/>
          <a:ln/>
        </p:spPr>
        <p:txBody>
          <a:bodyPr wrap="square" lIns="0" tIns="0" rIns="0" bIns="0" rtlCol="0" anchor="t"/>
          <a:lstStyle/>
          <a:p>
            <a:pPr marL="0" indent="0">
              <a:buNone/>
            </a:pPr>
            <a:r>
              <a:rPr lang="en-US" sz="1200" i="1" dirty="0">
                <a:solidFill>
                  <a:schemeClr val="accent6"/>
                </a:solidFill>
              </a:rPr>
              <a:t>Dates are approximate; eras overlap and vary by country and industry.</a:t>
            </a:r>
            <a:endParaRPr lang="en-US" sz="12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4" grpId="0" animBg="1"/>
      <p:bldP spid="15" grpId="0" animBg="1"/>
      <p:bldP spid="16" grpId="0" animBg="1"/>
      <p:bldP spid="20" grpId="0" animBg="1"/>
      <p:bldP spid="21" grpId="0" animBg="1"/>
      <p:bldP spid="22" grpId="0" animBg="1"/>
      <p:bldP spid="26" grpId="0" animBg="1"/>
      <p:bldP spid="27" grpId="0" animBg="1"/>
      <p:bldP spid="28" grpId="0" animBg="1"/>
      <p:bldP spid="32" grpId="0" animBg="1"/>
      <p:bldP spid="33" grpId="0" animBg="1"/>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Marketing 1.0 to 5.0</a:t>
            </a:r>
            <a:endParaRPr lang="en-US" sz="3400" dirty="0"/>
          </a:p>
        </p:txBody>
      </p:sp>
      <p:sp>
        <p:nvSpPr>
          <p:cNvPr id="4" name="Stair step"/>
          <p:cNvSpPr/>
          <p:nvPr/>
        </p:nvSpPr>
        <p:spPr>
          <a:xfrm>
            <a:off x="548640" y="3154680"/>
            <a:ext cx="2103120" cy="2743200"/>
          </a:xfrm>
          <a:prstGeom prst="rect">
            <a:avLst/>
          </a:prstGeom>
          <a:solidFill>
            <a:schemeClr val="accent6"/>
          </a:solidFill>
          <a:ln/>
        </p:spPr>
        <p:txBody>
          <a:bodyPr/>
          <a:lstStyle/>
          <a:p>
            <a:endParaRPr lang="en-US"/>
          </a:p>
        </p:txBody>
      </p:sp>
      <p:sp>
        <p:nvSpPr>
          <p:cNvPr id="5" name="Text"/>
          <p:cNvSpPr txBox="1"/>
          <p:nvPr/>
        </p:nvSpPr>
        <p:spPr>
          <a:xfrm>
            <a:off x="731520" y="3337560"/>
            <a:ext cx="1737360" cy="548640"/>
          </a:xfrm>
          <a:prstGeom prst="rect">
            <a:avLst/>
          </a:prstGeom>
          <a:noFill/>
          <a:ln/>
        </p:spPr>
        <p:txBody>
          <a:bodyPr wrap="square" lIns="0" tIns="0" rIns="0" bIns="0" rtlCol="0" anchor="t"/>
          <a:lstStyle/>
          <a:p>
            <a:pPr marL="0" indent="0">
              <a:buNone/>
            </a:pPr>
            <a:r>
              <a:rPr lang="en-US" sz="3000" b="1" dirty="0">
                <a:solidFill>
                  <a:schemeClr val="bg1"/>
                </a:solidFill>
              </a:rPr>
              <a:t>1.0</a:t>
            </a:r>
            <a:endParaRPr lang="en-US" sz="3000" dirty="0"/>
          </a:p>
        </p:txBody>
      </p:sp>
      <p:sp>
        <p:nvSpPr>
          <p:cNvPr id="6" name="Text"/>
          <p:cNvSpPr txBox="1"/>
          <p:nvPr/>
        </p:nvSpPr>
        <p:spPr>
          <a:xfrm>
            <a:off x="731520" y="3931920"/>
            <a:ext cx="1737360" cy="594360"/>
          </a:xfrm>
          <a:prstGeom prst="rect">
            <a:avLst/>
          </a:prstGeom>
          <a:noFill/>
          <a:ln/>
        </p:spPr>
        <p:txBody>
          <a:bodyPr wrap="square" lIns="0" tIns="0" rIns="0" bIns="0" rtlCol="0" anchor="t"/>
          <a:lstStyle/>
          <a:p>
            <a:pPr marL="0" indent="0">
              <a:buNone/>
            </a:pPr>
            <a:r>
              <a:rPr lang="en-US" b="1" dirty="0">
                <a:solidFill>
                  <a:schemeClr val="bg1"/>
                </a:solidFill>
              </a:rPr>
              <a:t>Product-centric</a:t>
            </a:r>
            <a:endParaRPr lang="en-US" dirty="0"/>
          </a:p>
        </p:txBody>
      </p:sp>
      <p:sp>
        <p:nvSpPr>
          <p:cNvPr id="7" name="Text"/>
          <p:cNvSpPr txBox="1"/>
          <p:nvPr/>
        </p:nvSpPr>
        <p:spPr>
          <a:xfrm>
            <a:off x="731520" y="4572000"/>
            <a:ext cx="1737360" cy="1188720"/>
          </a:xfrm>
          <a:prstGeom prst="rect">
            <a:avLst/>
          </a:prstGeom>
          <a:noFill/>
          <a:ln/>
        </p:spPr>
        <p:txBody>
          <a:bodyPr wrap="square" lIns="0" tIns="0" rIns="0" bIns="0" rtlCol="0" anchor="t"/>
          <a:lstStyle/>
          <a:p>
            <a:pPr marL="0" indent="0">
              <a:buNone/>
            </a:pPr>
            <a:r>
              <a:rPr lang="en-US" sz="1600" dirty="0">
                <a:solidFill>
                  <a:schemeClr val="bg1"/>
                </a:solidFill>
              </a:rPr>
              <a:t>Industrial age. Mass production of standard products; the goal is to sell.</a:t>
            </a:r>
            <a:endParaRPr lang="en-US" sz="1600" dirty="0"/>
          </a:p>
        </p:txBody>
      </p:sp>
      <p:sp>
        <p:nvSpPr>
          <p:cNvPr id="8" name="Stair step"/>
          <p:cNvSpPr/>
          <p:nvPr/>
        </p:nvSpPr>
        <p:spPr>
          <a:xfrm>
            <a:off x="2788920" y="2606040"/>
            <a:ext cx="2103120" cy="3291840"/>
          </a:xfrm>
          <a:prstGeom prst="rect">
            <a:avLst/>
          </a:prstGeom>
          <a:solidFill>
            <a:schemeClr val="accent5"/>
          </a:solidFill>
          <a:ln/>
        </p:spPr>
        <p:txBody>
          <a:bodyPr/>
          <a:lstStyle/>
          <a:p>
            <a:endParaRPr lang="en-US"/>
          </a:p>
        </p:txBody>
      </p:sp>
      <p:sp>
        <p:nvSpPr>
          <p:cNvPr id="9" name="Text"/>
          <p:cNvSpPr txBox="1"/>
          <p:nvPr/>
        </p:nvSpPr>
        <p:spPr>
          <a:xfrm>
            <a:off x="2971800" y="2788920"/>
            <a:ext cx="1737360" cy="548640"/>
          </a:xfrm>
          <a:prstGeom prst="rect">
            <a:avLst/>
          </a:prstGeom>
          <a:noFill/>
          <a:ln/>
        </p:spPr>
        <p:txBody>
          <a:bodyPr wrap="square" lIns="0" tIns="0" rIns="0" bIns="0" rtlCol="0" anchor="t"/>
          <a:lstStyle/>
          <a:p>
            <a:pPr marL="0" indent="0">
              <a:buNone/>
            </a:pPr>
            <a:r>
              <a:rPr lang="en-US" sz="3000" b="1" dirty="0">
                <a:solidFill>
                  <a:schemeClr val="bg1"/>
                </a:solidFill>
              </a:rPr>
              <a:t>2.0</a:t>
            </a:r>
            <a:endParaRPr lang="en-US" sz="3000" dirty="0"/>
          </a:p>
        </p:txBody>
      </p:sp>
      <p:sp>
        <p:nvSpPr>
          <p:cNvPr id="10" name="Text"/>
          <p:cNvSpPr txBox="1"/>
          <p:nvPr/>
        </p:nvSpPr>
        <p:spPr>
          <a:xfrm>
            <a:off x="2971800" y="3383280"/>
            <a:ext cx="1737360" cy="594360"/>
          </a:xfrm>
          <a:prstGeom prst="rect">
            <a:avLst/>
          </a:prstGeom>
          <a:noFill/>
          <a:ln/>
        </p:spPr>
        <p:txBody>
          <a:bodyPr wrap="square" lIns="0" tIns="0" rIns="0" bIns="0" rtlCol="0" anchor="t"/>
          <a:lstStyle/>
          <a:p>
            <a:pPr marL="0" indent="0">
              <a:buNone/>
            </a:pPr>
            <a:r>
              <a:rPr lang="en-US" b="1" dirty="0">
                <a:solidFill>
                  <a:schemeClr val="bg1"/>
                </a:solidFill>
              </a:rPr>
              <a:t>Customer-centric</a:t>
            </a:r>
            <a:endParaRPr lang="en-US" dirty="0"/>
          </a:p>
        </p:txBody>
      </p:sp>
      <p:sp>
        <p:nvSpPr>
          <p:cNvPr id="11" name="Text"/>
          <p:cNvSpPr txBox="1"/>
          <p:nvPr/>
        </p:nvSpPr>
        <p:spPr>
          <a:xfrm>
            <a:off x="2971800" y="4023360"/>
            <a:ext cx="1737360" cy="1737360"/>
          </a:xfrm>
          <a:prstGeom prst="rect">
            <a:avLst/>
          </a:prstGeom>
          <a:noFill/>
          <a:ln/>
        </p:spPr>
        <p:txBody>
          <a:bodyPr wrap="square" lIns="0" tIns="0" rIns="0" bIns="0" rtlCol="0" anchor="t"/>
          <a:lstStyle/>
          <a:p>
            <a:pPr marL="0" indent="0">
              <a:buNone/>
            </a:pPr>
            <a:r>
              <a:rPr lang="en-US" sz="1600" dirty="0">
                <a:solidFill>
                  <a:schemeClr val="bg1"/>
                </a:solidFill>
              </a:rPr>
              <a:t>Information age. Segmentation and positioning to satisfy informed consumers</a:t>
            </a:r>
            <a:r>
              <a:rPr lang="en-US" sz="1400" dirty="0">
                <a:solidFill>
                  <a:schemeClr val="bg1"/>
                </a:solidFill>
              </a:rPr>
              <a:t>.</a:t>
            </a:r>
            <a:endParaRPr lang="en-US" sz="1400" dirty="0"/>
          </a:p>
        </p:txBody>
      </p:sp>
      <p:sp>
        <p:nvSpPr>
          <p:cNvPr id="12" name="Stair step"/>
          <p:cNvSpPr/>
          <p:nvPr/>
        </p:nvSpPr>
        <p:spPr>
          <a:xfrm>
            <a:off x="5029200" y="2148840"/>
            <a:ext cx="2103120" cy="3749040"/>
          </a:xfrm>
          <a:prstGeom prst="rect">
            <a:avLst/>
          </a:prstGeom>
          <a:solidFill>
            <a:schemeClr val="accent4"/>
          </a:solidFill>
          <a:ln/>
        </p:spPr>
        <p:txBody>
          <a:bodyPr/>
          <a:lstStyle/>
          <a:p>
            <a:endParaRPr lang="en-US"/>
          </a:p>
        </p:txBody>
      </p:sp>
      <p:sp>
        <p:nvSpPr>
          <p:cNvPr id="13" name="Text"/>
          <p:cNvSpPr txBox="1"/>
          <p:nvPr/>
        </p:nvSpPr>
        <p:spPr>
          <a:xfrm>
            <a:off x="5212080" y="2331720"/>
            <a:ext cx="1737360" cy="548640"/>
          </a:xfrm>
          <a:prstGeom prst="rect">
            <a:avLst/>
          </a:prstGeom>
          <a:noFill/>
          <a:ln/>
        </p:spPr>
        <p:txBody>
          <a:bodyPr wrap="square" lIns="0" tIns="0" rIns="0" bIns="0" rtlCol="0" anchor="t"/>
          <a:lstStyle/>
          <a:p>
            <a:pPr marL="0" indent="0">
              <a:buNone/>
            </a:pPr>
            <a:r>
              <a:rPr lang="en-US" sz="3000" b="1" dirty="0">
                <a:solidFill>
                  <a:schemeClr val="bg1"/>
                </a:solidFill>
              </a:rPr>
              <a:t>3.0</a:t>
            </a:r>
            <a:endParaRPr lang="en-US" sz="3000" dirty="0"/>
          </a:p>
        </p:txBody>
      </p:sp>
      <p:sp>
        <p:nvSpPr>
          <p:cNvPr id="14" name="Text"/>
          <p:cNvSpPr txBox="1"/>
          <p:nvPr/>
        </p:nvSpPr>
        <p:spPr>
          <a:xfrm>
            <a:off x="5212080" y="2926080"/>
            <a:ext cx="1737360" cy="594360"/>
          </a:xfrm>
          <a:prstGeom prst="rect">
            <a:avLst/>
          </a:prstGeom>
          <a:noFill/>
          <a:ln/>
        </p:spPr>
        <p:txBody>
          <a:bodyPr wrap="square" lIns="0" tIns="0" rIns="0" bIns="0" rtlCol="0" anchor="t"/>
          <a:lstStyle/>
          <a:p>
            <a:pPr marL="0" indent="0">
              <a:buNone/>
            </a:pPr>
            <a:r>
              <a:rPr lang="en-US" sz="1600" b="1" dirty="0">
                <a:solidFill>
                  <a:schemeClr val="bg1"/>
                </a:solidFill>
              </a:rPr>
              <a:t>Human-centric</a:t>
            </a:r>
            <a:endParaRPr lang="en-US" sz="1600" dirty="0"/>
          </a:p>
        </p:txBody>
      </p:sp>
      <p:sp>
        <p:nvSpPr>
          <p:cNvPr id="15" name="Text"/>
          <p:cNvSpPr txBox="1"/>
          <p:nvPr/>
        </p:nvSpPr>
        <p:spPr>
          <a:xfrm>
            <a:off x="5212080" y="3566160"/>
            <a:ext cx="1737360" cy="2194560"/>
          </a:xfrm>
          <a:prstGeom prst="rect">
            <a:avLst/>
          </a:prstGeom>
          <a:noFill/>
          <a:ln/>
        </p:spPr>
        <p:txBody>
          <a:bodyPr wrap="square" lIns="0" tIns="0" rIns="0" bIns="0" rtlCol="0" anchor="t"/>
          <a:lstStyle/>
          <a:p>
            <a:pPr marL="0" indent="0">
              <a:buNone/>
            </a:pPr>
            <a:r>
              <a:rPr lang="en-US" sz="1600" dirty="0">
                <a:solidFill>
                  <a:schemeClr val="bg1"/>
                </a:solidFill>
              </a:rPr>
              <a:t>Values-driven. Customers seen as whole people; social issues addressed.</a:t>
            </a:r>
            <a:endParaRPr lang="en-US" sz="1600" dirty="0"/>
          </a:p>
        </p:txBody>
      </p:sp>
      <p:sp>
        <p:nvSpPr>
          <p:cNvPr id="16" name="Stair step"/>
          <p:cNvSpPr/>
          <p:nvPr/>
        </p:nvSpPr>
        <p:spPr>
          <a:xfrm>
            <a:off x="7269480" y="1737360"/>
            <a:ext cx="2103120" cy="4160520"/>
          </a:xfrm>
          <a:prstGeom prst="rect">
            <a:avLst/>
          </a:prstGeom>
          <a:solidFill>
            <a:schemeClr val="accent3"/>
          </a:solidFill>
          <a:ln/>
        </p:spPr>
        <p:txBody>
          <a:bodyPr/>
          <a:lstStyle/>
          <a:p>
            <a:endParaRPr lang="en-US"/>
          </a:p>
        </p:txBody>
      </p:sp>
      <p:sp>
        <p:nvSpPr>
          <p:cNvPr id="17" name="Text"/>
          <p:cNvSpPr txBox="1"/>
          <p:nvPr/>
        </p:nvSpPr>
        <p:spPr>
          <a:xfrm>
            <a:off x="7452360" y="1920240"/>
            <a:ext cx="1737360" cy="548640"/>
          </a:xfrm>
          <a:prstGeom prst="rect">
            <a:avLst/>
          </a:prstGeom>
          <a:noFill/>
          <a:ln/>
        </p:spPr>
        <p:txBody>
          <a:bodyPr wrap="square" lIns="0" tIns="0" rIns="0" bIns="0" rtlCol="0" anchor="t"/>
          <a:lstStyle/>
          <a:p>
            <a:pPr marL="0" indent="0">
              <a:buNone/>
            </a:pPr>
            <a:r>
              <a:rPr lang="en-US" sz="3000" b="1" dirty="0">
                <a:solidFill>
                  <a:schemeClr val="bg1"/>
                </a:solidFill>
              </a:rPr>
              <a:t>4.0</a:t>
            </a:r>
            <a:endParaRPr lang="en-US" sz="3000" dirty="0"/>
          </a:p>
        </p:txBody>
      </p:sp>
      <p:sp>
        <p:nvSpPr>
          <p:cNvPr id="18" name="Text"/>
          <p:cNvSpPr txBox="1"/>
          <p:nvPr/>
        </p:nvSpPr>
        <p:spPr>
          <a:xfrm>
            <a:off x="7452360" y="2514600"/>
            <a:ext cx="1737360" cy="594360"/>
          </a:xfrm>
          <a:prstGeom prst="rect">
            <a:avLst/>
          </a:prstGeom>
          <a:noFill/>
          <a:ln/>
        </p:spPr>
        <p:txBody>
          <a:bodyPr wrap="square" lIns="0" tIns="0" rIns="0" bIns="0" rtlCol="0" anchor="t"/>
          <a:lstStyle/>
          <a:p>
            <a:pPr marL="0" indent="0">
              <a:buNone/>
            </a:pPr>
            <a:r>
              <a:rPr lang="en-US" b="1" dirty="0">
                <a:solidFill>
                  <a:schemeClr val="bg1"/>
                </a:solidFill>
              </a:rPr>
              <a:t>Digital shift</a:t>
            </a:r>
            <a:endParaRPr lang="en-US" dirty="0"/>
          </a:p>
        </p:txBody>
      </p:sp>
      <p:sp>
        <p:nvSpPr>
          <p:cNvPr id="19" name="Text"/>
          <p:cNvSpPr txBox="1"/>
          <p:nvPr/>
        </p:nvSpPr>
        <p:spPr>
          <a:xfrm>
            <a:off x="7452360" y="3154680"/>
            <a:ext cx="1737360" cy="2606040"/>
          </a:xfrm>
          <a:prstGeom prst="rect">
            <a:avLst/>
          </a:prstGeom>
          <a:noFill/>
          <a:ln/>
        </p:spPr>
        <p:txBody>
          <a:bodyPr wrap="square" lIns="0" tIns="0" rIns="0" bIns="0" rtlCol="0" anchor="t"/>
          <a:lstStyle/>
          <a:p>
            <a:pPr marL="0" indent="0">
              <a:buNone/>
            </a:pPr>
            <a:r>
              <a:rPr lang="en-US" sz="1600" dirty="0">
                <a:solidFill>
                  <a:schemeClr val="bg1"/>
                </a:solidFill>
              </a:rPr>
              <a:t>Blends online and offline; engagement and advocacy along the customer path.</a:t>
            </a:r>
            <a:endParaRPr lang="en-US" sz="1600" dirty="0"/>
          </a:p>
        </p:txBody>
      </p:sp>
      <p:sp>
        <p:nvSpPr>
          <p:cNvPr id="20" name="Stair step"/>
          <p:cNvSpPr/>
          <p:nvPr/>
        </p:nvSpPr>
        <p:spPr>
          <a:xfrm>
            <a:off x="9509760" y="1417320"/>
            <a:ext cx="2103120" cy="4480560"/>
          </a:xfrm>
          <a:prstGeom prst="rect">
            <a:avLst/>
          </a:prstGeom>
          <a:solidFill>
            <a:schemeClr val="accent1"/>
          </a:solidFill>
          <a:ln/>
        </p:spPr>
        <p:txBody>
          <a:bodyPr/>
          <a:lstStyle/>
          <a:p>
            <a:endParaRPr lang="en-US"/>
          </a:p>
        </p:txBody>
      </p:sp>
      <p:sp>
        <p:nvSpPr>
          <p:cNvPr id="21" name="Text"/>
          <p:cNvSpPr txBox="1"/>
          <p:nvPr/>
        </p:nvSpPr>
        <p:spPr>
          <a:xfrm>
            <a:off x="9692640" y="1600200"/>
            <a:ext cx="1737360" cy="548640"/>
          </a:xfrm>
          <a:prstGeom prst="rect">
            <a:avLst/>
          </a:prstGeom>
          <a:noFill/>
          <a:ln/>
        </p:spPr>
        <p:txBody>
          <a:bodyPr wrap="square" lIns="0" tIns="0" rIns="0" bIns="0" rtlCol="0" anchor="t"/>
          <a:lstStyle/>
          <a:p>
            <a:pPr marL="0" indent="0">
              <a:buNone/>
            </a:pPr>
            <a:r>
              <a:rPr lang="en-US" sz="3000" b="1" dirty="0">
                <a:solidFill>
                  <a:schemeClr val="bg1"/>
                </a:solidFill>
              </a:rPr>
              <a:t>5.0</a:t>
            </a:r>
            <a:endParaRPr lang="en-US" sz="3000" dirty="0"/>
          </a:p>
        </p:txBody>
      </p:sp>
      <p:sp>
        <p:nvSpPr>
          <p:cNvPr id="22" name="Text"/>
          <p:cNvSpPr txBox="1"/>
          <p:nvPr/>
        </p:nvSpPr>
        <p:spPr>
          <a:xfrm>
            <a:off x="9692640" y="2194560"/>
            <a:ext cx="1737360" cy="594360"/>
          </a:xfrm>
          <a:prstGeom prst="rect">
            <a:avLst/>
          </a:prstGeom>
          <a:noFill/>
          <a:ln/>
        </p:spPr>
        <p:txBody>
          <a:bodyPr wrap="square" lIns="0" tIns="0" rIns="0" bIns="0" rtlCol="0" anchor="t"/>
          <a:lstStyle/>
          <a:p>
            <a:pPr marL="0" indent="0">
              <a:buNone/>
            </a:pPr>
            <a:r>
              <a:rPr lang="en-US" b="1" dirty="0">
                <a:solidFill>
                  <a:schemeClr val="bg1"/>
                </a:solidFill>
              </a:rPr>
              <a:t>Technology for humanity</a:t>
            </a:r>
            <a:endParaRPr lang="en-US" dirty="0"/>
          </a:p>
        </p:txBody>
      </p:sp>
      <p:sp>
        <p:nvSpPr>
          <p:cNvPr id="23" name="Text"/>
          <p:cNvSpPr txBox="1"/>
          <p:nvPr/>
        </p:nvSpPr>
        <p:spPr>
          <a:xfrm>
            <a:off x="9692640" y="2834640"/>
            <a:ext cx="1737360" cy="2926080"/>
          </a:xfrm>
          <a:prstGeom prst="rect">
            <a:avLst/>
          </a:prstGeom>
          <a:noFill/>
          <a:ln/>
        </p:spPr>
        <p:txBody>
          <a:bodyPr wrap="square" lIns="0" tIns="0" rIns="0" bIns="0" rtlCol="0" anchor="t"/>
          <a:lstStyle/>
          <a:p>
            <a:pPr marL="0" indent="0">
              <a:buNone/>
            </a:pPr>
            <a:r>
              <a:rPr lang="en-US" sz="1600" dirty="0">
                <a:solidFill>
                  <a:schemeClr val="bg1"/>
                </a:solidFill>
              </a:rPr>
              <a:t>AI, data, AR/VR and IoT used to create, deliver and enhance value.</a:t>
            </a:r>
            <a:endParaRPr lang="en-US" sz="1600" dirty="0"/>
          </a:p>
        </p:txBody>
      </p:sp>
      <p:sp>
        <p:nvSpPr>
          <p:cNvPr id="24" name="Text"/>
          <p:cNvSpPr txBox="1"/>
          <p:nvPr/>
        </p:nvSpPr>
        <p:spPr>
          <a:xfrm>
            <a:off x="548640" y="5989320"/>
            <a:ext cx="11064240" cy="274320"/>
          </a:xfrm>
          <a:prstGeom prst="rect">
            <a:avLst/>
          </a:prstGeom>
          <a:noFill/>
          <a:ln/>
        </p:spPr>
        <p:txBody>
          <a:bodyPr wrap="square" lIns="0" tIns="0" rIns="0" bIns="0" rtlCol="0" anchor="t"/>
          <a:lstStyle/>
          <a:p>
            <a:pPr marL="0" indent="0">
              <a:buNone/>
            </a:pPr>
            <a:r>
              <a:rPr lang="en-US" sz="1200" i="1" dirty="0">
                <a:solidFill>
                  <a:schemeClr val="accent6"/>
                </a:solidFill>
              </a:rPr>
              <a:t>Supplementary source: Kotler, Kartajaya &amp; Setiawan, Marketing 3.0, 4.0 and 5.0 (Wiley)</a:t>
            </a:r>
            <a:endParaRPr lang="en-US" sz="12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6"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Forces Reshaping </a:t>
            </a:r>
            <a:r>
              <a:rPr lang="en-US" dirty="0"/>
              <a:t>M</a:t>
            </a:r>
            <a:r>
              <a:rPr lang="en-US" sz="3400" b="1" dirty="0">
                <a:solidFill>
                  <a:schemeClr val="tx2"/>
                </a:solidFill>
              </a:rPr>
              <a:t>arketing </a:t>
            </a:r>
            <a:r>
              <a:rPr lang="en-US" dirty="0"/>
              <a:t>T</a:t>
            </a:r>
            <a:r>
              <a:rPr lang="en-US" sz="3400" b="1" dirty="0">
                <a:solidFill>
                  <a:schemeClr val="tx2"/>
                </a:solidFill>
              </a:rPr>
              <a:t>oday</a:t>
            </a:r>
            <a:endParaRPr lang="en-US" sz="3400" dirty="0"/>
          </a:p>
        </p:txBody>
      </p:sp>
      <p:sp>
        <p:nvSpPr>
          <p:cNvPr id="4" name="Lead panel"/>
          <p:cNvSpPr/>
          <p:nvPr/>
        </p:nvSpPr>
        <p:spPr>
          <a:xfrm>
            <a:off x="548640" y="1417320"/>
            <a:ext cx="3291840" cy="4709160"/>
          </a:xfrm>
          <a:prstGeom prst="roundRect">
            <a:avLst>
              <a:gd name="adj" fmla="val 2778"/>
            </a:avLst>
          </a:prstGeom>
          <a:solidFill>
            <a:schemeClr val="tx2"/>
          </a:solidFill>
          <a:ln/>
        </p:spPr>
        <p:txBody>
          <a:bodyPr/>
          <a:lstStyle/>
          <a:p>
            <a:endParaRPr lang="en-US"/>
          </a:p>
        </p:txBody>
      </p:sp>
      <p:sp>
        <p:nvSpPr>
          <p:cNvPr id="5" name="Icon circle"/>
          <p:cNvSpPr/>
          <p:nvPr/>
        </p:nvSpPr>
        <p:spPr>
          <a:xfrm>
            <a:off x="868680" y="1737360"/>
            <a:ext cx="822960" cy="822960"/>
          </a:xfrm>
          <a:prstGeom prst="ellipse">
            <a:avLst/>
          </a:prstGeom>
          <a:solidFill>
            <a:schemeClr val="accent1"/>
          </a:solidFill>
          <a:ln/>
        </p:spPr>
        <p:txBody>
          <a:bodyPr/>
          <a:lstStyle/>
          <a:p>
            <a:endParaRPr lang="en-US"/>
          </a:p>
        </p:txBody>
      </p:sp>
      <p:pic>
        <p:nvPicPr>
          <p:cNvPr id="6" name="Icon" descr="Globe icon"/>
          <p:cNvPicPr>
            <a:picLocks noChangeAspect="1"/>
          </p:cNvPicPr>
          <p:nvPr/>
        </p:nvPicPr>
        <p:blipFill>
          <a:blip r:embed="rId3"/>
          <a:stretch>
            <a:fillRect/>
          </a:stretch>
        </p:blipFill>
        <p:spPr>
          <a:xfrm>
            <a:off x="1074420" y="1943100"/>
            <a:ext cx="411480" cy="411480"/>
          </a:xfrm>
          <a:prstGeom prst="rect">
            <a:avLst/>
          </a:prstGeom>
        </p:spPr>
      </p:pic>
      <p:sp>
        <p:nvSpPr>
          <p:cNvPr id="7" name="Text"/>
          <p:cNvSpPr txBox="1"/>
          <p:nvPr/>
        </p:nvSpPr>
        <p:spPr>
          <a:xfrm>
            <a:off x="868680" y="2788920"/>
            <a:ext cx="2651760" cy="1097280"/>
          </a:xfrm>
          <a:prstGeom prst="rect">
            <a:avLst/>
          </a:prstGeom>
          <a:noFill/>
          <a:ln/>
        </p:spPr>
        <p:txBody>
          <a:bodyPr wrap="square" lIns="0" tIns="0" rIns="0" bIns="0" rtlCol="0" anchor="t"/>
          <a:lstStyle/>
          <a:p>
            <a:pPr marL="0" indent="0">
              <a:buNone/>
            </a:pPr>
            <a:r>
              <a:rPr lang="en-US" sz="2400" b="1" dirty="0">
                <a:solidFill>
                  <a:schemeClr val="bg1"/>
                </a:solidFill>
              </a:rPr>
              <a:t>Why marketing keeps evolving</a:t>
            </a:r>
            <a:endParaRPr lang="en-US" sz="2400" dirty="0"/>
          </a:p>
        </p:txBody>
      </p:sp>
      <p:sp>
        <p:nvSpPr>
          <p:cNvPr id="8" name="Text"/>
          <p:cNvSpPr txBox="1"/>
          <p:nvPr/>
        </p:nvSpPr>
        <p:spPr>
          <a:xfrm>
            <a:off x="868680" y="4069080"/>
            <a:ext cx="2651760" cy="1645920"/>
          </a:xfrm>
          <a:prstGeom prst="rect">
            <a:avLst/>
          </a:prstGeom>
          <a:noFill/>
          <a:ln/>
        </p:spPr>
        <p:txBody>
          <a:bodyPr wrap="square" lIns="0" tIns="0" rIns="0" bIns="0" rtlCol="0" anchor="t"/>
          <a:lstStyle/>
          <a:p>
            <a:pPr marL="0" indent="0">
              <a:buNone/>
            </a:pPr>
            <a:r>
              <a:rPr lang="en-US" dirty="0">
                <a:solidFill>
                  <a:schemeClr val="bg2"/>
                </a:solidFill>
              </a:rPr>
              <a:t>Each era of marketing reflects the economic, technological and social conditions of its time.</a:t>
            </a:r>
            <a:endParaRPr lang="en-US" dirty="0"/>
          </a:p>
        </p:txBody>
      </p:sp>
      <p:sp>
        <p:nvSpPr>
          <p:cNvPr id="9" name="Force card"/>
          <p:cNvSpPr/>
          <p:nvPr/>
        </p:nvSpPr>
        <p:spPr>
          <a:xfrm>
            <a:off x="4023360" y="1417320"/>
            <a:ext cx="3703320" cy="1463040"/>
          </a:xfrm>
          <a:prstGeom prst="roundRect">
            <a:avLst>
              <a:gd name="adj" fmla="val 6250"/>
            </a:avLst>
          </a:prstGeom>
          <a:solidFill>
            <a:schemeClr val="bg2"/>
          </a:solidFill>
          <a:ln/>
        </p:spPr>
        <p:txBody>
          <a:bodyPr/>
          <a:lstStyle/>
          <a:p>
            <a:endParaRPr lang="en-US"/>
          </a:p>
        </p:txBody>
      </p:sp>
      <p:sp>
        <p:nvSpPr>
          <p:cNvPr id="10" name="Icon circle"/>
          <p:cNvSpPr/>
          <p:nvPr/>
        </p:nvSpPr>
        <p:spPr>
          <a:xfrm>
            <a:off x="4206240" y="1600200"/>
            <a:ext cx="548640" cy="548640"/>
          </a:xfrm>
          <a:prstGeom prst="ellipse">
            <a:avLst/>
          </a:prstGeom>
          <a:solidFill>
            <a:schemeClr val="accent5"/>
          </a:solidFill>
          <a:ln/>
        </p:spPr>
        <p:txBody>
          <a:bodyPr/>
          <a:lstStyle/>
          <a:p>
            <a:endParaRPr lang="en-US"/>
          </a:p>
        </p:txBody>
      </p:sp>
      <p:pic>
        <p:nvPicPr>
          <p:cNvPr id="11" name="Icon" descr="MobileAlt icon"/>
          <p:cNvPicPr>
            <a:picLocks noChangeAspect="1"/>
          </p:cNvPicPr>
          <p:nvPr/>
        </p:nvPicPr>
        <p:blipFill>
          <a:blip r:embed="rId4"/>
          <a:stretch>
            <a:fillRect/>
          </a:stretch>
        </p:blipFill>
        <p:spPr>
          <a:xfrm>
            <a:off x="4343400" y="1737360"/>
            <a:ext cx="274320" cy="274320"/>
          </a:xfrm>
          <a:prstGeom prst="rect">
            <a:avLst/>
          </a:prstGeom>
        </p:spPr>
      </p:pic>
      <p:sp>
        <p:nvSpPr>
          <p:cNvPr id="12" name="Text"/>
          <p:cNvSpPr txBox="1"/>
          <p:nvPr/>
        </p:nvSpPr>
        <p:spPr>
          <a:xfrm>
            <a:off x="4937760" y="1554480"/>
            <a:ext cx="2651760" cy="1234440"/>
          </a:xfrm>
          <a:prstGeom prst="rect">
            <a:avLst/>
          </a:prstGeom>
          <a:noFill/>
          <a:ln/>
        </p:spPr>
        <p:txBody>
          <a:bodyPr wrap="square" lIns="0" tIns="0" rIns="0" bIns="0" rtlCol="0" anchor="ctr"/>
          <a:lstStyle/>
          <a:p>
            <a:pPr marL="0" indent="0">
              <a:spcAft>
                <a:spcPts val="200"/>
              </a:spcAft>
              <a:buNone/>
            </a:pPr>
            <a:r>
              <a:rPr lang="en-US" sz="1600" b="1" dirty="0">
                <a:solidFill>
                  <a:schemeClr val="tx2"/>
                </a:solidFill>
              </a:rPr>
              <a:t>Digital age</a:t>
            </a:r>
            <a:endParaRPr lang="en-US" sz="1600" dirty="0"/>
          </a:p>
          <a:p>
            <a:pPr marL="0" indent="0">
              <a:spcAft>
                <a:spcPts val="200"/>
              </a:spcAft>
              <a:buNone/>
            </a:pPr>
            <a:r>
              <a:rPr lang="en-US" sz="1600" dirty="0">
                <a:solidFill>
                  <a:schemeClr val="tx1"/>
                </a:solidFill>
              </a:rPr>
              <a:t>Connected technology, social media and data change how brands reach customers.</a:t>
            </a:r>
            <a:endParaRPr lang="en-US" sz="1600" dirty="0"/>
          </a:p>
        </p:txBody>
      </p:sp>
      <p:sp>
        <p:nvSpPr>
          <p:cNvPr id="13" name="Force card"/>
          <p:cNvSpPr/>
          <p:nvPr/>
        </p:nvSpPr>
        <p:spPr>
          <a:xfrm>
            <a:off x="7863840" y="1417320"/>
            <a:ext cx="3703320" cy="1463040"/>
          </a:xfrm>
          <a:prstGeom prst="roundRect">
            <a:avLst>
              <a:gd name="adj" fmla="val 6250"/>
            </a:avLst>
          </a:prstGeom>
          <a:solidFill>
            <a:schemeClr val="bg2"/>
          </a:solidFill>
          <a:ln/>
        </p:spPr>
        <p:txBody>
          <a:bodyPr/>
          <a:lstStyle/>
          <a:p>
            <a:endParaRPr lang="en-US"/>
          </a:p>
        </p:txBody>
      </p:sp>
      <p:sp>
        <p:nvSpPr>
          <p:cNvPr id="14" name="Icon circle"/>
          <p:cNvSpPr/>
          <p:nvPr/>
        </p:nvSpPr>
        <p:spPr>
          <a:xfrm>
            <a:off x="8046720" y="1600200"/>
            <a:ext cx="548640" cy="548640"/>
          </a:xfrm>
          <a:prstGeom prst="ellipse">
            <a:avLst/>
          </a:prstGeom>
          <a:solidFill>
            <a:schemeClr val="accent3"/>
          </a:solidFill>
          <a:ln/>
        </p:spPr>
        <p:txBody>
          <a:bodyPr/>
          <a:lstStyle/>
          <a:p>
            <a:endParaRPr lang="en-US"/>
          </a:p>
        </p:txBody>
      </p:sp>
      <p:pic>
        <p:nvPicPr>
          <p:cNvPr id="15" name="Icon" descr="GlobeAmericas icon"/>
          <p:cNvPicPr>
            <a:picLocks noChangeAspect="1"/>
          </p:cNvPicPr>
          <p:nvPr/>
        </p:nvPicPr>
        <p:blipFill>
          <a:blip r:embed="rId5"/>
          <a:stretch>
            <a:fillRect/>
          </a:stretch>
        </p:blipFill>
        <p:spPr>
          <a:xfrm>
            <a:off x="8183880" y="1737360"/>
            <a:ext cx="274320" cy="274320"/>
          </a:xfrm>
          <a:prstGeom prst="rect">
            <a:avLst/>
          </a:prstGeom>
        </p:spPr>
      </p:pic>
      <p:sp>
        <p:nvSpPr>
          <p:cNvPr id="16" name="Text"/>
          <p:cNvSpPr txBox="1"/>
          <p:nvPr/>
        </p:nvSpPr>
        <p:spPr>
          <a:xfrm>
            <a:off x="8778240" y="1554480"/>
            <a:ext cx="2651760" cy="1234440"/>
          </a:xfrm>
          <a:prstGeom prst="rect">
            <a:avLst/>
          </a:prstGeom>
          <a:noFill/>
          <a:ln/>
        </p:spPr>
        <p:txBody>
          <a:bodyPr wrap="square" lIns="0" tIns="0" rIns="0" bIns="0" rtlCol="0" anchor="ctr"/>
          <a:lstStyle/>
          <a:p>
            <a:pPr marL="0" indent="0">
              <a:spcAft>
                <a:spcPts val="200"/>
              </a:spcAft>
              <a:buNone/>
            </a:pPr>
            <a:r>
              <a:rPr lang="en-US" sz="1600" b="1" dirty="0">
                <a:solidFill>
                  <a:schemeClr val="tx2"/>
                </a:solidFill>
              </a:rPr>
              <a:t>Globalization</a:t>
            </a:r>
            <a:endParaRPr lang="en-US" sz="1600" dirty="0"/>
          </a:p>
          <a:p>
            <a:pPr marL="0" indent="0">
              <a:spcAft>
                <a:spcPts val="200"/>
              </a:spcAft>
              <a:buNone/>
            </a:pPr>
            <a:r>
              <a:rPr lang="en-US" sz="1600" dirty="0">
                <a:solidFill>
                  <a:schemeClr val="tx1"/>
                </a:solidFill>
              </a:rPr>
              <a:t>Markets and competitors are worldwide; firms sell and source across borders.</a:t>
            </a:r>
            <a:endParaRPr lang="en-US" sz="1600" dirty="0"/>
          </a:p>
        </p:txBody>
      </p:sp>
      <p:sp>
        <p:nvSpPr>
          <p:cNvPr id="17" name="Force card"/>
          <p:cNvSpPr/>
          <p:nvPr/>
        </p:nvSpPr>
        <p:spPr>
          <a:xfrm>
            <a:off x="4023360" y="3017520"/>
            <a:ext cx="3703320" cy="1463040"/>
          </a:xfrm>
          <a:prstGeom prst="roundRect">
            <a:avLst>
              <a:gd name="adj" fmla="val 6250"/>
            </a:avLst>
          </a:prstGeom>
          <a:solidFill>
            <a:schemeClr val="bg2"/>
          </a:solidFill>
          <a:ln/>
        </p:spPr>
        <p:txBody>
          <a:bodyPr/>
          <a:lstStyle/>
          <a:p>
            <a:endParaRPr lang="en-US"/>
          </a:p>
        </p:txBody>
      </p:sp>
      <p:sp>
        <p:nvSpPr>
          <p:cNvPr id="18" name="Icon circle"/>
          <p:cNvSpPr/>
          <p:nvPr/>
        </p:nvSpPr>
        <p:spPr>
          <a:xfrm>
            <a:off x="4206240" y="3200400"/>
            <a:ext cx="548640" cy="548640"/>
          </a:xfrm>
          <a:prstGeom prst="ellipse">
            <a:avLst/>
          </a:prstGeom>
          <a:solidFill>
            <a:schemeClr val="accent4"/>
          </a:solidFill>
          <a:ln/>
        </p:spPr>
        <p:txBody>
          <a:bodyPr/>
          <a:lstStyle/>
          <a:p>
            <a:endParaRPr lang="en-US"/>
          </a:p>
        </p:txBody>
      </p:sp>
      <p:pic>
        <p:nvPicPr>
          <p:cNvPr id="19" name="Icon" descr="DollarSign icon"/>
          <p:cNvPicPr>
            <a:picLocks noChangeAspect="1"/>
          </p:cNvPicPr>
          <p:nvPr/>
        </p:nvPicPr>
        <p:blipFill>
          <a:blip r:embed="rId6"/>
          <a:stretch>
            <a:fillRect/>
          </a:stretch>
        </p:blipFill>
        <p:spPr>
          <a:xfrm>
            <a:off x="4343400" y="3337560"/>
            <a:ext cx="274320" cy="274320"/>
          </a:xfrm>
          <a:prstGeom prst="rect">
            <a:avLst/>
          </a:prstGeom>
        </p:spPr>
      </p:pic>
      <p:sp>
        <p:nvSpPr>
          <p:cNvPr id="20" name="Text"/>
          <p:cNvSpPr txBox="1"/>
          <p:nvPr/>
        </p:nvSpPr>
        <p:spPr>
          <a:xfrm>
            <a:off x="4937760" y="3154680"/>
            <a:ext cx="2651760" cy="1234440"/>
          </a:xfrm>
          <a:prstGeom prst="rect">
            <a:avLst/>
          </a:prstGeom>
          <a:noFill/>
          <a:ln/>
        </p:spPr>
        <p:txBody>
          <a:bodyPr wrap="square" lIns="0" tIns="0" rIns="0" bIns="0" rtlCol="0" anchor="ctr"/>
          <a:lstStyle/>
          <a:p>
            <a:pPr marL="0" indent="0">
              <a:spcAft>
                <a:spcPts val="200"/>
              </a:spcAft>
              <a:buNone/>
            </a:pPr>
            <a:r>
              <a:rPr lang="en-US" sz="1600" b="1" dirty="0">
                <a:solidFill>
                  <a:schemeClr val="tx2"/>
                </a:solidFill>
              </a:rPr>
              <a:t>Changing economy</a:t>
            </a:r>
            <a:endParaRPr lang="en-US" sz="1600" dirty="0"/>
          </a:p>
          <a:p>
            <a:pPr marL="0" indent="0">
              <a:spcAft>
                <a:spcPts val="200"/>
              </a:spcAft>
              <a:buNone/>
            </a:pPr>
            <a:r>
              <a:rPr lang="en-US" sz="1600" dirty="0">
                <a:solidFill>
                  <a:schemeClr val="tx1"/>
                </a:solidFill>
              </a:rPr>
              <a:t>Customers look for greater value; price must be justified by benefits</a:t>
            </a:r>
            <a:r>
              <a:rPr lang="en-US" sz="1400" dirty="0">
                <a:solidFill>
                  <a:schemeClr val="tx1"/>
                </a:solidFill>
              </a:rPr>
              <a:t>.</a:t>
            </a:r>
            <a:endParaRPr lang="en-US" sz="1400" dirty="0"/>
          </a:p>
        </p:txBody>
      </p:sp>
      <p:sp>
        <p:nvSpPr>
          <p:cNvPr id="21" name="Force card"/>
          <p:cNvSpPr/>
          <p:nvPr/>
        </p:nvSpPr>
        <p:spPr>
          <a:xfrm>
            <a:off x="7863840" y="3017520"/>
            <a:ext cx="3703320" cy="1463040"/>
          </a:xfrm>
          <a:prstGeom prst="roundRect">
            <a:avLst>
              <a:gd name="adj" fmla="val 6250"/>
            </a:avLst>
          </a:prstGeom>
          <a:solidFill>
            <a:schemeClr val="bg2"/>
          </a:solidFill>
          <a:ln/>
        </p:spPr>
        <p:txBody>
          <a:bodyPr/>
          <a:lstStyle/>
          <a:p>
            <a:endParaRPr lang="en-US"/>
          </a:p>
        </p:txBody>
      </p:sp>
      <p:sp>
        <p:nvSpPr>
          <p:cNvPr id="22" name="Icon circle"/>
          <p:cNvSpPr/>
          <p:nvPr/>
        </p:nvSpPr>
        <p:spPr>
          <a:xfrm>
            <a:off x="8046720" y="3200400"/>
            <a:ext cx="548640" cy="548640"/>
          </a:xfrm>
          <a:prstGeom prst="ellipse">
            <a:avLst/>
          </a:prstGeom>
          <a:solidFill>
            <a:schemeClr val="accent3"/>
          </a:solidFill>
          <a:ln/>
        </p:spPr>
        <p:txBody>
          <a:bodyPr/>
          <a:lstStyle/>
          <a:p>
            <a:endParaRPr lang="en-US"/>
          </a:p>
        </p:txBody>
      </p:sp>
      <p:pic>
        <p:nvPicPr>
          <p:cNvPr id="23" name="Icon" descr="Recycle icon"/>
          <p:cNvPicPr>
            <a:picLocks noChangeAspect="1"/>
          </p:cNvPicPr>
          <p:nvPr/>
        </p:nvPicPr>
        <p:blipFill>
          <a:blip r:embed="rId7"/>
          <a:stretch>
            <a:fillRect/>
          </a:stretch>
        </p:blipFill>
        <p:spPr>
          <a:xfrm>
            <a:off x="8183880" y="3337560"/>
            <a:ext cx="274320" cy="274320"/>
          </a:xfrm>
          <a:prstGeom prst="rect">
            <a:avLst/>
          </a:prstGeom>
        </p:spPr>
      </p:pic>
      <p:sp>
        <p:nvSpPr>
          <p:cNvPr id="24" name="Text"/>
          <p:cNvSpPr txBox="1"/>
          <p:nvPr/>
        </p:nvSpPr>
        <p:spPr>
          <a:xfrm>
            <a:off x="8778240" y="3154680"/>
            <a:ext cx="2651760" cy="1234440"/>
          </a:xfrm>
          <a:prstGeom prst="rect">
            <a:avLst/>
          </a:prstGeom>
          <a:noFill/>
          <a:ln/>
        </p:spPr>
        <p:txBody>
          <a:bodyPr wrap="square" lIns="0" tIns="0" rIns="0" bIns="0" rtlCol="0" anchor="ctr"/>
          <a:lstStyle/>
          <a:p>
            <a:pPr marL="0" indent="0">
              <a:spcAft>
                <a:spcPts val="200"/>
              </a:spcAft>
              <a:buNone/>
            </a:pPr>
            <a:r>
              <a:rPr lang="en-US" sz="1600" b="1" dirty="0">
                <a:solidFill>
                  <a:schemeClr val="tx2"/>
                </a:solidFill>
              </a:rPr>
              <a:t>Sustainability</a:t>
            </a:r>
            <a:endParaRPr lang="en-US" sz="1600" dirty="0"/>
          </a:p>
          <a:p>
            <a:pPr marL="0" indent="0">
              <a:spcAft>
                <a:spcPts val="200"/>
              </a:spcAft>
              <a:buNone/>
            </a:pPr>
            <a:r>
              <a:rPr lang="en-US" sz="1600" dirty="0">
                <a:solidFill>
                  <a:schemeClr val="tx1"/>
                </a:solidFill>
              </a:rPr>
              <a:t>Growing pressure for environmental and social responsibility.</a:t>
            </a:r>
            <a:endParaRPr lang="en-US" sz="1600" dirty="0"/>
          </a:p>
        </p:txBody>
      </p:sp>
      <p:sp>
        <p:nvSpPr>
          <p:cNvPr id="25" name="Force card"/>
          <p:cNvSpPr/>
          <p:nvPr/>
        </p:nvSpPr>
        <p:spPr>
          <a:xfrm>
            <a:off x="4023360" y="4617720"/>
            <a:ext cx="3703320" cy="1463040"/>
          </a:xfrm>
          <a:prstGeom prst="roundRect">
            <a:avLst>
              <a:gd name="adj" fmla="val 6250"/>
            </a:avLst>
          </a:prstGeom>
          <a:solidFill>
            <a:schemeClr val="bg2"/>
          </a:solidFill>
          <a:ln/>
        </p:spPr>
        <p:txBody>
          <a:bodyPr/>
          <a:lstStyle/>
          <a:p>
            <a:endParaRPr lang="en-US"/>
          </a:p>
        </p:txBody>
      </p:sp>
      <p:sp>
        <p:nvSpPr>
          <p:cNvPr id="26" name="Icon circle"/>
          <p:cNvSpPr/>
          <p:nvPr/>
        </p:nvSpPr>
        <p:spPr>
          <a:xfrm>
            <a:off x="4206240" y="4800600"/>
            <a:ext cx="548640" cy="548640"/>
          </a:xfrm>
          <a:prstGeom prst="ellipse">
            <a:avLst/>
          </a:prstGeom>
          <a:solidFill>
            <a:schemeClr val="accent1"/>
          </a:solidFill>
          <a:ln/>
        </p:spPr>
        <p:txBody>
          <a:bodyPr/>
          <a:lstStyle/>
          <a:p>
            <a:endParaRPr lang="en-US"/>
          </a:p>
        </p:txBody>
      </p:sp>
      <p:pic>
        <p:nvPicPr>
          <p:cNvPr id="27" name="Icon" descr="Users icon"/>
          <p:cNvPicPr>
            <a:picLocks noChangeAspect="1"/>
          </p:cNvPicPr>
          <p:nvPr/>
        </p:nvPicPr>
        <p:blipFill>
          <a:blip r:embed="rId8"/>
          <a:stretch>
            <a:fillRect/>
          </a:stretch>
        </p:blipFill>
        <p:spPr>
          <a:xfrm>
            <a:off x="4343400" y="4937760"/>
            <a:ext cx="274320" cy="274320"/>
          </a:xfrm>
          <a:prstGeom prst="rect">
            <a:avLst/>
          </a:prstGeom>
        </p:spPr>
      </p:pic>
      <p:sp>
        <p:nvSpPr>
          <p:cNvPr id="28" name="Text"/>
          <p:cNvSpPr txBox="1"/>
          <p:nvPr/>
        </p:nvSpPr>
        <p:spPr>
          <a:xfrm>
            <a:off x="4937760" y="4754880"/>
            <a:ext cx="2651760" cy="1234440"/>
          </a:xfrm>
          <a:prstGeom prst="rect">
            <a:avLst/>
          </a:prstGeom>
          <a:noFill/>
          <a:ln/>
        </p:spPr>
        <p:txBody>
          <a:bodyPr wrap="square" lIns="0" tIns="0" rIns="0" bIns="0" rtlCol="0" anchor="ctr"/>
          <a:lstStyle/>
          <a:p>
            <a:pPr marL="0" indent="0">
              <a:spcAft>
                <a:spcPts val="200"/>
              </a:spcAft>
              <a:buNone/>
            </a:pPr>
            <a:r>
              <a:rPr lang="en-US" sz="1600" b="1" dirty="0">
                <a:solidFill>
                  <a:schemeClr val="tx2"/>
                </a:solidFill>
              </a:rPr>
              <a:t>Empowered customers</a:t>
            </a:r>
            <a:endParaRPr lang="en-US" sz="1600" dirty="0"/>
          </a:p>
          <a:p>
            <a:pPr marL="0" indent="0">
              <a:spcAft>
                <a:spcPts val="200"/>
              </a:spcAft>
              <a:buNone/>
            </a:pPr>
            <a:r>
              <a:rPr lang="en-US" sz="1600" dirty="0">
                <a:solidFill>
                  <a:schemeClr val="tx1"/>
                </a:solidFill>
              </a:rPr>
              <a:t>Information and choice give buyers more power over brands.</a:t>
            </a:r>
            <a:endParaRPr lang="en-US" sz="1600" dirty="0"/>
          </a:p>
        </p:txBody>
      </p:sp>
      <p:sp>
        <p:nvSpPr>
          <p:cNvPr id="29" name="Force card"/>
          <p:cNvSpPr/>
          <p:nvPr/>
        </p:nvSpPr>
        <p:spPr>
          <a:xfrm>
            <a:off x="7863840" y="4617720"/>
            <a:ext cx="3703320" cy="1463040"/>
          </a:xfrm>
          <a:prstGeom prst="roundRect">
            <a:avLst>
              <a:gd name="adj" fmla="val 6250"/>
            </a:avLst>
          </a:prstGeom>
          <a:solidFill>
            <a:schemeClr val="bg2"/>
          </a:solidFill>
          <a:ln/>
        </p:spPr>
        <p:txBody>
          <a:bodyPr/>
          <a:lstStyle/>
          <a:p>
            <a:endParaRPr lang="en-US"/>
          </a:p>
        </p:txBody>
      </p:sp>
      <p:sp>
        <p:nvSpPr>
          <p:cNvPr id="30" name="Icon circle"/>
          <p:cNvSpPr/>
          <p:nvPr/>
        </p:nvSpPr>
        <p:spPr>
          <a:xfrm>
            <a:off x="8046720" y="4800600"/>
            <a:ext cx="548640" cy="548640"/>
          </a:xfrm>
          <a:prstGeom prst="ellipse">
            <a:avLst/>
          </a:prstGeom>
          <a:solidFill>
            <a:schemeClr val="accent5"/>
          </a:solidFill>
          <a:ln/>
        </p:spPr>
        <p:txBody>
          <a:bodyPr/>
          <a:lstStyle/>
          <a:p>
            <a:endParaRPr lang="en-US"/>
          </a:p>
        </p:txBody>
      </p:sp>
      <p:pic>
        <p:nvPicPr>
          <p:cNvPr id="31" name="Icon" descr="University icon"/>
          <p:cNvPicPr>
            <a:picLocks noChangeAspect="1"/>
          </p:cNvPicPr>
          <p:nvPr/>
        </p:nvPicPr>
        <p:blipFill>
          <a:blip r:embed="rId9"/>
          <a:stretch>
            <a:fillRect/>
          </a:stretch>
        </p:blipFill>
        <p:spPr>
          <a:xfrm>
            <a:off x="8183880" y="4937760"/>
            <a:ext cx="274320" cy="274320"/>
          </a:xfrm>
          <a:prstGeom prst="rect">
            <a:avLst/>
          </a:prstGeom>
        </p:spPr>
      </p:pic>
      <p:sp>
        <p:nvSpPr>
          <p:cNvPr id="32" name="Text"/>
          <p:cNvSpPr txBox="1"/>
          <p:nvPr/>
        </p:nvSpPr>
        <p:spPr>
          <a:xfrm>
            <a:off x="8778240" y="4754880"/>
            <a:ext cx="2651760" cy="1234440"/>
          </a:xfrm>
          <a:prstGeom prst="rect">
            <a:avLst/>
          </a:prstGeom>
          <a:noFill/>
          <a:ln/>
        </p:spPr>
        <p:txBody>
          <a:bodyPr wrap="square" lIns="0" tIns="0" rIns="0" bIns="0" rtlCol="0" anchor="ctr"/>
          <a:lstStyle/>
          <a:p>
            <a:pPr marL="0" indent="0">
              <a:spcAft>
                <a:spcPts val="200"/>
              </a:spcAft>
              <a:buNone/>
            </a:pPr>
            <a:r>
              <a:rPr lang="en-US" sz="1600" b="1" dirty="0">
                <a:solidFill>
                  <a:schemeClr val="tx2"/>
                </a:solidFill>
              </a:rPr>
              <a:t>Not-for-profit marketing</a:t>
            </a:r>
            <a:endParaRPr lang="en-US" sz="1600" dirty="0"/>
          </a:p>
          <a:p>
            <a:pPr marL="0" indent="0">
              <a:spcAft>
                <a:spcPts val="200"/>
              </a:spcAft>
              <a:buNone/>
            </a:pPr>
            <a:r>
              <a:rPr lang="en-US" sz="1600" dirty="0">
                <a:solidFill>
                  <a:schemeClr val="tx1"/>
                </a:solidFill>
              </a:rPr>
              <a:t>Universities, hospitals, charities and governments adopt marketing.</a:t>
            </a:r>
            <a:endParaRPr lang="en-US" sz="16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3" grpId="0" animBg="1"/>
      <p:bldP spid="17" grpId="0" animBg="1"/>
      <p:bldP spid="21" grpId="0" animBg="1"/>
      <p:bldP spid="25"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From Transactions to Relationships</a:t>
            </a:r>
            <a:endParaRPr lang="en-US" sz="3400" dirty="0"/>
          </a:p>
        </p:txBody>
      </p:sp>
      <p:graphicFrame>
        <p:nvGraphicFramePr>
          <p:cNvPr id="20" name="Table"/>
          <p:cNvGraphicFramePr>
            <a:graphicFrameLocks noGrp="1"/>
          </p:cNvGraphicFramePr>
          <p:nvPr>
            <p:extLst>
              <p:ext uri="{D42A27DB-BD31-4B8C-83A1-F6EECF244321}">
                <p14:modId xmlns:p14="http://schemas.microsoft.com/office/powerpoint/2010/main" val="4002349776"/>
              </p:ext>
            </p:extLst>
          </p:nvPr>
        </p:nvGraphicFramePr>
        <p:xfrm>
          <a:off x="548640" y="1463040"/>
          <a:ext cx="6858000" cy="4617720"/>
        </p:xfrm>
        <a:graphic>
          <a:graphicData uri="http://schemas.openxmlformats.org/drawingml/2006/table">
            <a:tbl>
              <a:tblPr/>
              <a:tblGrid>
                <a:gridCol w="18288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502920">
                <a:tc>
                  <a:txBody>
                    <a:bodyPr/>
                    <a:lstStyle/>
                    <a:p>
                      <a:pPr marL="0" indent="0">
                        <a:buNone/>
                      </a:pPr>
                      <a:r>
                        <a:rPr lang="en-US" sz="1600" b="1" dirty="0">
                          <a:solidFill>
                            <a:srgbClr val="FFFFFF"/>
                          </a:solidFill>
                        </a:rPr>
                        <a:t>Dimension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Transactional 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Relationship 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rgbClr val="1F2A5C"/>
                          </a:solidFill>
                        </a:rPr>
                        <a:t>Focus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Single sale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Customer retention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rgbClr val="1F2A5C"/>
                          </a:solidFill>
                        </a:rPr>
                        <a:t>Orientation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Product features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Customer value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rgbClr val="1F2A5C"/>
                          </a:solidFill>
                        </a:rPr>
                        <a:t>Time scale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Short term</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Long term</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3"/>
                  </a:ext>
                </a:extLst>
              </a:tr>
              <a:tr h="685800">
                <a:tc>
                  <a:txBody>
                    <a:bodyPr/>
                    <a:lstStyle/>
                    <a:p>
                      <a:pPr marL="0" indent="0">
                        <a:buNone/>
                      </a:pPr>
                      <a:r>
                        <a:rPr lang="en-US" sz="1600" b="1" dirty="0">
                          <a:solidFill>
                            <a:srgbClr val="1F2A5C"/>
                          </a:solidFill>
                        </a:rPr>
                        <a:t>Customer service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Limited emphasis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High emphasis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en-US" sz="1600" b="1" dirty="0">
                          <a:solidFill>
                            <a:srgbClr val="1F2A5C"/>
                          </a:solidFill>
                        </a:rPr>
                        <a:t>Customer contact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Moderate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Frequent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5"/>
                  </a:ext>
                </a:extLst>
              </a:tr>
              <a:tr h="685800">
                <a:tc>
                  <a:txBody>
                    <a:bodyPr/>
                    <a:lstStyle/>
                    <a:p>
                      <a:pPr marL="0" indent="0">
                        <a:buNone/>
                      </a:pPr>
                      <a:r>
                        <a:rPr lang="en-US" sz="1600" b="1" dirty="0">
                          <a:solidFill>
                            <a:srgbClr val="1F2A5C"/>
                          </a:solidFill>
                        </a:rPr>
                        <a:t>Quality concern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Mainly production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All functions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Metric card"/>
          <p:cNvSpPr/>
          <p:nvPr/>
        </p:nvSpPr>
        <p:spPr>
          <a:xfrm>
            <a:off x="7680960" y="1463040"/>
            <a:ext cx="3931920" cy="1463040"/>
          </a:xfrm>
          <a:prstGeom prst="roundRect">
            <a:avLst>
              <a:gd name="adj" fmla="val 6250"/>
            </a:avLst>
          </a:prstGeom>
          <a:solidFill>
            <a:schemeClr val="bg2"/>
          </a:solidFill>
          <a:ln/>
        </p:spPr>
        <p:txBody>
          <a:bodyPr/>
          <a:lstStyle/>
          <a:p>
            <a:endParaRPr lang="en-US"/>
          </a:p>
        </p:txBody>
      </p:sp>
      <p:sp>
        <p:nvSpPr>
          <p:cNvPr id="6" name="Icon circle"/>
          <p:cNvSpPr/>
          <p:nvPr/>
        </p:nvSpPr>
        <p:spPr>
          <a:xfrm>
            <a:off x="7863840" y="1645920"/>
            <a:ext cx="548640" cy="548640"/>
          </a:xfrm>
          <a:prstGeom prst="ellipse">
            <a:avLst/>
          </a:prstGeom>
          <a:solidFill>
            <a:schemeClr val="accent3"/>
          </a:solidFill>
          <a:ln/>
        </p:spPr>
        <p:txBody>
          <a:bodyPr/>
          <a:lstStyle/>
          <a:p>
            <a:endParaRPr lang="en-US"/>
          </a:p>
        </p:txBody>
      </p:sp>
      <p:pic>
        <p:nvPicPr>
          <p:cNvPr id="7" name="Icon" descr="Route icon"/>
          <p:cNvPicPr>
            <a:picLocks noChangeAspect="1"/>
          </p:cNvPicPr>
          <p:nvPr/>
        </p:nvPicPr>
        <p:blipFill>
          <a:blip r:embed="rId3"/>
          <a:stretch>
            <a:fillRect/>
          </a:stretch>
        </p:blipFill>
        <p:spPr>
          <a:xfrm>
            <a:off x="8001000" y="1783080"/>
            <a:ext cx="274320" cy="274320"/>
          </a:xfrm>
          <a:prstGeom prst="rect">
            <a:avLst/>
          </a:prstGeom>
        </p:spPr>
      </p:pic>
      <p:sp>
        <p:nvSpPr>
          <p:cNvPr id="8" name="Text"/>
          <p:cNvSpPr txBox="1"/>
          <p:nvPr/>
        </p:nvSpPr>
        <p:spPr>
          <a:xfrm>
            <a:off x="8595360" y="1572768"/>
            <a:ext cx="2926080" cy="1261872"/>
          </a:xfrm>
          <a:prstGeom prst="rect">
            <a:avLst/>
          </a:prstGeom>
          <a:noFill/>
          <a:ln/>
        </p:spPr>
        <p:txBody>
          <a:bodyPr wrap="square" lIns="0" tIns="0" rIns="0" bIns="0" rtlCol="0" anchor="ctr"/>
          <a:lstStyle/>
          <a:p>
            <a:pPr marL="0" indent="0">
              <a:spcAft>
                <a:spcPts val="200"/>
              </a:spcAft>
              <a:buNone/>
            </a:pPr>
            <a:r>
              <a:rPr lang="en-US" b="1" dirty="0">
                <a:solidFill>
                  <a:schemeClr val="tx2"/>
                </a:solidFill>
              </a:rPr>
              <a:t>Customer lifetime value</a:t>
            </a:r>
            <a:endParaRPr lang="en-US" dirty="0"/>
          </a:p>
          <a:p>
            <a:pPr marL="0" indent="0">
              <a:spcAft>
                <a:spcPts val="200"/>
              </a:spcAft>
              <a:buNone/>
            </a:pPr>
            <a:r>
              <a:rPr lang="en-US" dirty="0">
                <a:solidFill>
                  <a:schemeClr val="tx1"/>
                </a:solidFill>
              </a:rPr>
              <a:t>The value of the entire stream of purchases a customer makes over a lifetime of patronage.</a:t>
            </a:r>
            <a:endParaRPr lang="en-US" dirty="0"/>
          </a:p>
        </p:txBody>
      </p:sp>
      <p:sp>
        <p:nvSpPr>
          <p:cNvPr id="9" name="Metric card"/>
          <p:cNvSpPr/>
          <p:nvPr/>
        </p:nvSpPr>
        <p:spPr>
          <a:xfrm>
            <a:off x="7680960" y="3063240"/>
            <a:ext cx="3931920" cy="1463040"/>
          </a:xfrm>
          <a:prstGeom prst="roundRect">
            <a:avLst>
              <a:gd name="adj" fmla="val 6250"/>
            </a:avLst>
          </a:prstGeom>
          <a:solidFill>
            <a:schemeClr val="bg2"/>
          </a:solidFill>
          <a:ln/>
        </p:spPr>
        <p:txBody>
          <a:bodyPr/>
          <a:lstStyle/>
          <a:p>
            <a:endParaRPr lang="en-US"/>
          </a:p>
        </p:txBody>
      </p:sp>
      <p:sp>
        <p:nvSpPr>
          <p:cNvPr id="10" name="Icon circle"/>
          <p:cNvSpPr/>
          <p:nvPr/>
        </p:nvSpPr>
        <p:spPr>
          <a:xfrm>
            <a:off x="7863840" y="3246120"/>
            <a:ext cx="548640" cy="548640"/>
          </a:xfrm>
          <a:prstGeom prst="ellipse">
            <a:avLst/>
          </a:prstGeom>
          <a:solidFill>
            <a:schemeClr val="accent4"/>
          </a:solidFill>
          <a:ln/>
        </p:spPr>
        <p:txBody>
          <a:bodyPr/>
          <a:lstStyle/>
          <a:p>
            <a:endParaRPr lang="en-US"/>
          </a:p>
        </p:txBody>
      </p:sp>
      <p:pic>
        <p:nvPicPr>
          <p:cNvPr id="11" name="Icon" descr="ChartPie icon"/>
          <p:cNvPicPr>
            <a:picLocks noChangeAspect="1"/>
          </p:cNvPicPr>
          <p:nvPr/>
        </p:nvPicPr>
        <p:blipFill>
          <a:blip r:embed="rId4"/>
          <a:stretch>
            <a:fillRect/>
          </a:stretch>
        </p:blipFill>
        <p:spPr>
          <a:xfrm>
            <a:off x="8001000" y="3383280"/>
            <a:ext cx="274320" cy="274320"/>
          </a:xfrm>
          <a:prstGeom prst="rect">
            <a:avLst/>
          </a:prstGeom>
        </p:spPr>
      </p:pic>
      <p:sp>
        <p:nvSpPr>
          <p:cNvPr id="12" name="Text"/>
          <p:cNvSpPr txBox="1"/>
          <p:nvPr/>
        </p:nvSpPr>
        <p:spPr>
          <a:xfrm>
            <a:off x="8595360" y="3172968"/>
            <a:ext cx="2926080" cy="1261872"/>
          </a:xfrm>
          <a:prstGeom prst="rect">
            <a:avLst/>
          </a:prstGeom>
          <a:noFill/>
          <a:ln/>
        </p:spPr>
        <p:txBody>
          <a:bodyPr wrap="square" lIns="0" tIns="0" rIns="0" bIns="0" rtlCol="0" anchor="ctr"/>
          <a:lstStyle/>
          <a:p>
            <a:pPr marL="0" indent="0">
              <a:spcAft>
                <a:spcPts val="200"/>
              </a:spcAft>
              <a:buNone/>
            </a:pPr>
            <a:r>
              <a:rPr lang="en-US" b="1" dirty="0">
                <a:solidFill>
                  <a:schemeClr val="tx2"/>
                </a:solidFill>
              </a:rPr>
              <a:t>Share of customer</a:t>
            </a:r>
            <a:endParaRPr lang="en-US" dirty="0"/>
          </a:p>
          <a:p>
            <a:pPr marL="0" indent="0">
              <a:spcAft>
                <a:spcPts val="200"/>
              </a:spcAft>
              <a:buNone/>
            </a:pPr>
            <a:r>
              <a:rPr lang="en-US" dirty="0">
                <a:solidFill>
                  <a:schemeClr val="tx1"/>
                </a:solidFill>
              </a:rPr>
              <a:t>The portion of the customer's purchasing in a category that the company captures.</a:t>
            </a:r>
            <a:endParaRPr lang="en-US" dirty="0"/>
          </a:p>
        </p:txBody>
      </p:sp>
      <p:sp>
        <p:nvSpPr>
          <p:cNvPr id="13" name="Metric card"/>
          <p:cNvSpPr/>
          <p:nvPr/>
        </p:nvSpPr>
        <p:spPr>
          <a:xfrm>
            <a:off x="7680960" y="4663440"/>
            <a:ext cx="3931920" cy="1463040"/>
          </a:xfrm>
          <a:prstGeom prst="roundRect">
            <a:avLst>
              <a:gd name="adj" fmla="val 6250"/>
            </a:avLst>
          </a:prstGeom>
          <a:solidFill>
            <a:schemeClr val="bg2"/>
          </a:solidFill>
          <a:ln/>
        </p:spPr>
        <p:txBody>
          <a:bodyPr/>
          <a:lstStyle/>
          <a:p>
            <a:endParaRPr lang="en-US"/>
          </a:p>
        </p:txBody>
      </p:sp>
      <p:sp>
        <p:nvSpPr>
          <p:cNvPr id="14" name="Icon circle"/>
          <p:cNvSpPr/>
          <p:nvPr/>
        </p:nvSpPr>
        <p:spPr>
          <a:xfrm>
            <a:off x="7863840" y="4846320"/>
            <a:ext cx="548640" cy="548640"/>
          </a:xfrm>
          <a:prstGeom prst="ellipse">
            <a:avLst/>
          </a:prstGeom>
          <a:solidFill>
            <a:schemeClr val="accent1"/>
          </a:solidFill>
          <a:ln/>
        </p:spPr>
        <p:txBody>
          <a:bodyPr/>
          <a:lstStyle/>
          <a:p>
            <a:endParaRPr lang="en-US"/>
          </a:p>
        </p:txBody>
      </p:sp>
      <p:pic>
        <p:nvPicPr>
          <p:cNvPr id="15" name="Icon" descr="Gem icon"/>
          <p:cNvPicPr>
            <a:picLocks noChangeAspect="1"/>
          </p:cNvPicPr>
          <p:nvPr/>
        </p:nvPicPr>
        <p:blipFill>
          <a:blip r:embed="rId5"/>
          <a:stretch>
            <a:fillRect/>
          </a:stretch>
        </p:blipFill>
        <p:spPr>
          <a:xfrm>
            <a:off x="8001000" y="4983480"/>
            <a:ext cx="274320" cy="274320"/>
          </a:xfrm>
          <a:prstGeom prst="rect">
            <a:avLst/>
          </a:prstGeom>
        </p:spPr>
      </p:pic>
      <p:sp>
        <p:nvSpPr>
          <p:cNvPr id="16" name="Text"/>
          <p:cNvSpPr txBox="1"/>
          <p:nvPr/>
        </p:nvSpPr>
        <p:spPr>
          <a:xfrm>
            <a:off x="8595360" y="4773168"/>
            <a:ext cx="2926080" cy="1261872"/>
          </a:xfrm>
          <a:prstGeom prst="rect">
            <a:avLst/>
          </a:prstGeom>
          <a:noFill/>
          <a:ln/>
        </p:spPr>
        <p:txBody>
          <a:bodyPr wrap="square" lIns="0" tIns="0" rIns="0" bIns="0" rtlCol="0" anchor="ctr"/>
          <a:lstStyle/>
          <a:p>
            <a:pPr marL="0" indent="0">
              <a:spcAft>
                <a:spcPts val="200"/>
              </a:spcAft>
              <a:buNone/>
            </a:pPr>
            <a:r>
              <a:rPr lang="en-US" b="1" dirty="0">
                <a:solidFill>
                  <a:schemeClr val="tx2"/>
                </a:solidFill>
              </a:rPr>
              <a:t>Customer equity</a:t>
            </a:r>
            <a:endParaRPr lang="en-US" dirty="0"/>
          </a:p>
          <a:p>
            <a:pPr marL="0" indent="0">
              <a:spcAft>
                <a:spcPts val="200"/>
              </a:spcAft>
              <a:buNone/>
            </a:pPr>
            <a:r>
              <a:rPr lang="en-US" dirty="0">
                <a:solidFill>
                  <a:schemeClr val="tx1"/>
                </a:solidFill>
              </a:rPr>
              <a:t>The combined lifetime values of all of the company's customers.</a:t>
            </a:r>
            <a:endParaRPr lang="en-US"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number"/>
          <p:cNvSpPr txBox="1"/>
          <p:nvPr/>
        </p:nvSpPr>
        <p:spPr>
          <a:xfrm>
            <a:off x="822960" y="1554480"/>
            <a:ext cx="3657600" cy="1280160"/>
          </a:xfrm>
          <a:prstGeom prst="rect">
            <a:avLst/>
          </a:prstGeom>
          <a:noFill/>
          <a:ln/>
        </p:spPr>
        <p:txBody>
          <a:bodyPr wrap="square" lIns="0" tIns="0" rIns="0" bIns="0" rtlCol="0" anchor="ctr"/>
          <a:lstStyle/>
          <a:p>
            <a:pPr marL="0" indent="0">
              <a:buNone/>
            </a:pPr>
            <a:r>
              <a:rPr lang="en-US" sz="8000" b="1" dirty="0">
                <a:solidFill>
                  <a:schemeClr val="accent1"/>
                </a:solidFill>
              </a:rPr>
              <a:t>04</a:t>
            </a:r>
            <a:endParaRPr lang="en-US" sz="8000" dirty="0"/>
          </a:p>
        </p:txBody>
      </p:sp>
      <p:sp>
        <p:nvSpPr>
          <p:cNvPr id="3" name="Text 0"/>
          <p:cNvSpPr>
            <a:spLocks noGrp="1"/>
          </p:cNvSpPr>
          <p:nvPr>
            <p:ph type="title" idx="100" hasCustomPrompt="1"/>
          </p:nvPr>
        </p:nvSpPr>
        <p:spPr>
          <a:xfrm>
            <a:off x="822960" y="2926080"/>
            <a:ext cx="7680960" cy="1188720"/>
          </a:xfrm>
          <a:prstGeom prst="rect">
            <a:avLst/>
          </a:prstGeom>
          <a:noFill/>
          <a:ln/>
        </p:spPr>
        <p:txBody>
          <a:bodyPr wrap="square" lIns="0" tIns="0" rIns="0" bIns="0" rtlCol="0" anchor="t"/>
          <a:lstStyle/>
          <a:p>
            <a:pPr marL="0" indent="0" algn="l">
              <a:buNone/>
            </a:pPr>
            <a:r>
              <a:rPr lang="en-US" sz="4400" b="1" dirty="0">
                <a:solidFill>
                  <a:schemeClr val="bg1"/>
                </a:solidFill>
              </a:rPr>
              <a:t>Marketing Philosophies</a:t>
            </a:r>
            <a:endParaRPr lang="en-US" sz="4400" dirty="0"/>
          </a:p>
        </p:txBody>
      </p:sp>
      <p:sp>
        <p:nvSpPr>
          <p:cNvPr id="4" name="Text 0"/>
          <p:cNvSpPr>
            <a:spLocks noGrp="1"/>
          </p:cNvSpPr>
          <p:nvPr>
            <p:ph type="body" idx="101" hasCustomPrompt="1"/>
          </p:nvPr>
        </p:nvSpPr>
        <p:spPr>
          <a:xfrm>
            <a:off x="822960" y="4206240"/>
            <a:ext cx="7498080" cy="1280160"/>
          </a:xfrm>
          <a:prstGeom prst="rect">
            <a:avLst/>
          </a:prstGeom>
          <a:noFill/>
          <a:ln/>
        </p:spPr>
        <p:txBody>
          <a:bodyPr wrap="square" lIns="0" tIns="0" rIns="0" bIns="0" rtlCol="0" anchor="t"/>
          <a:lstStyle/>
          <a:p>
            <a:pPr marL="0" indent="0">
              <a:buNone/>
            </a:pPr>
            <a:r>
              <a:rPr lang="en-US" sz="2000" dirty="0">
                <a:solidFill>
                  <a:schemeClr val="bg2"/>
                </a:solidFill>
              </a:rPr>
              <a:t>Production, product, selling, marketing, societal and holistic orientations</a:t>
            </a:r>
            <a:endParaRPr lang="en-US" sz="2000" dirty="0"/>
          </a:p>
        </p:txBody>
      </p:sp>
      <p:sp>
        <p:nvSpPr>
          <p:cNvPr id="5" name="Icon circle"/>
          <p:cNvSpPr/>
          <p:nvPr/>
        </p:nvSpPr>
        <p:spPr>
          <a:xfrm>
            <a:off x="8961120" y="2103120"/>
            <a:ext cx="2560320" cy="2560320"/>
          </a:xfrm>
          <a:prstGeom prst="ellipse">
            <a:avLst/>
          </a:prstGeom>
          <a:solidFill>
            <a:schemeClr val="accent1"/>
          </a:solidFill>
          <a:ln/>
        </p:spPr>
        <p:txBody>
          <a:bodyPr/>
          <a:lstStyle/>
          <a:p>
            <a:endParaRPr lang="en-US"/>
          </a:p>
        </p:txBody>
      </p:sp>
      <p:pic>
        <p:nvPicPr>
          <p:cNvPr id="6" name="Icon" descr="BalanceScale icon"/>
          <p:cNvPicPr>
            <a:picLocks noChangeAspect="1"/>
          </p:cNvPicPr>
          <p:nvPr/>
        </p:nvPicPr>
        <p:blipFill>
          <a:blip r:embed="rId3"/>
          <a:stretch>
            <a:fillRect/>
          </a:stretch>
        </p:blipFill>
        <p:spPr>
          <a:xfrm>
            <a:off x="9601200" y="2743200"/>
            <a:ext cx="1280160" cy="1280160"/>
          </a:xfrm>
          <a:prstGeom prst="rect">
            <a:avLst/>
          </a:prstGeom>
        </p:spPr>
      </p:pic>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Five Philosophies at a Glance</a:t>
            </a:r>
            <a:endParaRPr lang="en-US" sz="3400" dirty="0"/>
          </a:p>
        </p:txBody>
      </p:sp>
      <p:sp>
        <p:nvSpPr>
          <p:cNvPr id="4" name="Philosophy card"/>
          <p:cNvSpPr/>
          <p:nvPr/>
        </p:nvSpPr>
        <p:spPr>
          <a:xfrm>
            <a:off x="548640" y="1463040"/>
            <a:ext cx="2103120" cy="3291840"/>
          </a:xfrm>
          <a:prstGeom prst="roundRect">
            <a:avLst>
              <a:gd name="adj" fmla="val 4348"/>
            </a:avLst>
          </a:prstGeom>
          <a:solidFill>
            <a:schemeClr val="bg2"/>
          </a:solidFill>
          <a:ln/>
        </p:spPr>
        <p:txBody>
          <a:bodyPr/>
          <a:lstStyle/>
          <a:p>
            <a:endParaRPr lang="en-US"/>
          </a:p>
        </p:txBody>
      </p:sp>
      <p:sp>
        <p:nvSpPr>
          <p:cNvPr id="5" name="Icon circle"/>
          <p:cNvSpPr/>
          <p:nvPr/>
        </p:nvSpPr>
        <p:spPr>
          <a:xfrm>
            <a:off x="777240" y="1691640"/>
            <a:ext cx="731520" cy="731520"/>
          </a:xfrm>
          <a:prstGeom prst="ellipse">
            <a:avLst/>
          </a:prstGeom>
          <a:solidFill>
            <a:schemeClr val="accent6"/>
          </a:solidFill>
          <a:ln/>
        </p:spPr>
        <p:txBody>
          <a:bodyPr/>
          <a:lstStyle/>
          <a:p>
            <a:endParaRPr lang="en-US"/>
          </a:p>
        </p:txBody>
      </p:sp>
      <p:pic>
        <p:nvPicPr>
          <p:cNvPr id="6" name="Icon" descr="Industry icon"/>
          <p:cNvPicPr>
            <a:picLocks noChangeAspect="1"/>
          </p:cNvPicPr>
          <p:nvPr/>
        </p:nvPicPr>
        <p:blipFill>
          <a:blip r:embed="rId3"/>
          <a:stretch>
            <a:fillRect/>
          </a:stretch>
        </p:blipFill>
        <p:spPr>
          <a:xfrm>
            <a:off x="960120" y="1874520"/>
            <a:ext cx="365760" cy="365760"/>
          </a:xfrm>
          <a:prstGeom prst="rect">
            <a:avLst/>
          </a:prstGeom>
        </p:spPr>
      </p:pic>
      <p:sp>
        <p:nvSpPr>
          <p:cNvPr id="7" name="Number"/>
          <p:cNvSpPr txBox="1"/>
          <p:nvPr/>
        </p:nvSpPr>
        <p:spPr>
          <a:xfrm>
            <a:off x="1920240" y="1691640"/>
            <a:ext cx="502920" cy="731520"/>
          </a:xfrm>
          <a:prstGeom prst="rect">
            <a:avLst/>
          </a:prstGeom>
          <a:noFill/>
          <a:ln/>
        </p:spPr>
        <p:txBody>
          <a:bodyPr wrap="square" lIns="0" tIns="0" rIns="0" bIns="0" rtlCol="0" anchor="ctr"/>
          <a:lstStyle/>
          <a:p>
            <a:pPr marL="0" indent="0" algn="r">
              <a:buNone/>
            </a:pPr>
            <a:r>
              <a:rPr lang="en-US" sz="3200" b="1" dirty="0">
                <a:solidFill>
                  <a:schemeClr val="accent6"/>
                </a:solidFill>
              </a:rPr>
              <a:t>1</a:t>
            </a:r>
            <a:endParaRPr lang="en-US" sz="3200" dirty="0"/>
          </a:p>
        </p:txBody>
      </p:sp>
      <p:sp>
        <p:nvSpPr>
          <p:cNvPr id="8" name="Text"/>
          <p:cNvSpPr txBox="1"/>
          <p:nvPr/>
        </p:nvSpPr>
        <p:spPr>
          <a:xfrm>
            <a:off x="777240" y="2743200"/>
            <a:ext cx="1737360" cy="731520"/>
          </a:xfrm>
          <a:prstGeom prst="rect">
            <a:avLst/>
          </a:prstGeom>
          <a:noFill/>
          <a:ln/>
        </p:spPr>
        <p:txBody>
          <a:bodyPr wrap="square" lIns="0" tIns="0" rIns="0" bIns="0" rtlCol="0" anchor="t"/>
          <a:lstStyle/>
          <a:p>
            <a:pPr marL="0" indent="0">
              <a:buNone/>
            </a:pPr>
            <a:r>
              <a:rPr lang="en-US" sz="2000" b="1" dirty="0">
                <a:solidFill>
                  <a:schemeClr val="tx2"/>
                </a:solidFill>
              </a:rPr>
              <a:t>Production</a:t>
            </a:r>
            <a:endParaRPr lang="en-US" sz="2000" dirty="0"/>
          </a:p>
        </p:txBody>
      </p:sp>
      <p:sp>
        <p:nvSpPr>
          <p:cNvPr id="9" name="Text"/>
          <p:cNvSpPr txBox="1"/>
          <p:nvPr/>
        </p:nvSpPr>
        <p:spPr>
          <a:xfrm>
            <a:off x="777240" y="3520440"/>
            <a:ext cx="1737360" cy="1097280"/>
          </a:xfrm>
          <a:prstGeom prst="rect">
            <a:avLst/>
          </a:prstGeom>
          <a:noFill/>
          <a:ln/>
        </p:spPr>
        <p:txBody>
          <a:bodyPr wrap="square" lIns="0" tIns="0" rIns="0" bIns="0" rtlCol="0" anchor="t"/>
          <a:lstStyle/>
          <a:p>
            <a:pPr marL="0" indent="0">
              <a:buNone/>
            </a:pPr>
            <a:r>
              <a:rPr lang="en-US" sz="1600" b="1" dirty="0">
                <a:solidFill>
                  <a:schemeClr val="accent1"/>
                </a:solidFill>
              </a:rPr>
              <a:t>Make it available and affordable</a:t>
            </a:r>
            <a:endParaRPr lang="en-US" sz="1600" dirty="0"/>
          </a:p>
        </p:txBody>
      </p:sp>
      <p:sp>
        <p:nvSpPr>
          <p:cNvPr id="10" name="Philosophy card"/>
          <p:cNvSpPr/>
          <p:nvPr/>
        </p:nvSpPr>
        <p:spPr>
          <a:xfrm>
            <a:off x="2788920" y="1463040"/>
            <a:ext cx="2103120" cy="3291840"/>
          </a:xfrm>
          <a:prstGeom prst="roundRect">
            <a:avLst>
              <a:gd name="adj" fmla="val 4348"/>
            </a:avLst>
          </a:prstGeom>
          <a:solidFill>
            <a:schemeClr val="bg2"/>
          </a:solidFill>
          <a:ln/>
        </p:spPr>
        <p:txBody>
          <a:bodyPr/>
          <a:lstStyle/>
          <a:p>
            <a:endParaRPr lang="en-US"/>
          </a:p>
        </p:txBody>
      </p:sp>
      <p:sp>
        <p:nvSpPr>
          <p:cNvPr id="11" name="Icon circle"/>
          <p:cNvSpPr/>
          <p:nvPr/>
        </p:nvSpPr>
        <p:spPr>
          <a:xfrm>
            <a:off x="3017520" y="1691640"/>
            <a:ext cx="731520" cy="731520"/>
          </a:xfrm>
          <a:prstGeom prst="ellipse">
            <a:avLst/>
          </a:prstGeom>
          <a:solidFill>
            <a:schemeClr val="accent5"/>
          </a:solidFill>
          <a:ln/>
        </p:spPr>
        <p:txBody>
          <a:bodyPr/>
          <a:lstStyle/>
          <a:p>
            <a:endParaRPr lang="en-US"/>
          </a:p>
        </p:txBody>
      </p:sp>
      <p:pic>
        <p:nvPicPr>
          <p:cNvPr id="12" name="Icon" descr="Award icon"/>
          <p:cNvPicPr>
            <a:picLocks noChangeAspect="1"/>
          </p:cNvPicPr>
          <p:nvPr/>
        </p:nvPicPr>
        <p:blipFill>
          <a:blip r:embed="rId4"/>
          <a:stretch>
            <a:fillRect/>
          </a:stretch>
        </p:blipFill>
        <p:spPr>
          <a:xfrm>
            <a:off x="3200400" y="1874520"/>
            <a:ext cx="365760" cy="365760"/>
          </a:xfrm>
          <a:prstGeom prst="rect">
            <a:avLst/>
          </a:prstGeom>
        </p:spPr>
      </p:pic>
      <p:sp>
        <p:nvSpPr>
          <p:cNvPr id="13" name="Number"/>
          <p:cNvSpPr txBox="1"/>
          <p:nvPr/>
        </p:nvSpPr>
        <p:spPr>
          <a:xfrm>
            <a:off x="4160520" y="1691640"/>
            <a:ext cx="502920" cy="731520"/>
          </a:xfrm>
          <a:prstGeom prst="rect">
            <a:avLst/>
          </a:prstGeom>
          <a:noFill/>
          <a:ln/>
        </p:spPr>
        <p:txBody>
          <a:bodyPr wrap="square" lIns="0" tIns="0" rIns="0" bIns="0" rtlCol="0" anchor="ctr"/>
          <a:lstStyle/>
          <a:p>
            <a:pPr marL="0" indent="0" algn="r">
              <a:buNone/>
            </a:pPr>
            <a:r>
              <a:rPr lang="en-US" sz="3200" b="1" dirty="0">
                <a:solidFill>
                  <a:schemeClr val="accent6"/>
                </a:solidFill>
              </a:rPr>
              <a:t>2</a:t>
            </a:r>
            <a:endParaRPr lang="en-US" sz="3200" dirty="0"/>
          </a:p>
        </p:txBody>
      </p:sp>
      <p:sp>
        <p:nvSpPr>
          <p:cNvPr id="14" name="Text"/>
          <p:cNvSpPr txBox="1"/>
          <p:nvPr/>
        </p:nvSpPr>
        <p:spPr>
          <a:xfrm>
            <a:off x="3017520" y="2743200"/>
            <a:ext cx="1737360" cy="731520"/>
          </a:xfrm>
          <a:prstGeom prst="rect">
            <a:avLst/>
          </a:prstGeom>
          <a:noFill/>
          <a:ln/>
        </p:spPr>
        <p:txBody>
          <a:bodyPr wrap="square" lIns="0" tIns="0" rIns="0" bIns="0" rtlCol="0" anchor="t"/>
          <a:lstStyle/>
          <a:p>
            <a:pPr marL="0" indent="0">
              <a:buNone/>
            </a:pPr>
            <a:r>
              <a:rPr lang="en-US" sz="2000" b="1" dirty="0">
                <a:solidFill>
                  <a:schemeClr val="tx2"/>
                </a:solidFill>
              </a:rPr>
              <a:t>Product</a:t>
            </a:r>
            <a:endParaRPr lang="en-US" sz="2000" dirty="0"/>
          </a:p>
        </p:txBody>
      </p:sp>
      <p:sp>
        <p:nvSpPr>
          <p:cNvPr id="15" name="Text"/>
          <p:cNvSpPr txBox="1"/>
          <p:nvPr/>
        </p:nvSpPr>
        <p:spPr>
          <a:xfrm>
            <a:off x="3017520" y="3520440"/>
            <a:ext cx="1737360" cy="1097280"/>
          </a:xfrm>
          <a:prstGeom prst="rect">
            <a:avLst/>
          </a:prstGeom>
          <a:noFill/>
          <a:ln/>
        </p:spPr>
        <p:txBody>
          <a:bodyPr wrap="square" lIns="0" tIns="0" rIns="0" bIns="0" rtlCol="0" anchor="t"/>
          <a:lstStyle/>
          <a:p>
            <a:pPr marL="0" indent="0">
              <a:buNone/>
            </a:pPr>
            <a:r>
              <a:rPr lang="en-US" sz="1600" b="1" dirty="0">
                <a:solidFill>
                  <a:schemeClr val="accent1"/>
                </a:solidFill>
              </a:rPr>
              <a:t>Make it better</a:t>
            </a:r>
            <a:endParaRPr lang="en-US" sz="1600" dirty="0"/>
          </a:p>
        </p:txBody>
      </p:sp>
      <p:sp>
        <p:nvSpPr>
          <p:cNvPr id="16" name="Philosophy card"/>
          <p:cNvSpPr/>
          <p:nvPr/>
        </p:nvSpPr>
        <p:spPr>
          <a:xfrm>
            <a:off x="5029200" y="1463040"/>
            <a:ext cx="2103120" cy="3291840"/>
          </a:xfrm>
          <a:prstGeom prst="roundRect">
            <a:avLst>
              <a:gd name="adj" fmla="val 4348"/>
            </a:avLst>
          </a:prstGeom>
          <a:solidFill>
            <a:schemeClr val="bg2"/>
          </a:solidFill>
          <a:ln/>
        </p:spPr>
        <p:txBody>
          <a:bodyPr/>
          <a:lstStyle/>
          <a:p>
            <a:endParaRPr lang="en-US"/>
          </a:p>
        </p:txBody>
      </p:sp>
      <p:sp>
        <p:nvSpPr>
          <p:cNvPr id="17" name="Icon circle"/>
          <p:cNvSpPr/>
          <p:nvPr/>
        </p:nvSpPr>
        <p:spPr>
          <a:xfrm>
            <a:off x="5257800" y="1691640"/>
            <a:ext cx="731520" cy="731520"/>
          </a:xfrm>
          <a:prstGeom prst="ellipse">
            <a:avLst/>
          </a:prstGeom>
          <a:solidFill>
            <a:schemeClr val="accent4"/>
          </a:solidFill>
          <a:ln/>
        </p:spPr>
        <p:txBody>
          <a:bodyPr/>
          <a:lstStyle/>
          <a:p>
            <a:endParaRPr lang="en-US"/>
          </a:p>
        </p:txBody>
      </p:sp>
      <p:pic>
        <p:nvPicPr>
          <p:cNvPr id="18" name="Icon" descr="Bullhorn icon"/>
          <p:cNvPicPr>
            <a:picLocks noChangeAspect="1"/>
          </p:cNvPicPr>
          <p:nvPr/>
        </p:nvPicPr>
        <p:blipFill>
          <a:blip r:embed="rId5"/>
          <a:stretch>
            <a:fillRect/>
          </a:stretch>
        </p:blipFill>
        <p:spPr>
          <a:xfrm>
            <a:off x="5440680" y="1874520"/>
            <a:ext cx="365760" cy="365760"/>
          </a:xfrm>
          <a:prstGeom prst="rect">
            <a:avLst/>
          </a:prstGeom>
        </p:spPr>
      </p:pic>
      <p:sp>
        <p:nvSpPr>
          <p:cNvPr id="19" name="Number"/>
          <p:cNvSpPr txBox="1"/>
          <p:nvPr/>
        </p:nvSpPr>
        <p:spPr>
          <a:xfrm>
            <a:off x="6400800" y="1691640"/>
            <a:ext cx="502920" cy="731520"/>
          </a:xfrm>
          <a:prstGeom prst="rect">
            <a:avLst/>
          </a:prstGeom>
          <a:noFill/>
          <a:ln/>
        </p:spPr>
        <p:txBody>
          <a:bodyPr wrap="square" lIns="0" tIns="0" rIns="0" bIns="0" rtlCol="0" anchor="ctr"/>
          <a:lstStyle/>
          <a:p>
            <a:pPr marL="0" indent="0" algn="r">
              <a:buNone/>
            </a:pPr>
            <a:r>
              <a:rPr lang="en-US" sz="3200" b="1" dirty="0">
                <a:solidFill>
                  <a:schemeClr val="accent6"/>
                </a:solidFill>
              </a:rPr>
              <a:t>3</a:t>
            </a:r>
            <a:endParaRPr lang="en-US" sz="3200" dirty="0"/>
          </a:p>
        </p:txBody>
      </p:sp>
      <p:sp>
        <p:nvSpPr>
          <p:cNvPr id="20" name="Text"/>
          <p:cNvSpPr txBox="1"/>
          <p:nvPr/>
        </p:nvSpPr>
        <p:spPr>
          <a:xfrm>
            <a:off x="5257800" y="2743200"/>
            <a:ext cx="1737360" cy="731520"/>
          </a:xfrm>
          <a:prstGeom prst="rect">
            <a:avLst/>
          </a:prstGeom>
          <a:noFill/>
          <a:ln/>
        </p:spPr>
        <p:txBody>
          <a:bodyPr wrap="square" lIns="0" tIns="0" rIns="0" bIns="0" rtlCol="0" anchor="t"/>
          <a:lstStyle/>
          <a:p>
            <a:pPr marL="0" indent="0">
              <a:buNone/>
            </a:pPr>
            <a:r>
              <a:rPr lang="en-US" sz="2000" b="1" dirty="0">
                <a:solidFill>
                  <a:schemeClr val="tx2"/>
                </a:solidFill>
              </a:rPr>
              <a:t>Selling</a:t>
            </a:r>
            <a:endParaRPr lang="en-US" sz="2000" dirty="0"/>
          </a:p>
        </p:txBody>
      </p:sp>
      <p:sp>
        <p:nvSpPr>
          <p:cNvPr id="21" name="Text"/>
          <p:cNvSpPr txBox="1"/>
          <p:nvPr/>
        </p:nvSpPr>
        <p:spPr>
          <a:xfrm>
            <a:off x="5257800" y="3520440"/>
            <a:ext cx="1737360" cy="1097280"/>
          </a:xfrm>
          <a:prstGeom prst="rect">
            <a:avLst/>
          </a:prstGeom>
          <a:noFill/>
          <a:ln/>
        </p:spPr>
        <p:txBody>
          <a:bodyPr wrap="square" lIns="0" tIns="0" rIns="0" bIns="0" rtlCol="0" anchor="t"/>
          <a:lstStyle/>
          <a:p>
            <a:pPr marL="0" indent="0">
              <a:buNone/>
            </a:pPr>
            <a:r>
              <a:rPr lang="en-US" sz="1600" b="1" dirty="0">
                <a:solidFill>
                  <a:schemeClr val="accent1"/>
                </a:solidFill>
              </a:rPr>
              <a:t>Sell it harder</a:t>
            </a:r>
            <a:endParaRPr lang="en-US" sz="1600" dirty="0"/>
          </a:p>
        </p:txBody>
      </p:sp>
      <p:sp>
        <p:nvSpPr>
          <p:cNvPr id="22" name="Philosophy card"/>
          <p:cNvSpPr/>
          <p:nvPr/>
        </p:nvSpPr>
        <p:spPr>
          <a:xfrm>
            <a:off x="7269480" y="1463040"/>
            <a:ext cx="2103120" cy="3291840"/>
          </a:xfrm>
          <a:prstGeom prst="roundRect">
            <a:avLst>
              <a:gd name="adj" fmla="val 4348"/>
            </a:avLst>
          </a:prstGeom>
          <a:solidFill>
            <a:schemeClr val="bg2"/>
          </a:solidFill>
          <a:ln/>
        </p:spPr>
        <p:txBody>
          <a:bodyPr/>
          <a:lstStyle/>
          <a:p>
            <a:endParaRPr lang="en-US"/>
          </a:p>
        </p:txBody>
      </p:sp>
      <p:sp>
        <p:nvSpPr>
          <p:cNvPr id="23" name="Icon circle"/>
          <p:cNvSpPr/>
          <p:nvPr/>
        </p:nvSpPr>
        <p:spPr>
          <a:xfrm>
            <a:off x="7498080" y="1691640"/>
            <a:ext cx="731520" cy="731520"/>
          </a:xfrm>
          <a:prstGeom prst="ellipse">
            <a:avLst/>
          </a:prstGeom>
          <a:solidFill>
            <a:schemeClr val="accent3"/>
          </a:solidFill>
          <a:ln/>
        </p:spPr>
        <p:txBody>
          <a:bodyPr/>
          <a:lstStyle/>
          <a:p>
            <a:endParaRPr lang="en-US"/>
          </a:p>
        </p:txBody>
      </p:sp>
      <p:pic>
        <p:nvPicPr>
          <p:cNvPr id="24" name="Icon" descr="Bullseye icon"/>
          <p:cNvPicPr>
            <a:picLocks noChangeAspect="1"/>
          </p:cNvPicPr>
          <p:nvPr/>
        </p:nvPicPr>
        <p:blipFill>
          <a:blip r:embed="rId6"/>
          <a:stretch>
            <a:fillRect/>
          </a:stretch>
        </p:blipFill>
        <p:spPr>
          <a:xfrm>
            <a:off x="7680960" y="1874520"/>
            <a:ext cx="365760" cy="365760"/>
          </a:xfrm>
          <a:prstGeom prst="rect">
            <a:avLst/>
          </a:prstGeom>
        </p:spPr>
      </p:pic>
      <p:sp>
        <p:nvSpPr>
          <p:cNvPr id="25" name="Number"/>
          <p:cNvSpPr txBox="1"/>
          <p:nvPr/>
        </p:nvSpPr>
        <p:spPr>
          <a:xfrm>
            <a:off x="8641080" y="1691640"/>
            <a:ext cx="502920" cy="731520"/>
          </a:xfrm>
          <a:prstGeom prst="rect">
            <a:avLst/>
          </a:prstGeom>
          <a:noFill/>
          <a:ln/>
        </p:spPr>
        <p:txBody>
          <a:bodyPr wrap="square" lIns="0" tIns="0" rIns="0" bIns="0" rtlCol="0" anchor="ctr"/>
          <a:lstStyle/>
          <a:p>
            <a:pPr marL="0" indent="0" algn="r">
              <a:buNone/>
            </a:pPr>
            <a:r>
              <a:rPr lang="en-US" sz="3200" b="1" dirty="0">
                <a:solidFill>
                  <a:schemeClr val="accent6"/>
                </a:solidFill>
              </a:rPr>
              <a:t>4</a:t>
            </a:r>
            <a:endParaRPr lang="en-US" sz="3200" dirty="0"/>
          </a:p>
        </p:txBody>
      </p:sp>
      <p:sp>
        <p:nvSpPr>
          <p:cNvPr id="26" name="Text"/>
          <p:cNvSpPr txBox="1"/>
          <p:nvPr/>
        </p:nvSpPr>
        <p:spPr>
          <a:xfrm>
            <a:off x="7498080" y="2743200"/>
            <a:ext cx="1737360" cy="731520"/>
          </a:xfrm>
          <a:prstGeom prst="rect">
            <a:avLst/>
          </a:prstGeom>
          <a:noFill/>
          <a:ln/>
        </p:spPr>
        <p:txBody>
          <a:bodyPr wrap="square" lIns="0" tIns="0" rIns="0" bIns="0" rtlCol="0" anchor="t"/>
          <a:lstStyle/>
          <a:p>
            <a:pPr marL="0" indent="0">
              <a:buNone/>
            </a:pPr>
            <a:r>
              <a:rPr lang="en-US" sz="2000" b="1" dirty="0">
                <a:solidFill>
                  <a:schemeClr val="tx2"/>
                </a:solidFill>
              </a:rPr>
              <a:t>Marketing</a:t>
            </a:r>
            <a:endParaRPr lang="en-US" sz="2000" dirty="0"/>
          </a:p>
        </p:txBody>
      </p:sp>
      <p:sp>
        <p:nvSpPr>
          <p:cNvPr id="27" name="Text"/>
          <p:cNvSpPr txBox="1"/>
          <p:nvPr/>
        </p:nvSpPr>
        <p:spPr>
          <a:xfrm>
            <a:off x="7498080" y="3520440"/>
            <a:ext cx="1737360" cy="1097280"/>
          </a:xfrm>
          <a:prstGeom prst="rect">
            <a:avLst/>
          </a:prstGeom>
          <a:noFill/>
          <a:ln/>
        </p:spPr>
        <p:txBody>
          <a:bodyPr wrap="square" lIns="0" tIns="0" rIns="0" bIns="0" rtlCol="0" anchor="t"/>
          <a:lstStyle/>
          <a:p>
            <a:pPr marL="0" indent="0">
              <a:buNone/>
            </a:pPr>
            <a:r>
              <a:rPr lang="en-US" sz="1600" b="1" dirty="0">
                <a:solidFill>
                  <a:schemeClr val="accent1"/>
                </a:solidFill>
              </a:rPr>
              <a:t>Satisfy customer needs</a:t>
            </a:r>
            <a:endParaRPr lang="en-US" sz="1600" dirty="0"/>
          </a:p>
        </p:txBody>
      </p:sp>
      <p:sp>
        <p:nvSpPr>
          <p:cNvPr id="28" name="Philosophy card"/>
          <p:cNvSpPr/>
          <p:nvPr/>
        </p:nvSpPr>
        <p:spPr>
          <a:xfrm>
            <a:off x="9509760" y="1463040"/>
            <a:ext cx="2103120" cy="3291840"/>
          </a:xfrm>
          <a:prstGeom prst="roundRect">
            <a:avLst>
              <a:gd name="adj" fmla="val 4348"/>
            </a:avLst>
          </a:prstGeom>
          <a:solidFill>
            <a:schemeClr val="bg2"/>
          </a:solidFill>
          <a:ln/>
        </p:spPr>
        <p:txBody>
          <a:bodyPr/>
          <a:lstStyle/>
          <a:p>
            <a:endParaRPr lang="en-US"/>
          </a:p>
        </p:txBody>
      </p:sp>
      <p:sp>
        <p:nvSpPr>
          <p:cNvPr id="29" name="Icon circle"/>
          <p:cNvSpPr/>
          <p:nvPr/>
        </p:nvSpPr>
        <p:spPr>
          <a:xfrm>
            <a:off x="9738360" y="1691640"/>
            <a:ext cx="731520" cy="731520"/>
          </a:xfrm>
          <a:prstGeom prst="ellipse">
            <a:avLst/>
          </a:prstGeom>
          <a:solidFill>
            <a:schemeClr val="accent1"/>
          </a:solidFill>
          <a:ln/>
        </p:spPr>
        <p:txBody>
          <a:bodyPr/>
          <a:lstStyle/>
          <a:p>
            <a:endParaRPr lang="en-US"/>
          </a:p>
        </p:txBody>
      </p:sp>
      <p:pic>
        <p:nvPicPr>
          <p:cNvPr id="30" name="Icon" descr="GlobeAmericas icon"/>
          <p:cNvPicPr>
            <a:picLocks noChangeAspect="1"/>
          </p:cNvPicPr>
          <p:nvPr/>
        </p:nvPicPr>
        <p:blipFill>
          <a:blip r:embed="rId7"/>
          <a:stretch>
            <a:fillRect/>
          </a:stretch>
        </p:blipFill>
        <p:spPr>
          <a:xfrm>
            <a:off x="9921240" y="1874520"/>
            <a:ext cx="365760" cy="365760"/>
          </a:xfrm>
          <a:prstGeom prst="rect">
            <a:avLst/>
          </a:prstGeom>
        </p:spPr>
      </p:pic>
      <p:sp>
        <p:nvSpPr>
          <p:cNvPr id="31" name="Number"/>
          <p:cNvSpPr txBox="1"/>
          <p:nvPr/>
        </p:nvSpPr>
        <p:spPr>
          <a:xfrm>
            <a:off x="10881360" y="1691640"/>
            <a:ext cx="502920" cy="731520"/>
          </a:xfrm>
          <a:prstGeom prst="rect">
            <a:avLst/>
          </a:prstGeom>
          <a:noFill/>
          <a:ln/>
        </p:spPr>
        <p:txBody>
          <a:bodyPr wrap="square" lIns="0" tIns="0" rIns="0" bIns="0" rtlCol="0" anchor="ctr"/>
          <a:lstStyle/>
          <a:p>
            <a:pPr marL="0" indent="0" algn="r">
              <a:buNone/>
            </a:pPr>
            <a:r>
              <a:rPr lang="en-US" sz="3200" b="1" dirty="0">
                <a:solidFill>
                  <a:schemeClr val="accent6"/>
                </a:solidFill>
              </a:rPr>
              <a:t>5</a:t>
            </a:r>
            <a:endParaRPr lang="en-US" sz="3200" dirty="0"/>
          </a:p>
        </p:txBody>
      </p:sp>
      <p:sp>
        <p:nvSpPr>
          <p:cNvPr id="32" name="Text"/>
          <p:cNvSpPr txBox="1"/>
          <p:nvPr/>
        </p:nvSpPr>
        <p:spPr>
          <a:xfrm>
            <a:off x="9738360" y="2743200"/>
            <a:ext cx="1737360" cy="731520"/>
          </a:xfrm>
          <a:prstGeom prst="rect">
            <a:avLst/>
          </a:prstGeom>
          <a:noFill/>
          <a:ln/>
        </p:spPr>
        <p:txBody>
          <a:bodyPr wrap="square" lIns="0" tIns="0" rIns="0" bIns="0" rtlCol="0" anchor="t"/>
          <a:lstStyle/>
          <a:p>
            <a:pPr marL="0" indent="0">
              <a:buNone/>
            </a:pPr>
            <a:r>
              <a:rPr lang="en-US" sz="2000" b="1" dirty="0">
                <a:solidFill>
                  <a:schemeClr val="tx2"/>
                </a:solidFill>
              </a:rPr>
              <a:t>Societal marketing</a:t>
            </a:r>
            <a:endParaRPr lang="en-US" sz="2000" dirty="0"/>
          </a:p>
        </p:txBody>
      </p:sp>
      <p:sp>
        <p:nvSpPr>
          <p:cNvPr id="33" name="Text"/>
          <p:cNvSpPr txBox="1"/>
          <p:nvPr/>
        </p:nvSpPr>
        <p:spPr>
          <a:xfrm>
            <a:off x="9738360" y="3520440"/>
            <a:ext cx="1737360" cy="1097280"/>
          </a:xfrm>
          <a:prstGeom prst="rect">
            <a:avLst/>
          </a:prstGeom>
          <a:noFill/>
          <a:ln/>
        </p:spPr>
        <p:txBody>
          <a:bodyPr wrap="square" lIns="0" tIns="0" rIns="0" bIns="0" rtlCol="0" anchor="t"/>
          <a:lstStyle/>
          <a:p>
            <a:pPr marL="0" indent="0">
              <a:buNone/>
            </a:pPr>
            <a:r>
              <a:rPr lang="en-US" sz="1600" b="1" dirty="0">
                <a:solidFill>
                  <a:schemeClr val="accent1"/>
                </a:solidFill>
              </a:rPr>
              <a:t>Serve customers and society</a:t>
            </a:r>
            <a:endParaRPr lang="en-US" sz="1600" dirty="0"/>
          </a:p>
        </p:txBody>
      </p:sp>
      <p:sp>
        <p:nvSpPr>
          <p:cNvPr id="34" name="Orientation band"/>
          <p:cNvSpPr/>
          <p:nvPr/>
        </p:nvSpPr>
        <p:spPr>
          <a:xfrm>
            <a:off x="548640" y="4983480"/>
            <a:ext cx="6583680" cy="731520"/>
          </a:xfrm>
          <a:prstGeom prst="roundRect">
            <a:avLst>
              <a:gd name="adj" fmla="val 12500"/>
            </a:avLst>
          </a:prstGeom>
          <a:solidFill>
            <a:schemeClr val="accent6"/>
          </a:solidFill>
          <a:ln/>
        </p:spPr>
        <p:txBody>
          <a:bodyPr/>
          <a:lstStyle/>
          <a:p>
            <a:endParaRPr lang="en-US"/>
          </a:p>
        </p:txBody>
      </p:sp>
      <p:sp>
        <p:nvSpPr>
          <p:cNvPr id="35" name="Text"/>
          <p:cNvSpPr txBox="1"/>
          <p:nvPr/>
        </p:nvSpPr>
        <p:spPr>
          <a:xfrm>
            <a:off x="548640" y="4983480"/>
            <a:ext cx="6583680" cy="731520"/>
          </a:xfrm>
          <a:prstGeom prst="rect">
            <a:avLst/>
          </a:prstGeom>
          <a:noFill/>
          <a:ln/>
        </p:spPr>
        <p:txBody>
          <a:bodyPr wrap="square" lIns="0" tIns="0" rIns="0" bIns="0" rtlCol="0" anchor="ctr"/>
          <a:lstStyle/>
          <a:p>
            <a:pPr marL="0" indent="0" algn="ctr">
              <a:buNone/>
            </a:pPr>
            <a:r>
              <a:rPr lang="en-US" sz="1600" b="1" dirty="0">
                <a:solidFill>
                  <a:schemeClr val="bg1"/>
                </a:solidFill>
              </a:rPr>
              <a:t>Inside-out: starts with the company's operations and products</a:t>
            </a:r>
            <a:endParaRPr lang="en-US" sz="1600" dirty="0"/>
          </a:p>
        </p:txBody>
      </p:sp>
      <p:sp>
        <p:nvSpPr>
          <p:cNvPr id="36" name="Orientation band"/>
          <p:cNvSpPr/>
          <p:nvPr/>
        </p:nvSpPr>
        <p:spPr>
          <a:xfrm>
            <a:off x="7269480" y="4983480"/>
            <a:ext cx="4343400" cy="731520"/>
          </a:xfrm>
          <a:prstGeom prst="roundRect">
            <a:avLst>
              <a:gd name="adj" fmla="val 12500"/>
            </a:avLst>
          </a:prstGeom>
          <a:solidFill>
            <a:schemeClr val="accent3"/>
          </a:solidFill>
          <a:ln/>
        </p:spPr>
        <p:txBody>
          <a:bodyPr/>
          <a:lstStyle/>
          <a:p>
            <a:endParaRPr lang="en-US"/>
          </a:p>
        </p:txBody>
      </p:sp>
      <p:sp>
        <p:nvSpPr>
          <p:cNvPr id="37" name="Text"/>
          <p:cNvSpPr txBox="1"/>
          <p:nvPr/>
        </p:nvSpPr>
        <p:spPr>
          <a:xfrm>
            <a:off x="7269480" y="4983480"/>
            <a:ext cx="4343400" cy="731520"/>
          </a:xfrm>
          <a:prstGeom prst="rect">
            <a:avLst/>
          </a:prstGeom>
          <a:noFill/>
          <a:ln/>
        </p:spPr>
        <p:txBody>
          <a:bodyPr wrap="square" lIns="0" tIns="0" rIns="0" bIns="0" rtlCol="0" anchor="ctr"/>
          <a:lstStyle/>
          <a:p>
            <a:pPr marL="0" indent="0" algn="ctr">
              <a:buNone/>
            </a:pPr>
            <a:r>
              <a:rPr lang="en-US" sz="1600" b="1" dirty="0">
                <a:solidFill>
                  <a:schemeClr val="bg1"/>
                </a:solidFill>
              </a:rPr>
              <a:t>Outside-in: starts with customers and society</a:t>
            </a:r>
            <a:endParaRPr lang="en-US" sz="1600" dirty="0"/>
          </a:p>
        </p:txBody>
      </p:sp>
      <p:sp>
        <p:nvSpPr>
          <p:cNvPr id="38" name="Text"/>
          <p:cNvSpPr txBox="1"/>
          <p:nvPr/>
        </p:nvSpPr>
        <p:spPr>
          <a:xfrm>
            <a:off x="548640" y="5897880"/>
            <a:ext cx="11064240" cy="274320"/>
          </a:xfrm>
          <a:prstGeom prst="rect">
            <a:avLst/>
          </a:prstGeom>
          <a:noFill/>
          <a:ln/>
        </p:spPr>
        <p:txBody>
          <a:bodyPr wrap="square" lIns="0" tIns="0" rIns="0" bIns="0" rtlCol="0" anchor="t"/>
          <a:lstStyle/>
          <a:p>
            <a:pPr marL="0" indent="0">
              <a:buNone/>
            </a:pPr>
            <a:r>
              <a:rPr lang="en-US" sz="1300" i="1" dirty="0">
                <a:solidFill>
                  <a:schemeClr val="accent6"/>
                </a:solidFill>
              </a:rPr>
              <a:t>Kotler &amp; Keller extend the marketing concept into holistic marketing (see later slide).</a:t>
            </a:r>
            <a:endParaRPr lang="en-US" sz="13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6" grpId="0" animBg="1"/>
      <p:bldP spid="22"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1. The Production concept</a:t>
            </a:r>
            <a:endParaRPr lang="en-US" sz="3400" dirty="0"/>
          </a:p>
        </p:txBody>
      </p:sp>
      <p:sp>
        <p:nvSpPr>
          <p:cNvPr id="4" name="Concept panel"/>
          <p:cNvSpPr/>
          <p:nvPr/>
        </p:nvSpPr>
        <p:spPr>
          <a:xfrm>
            <a:off x="548640" y="1463040"/>
            <a:ext cx="3657600" cy="4663440"/>
          </a:xfrm>
          <a:prstGeom prst="roundRect">
            <a:avLst>
              <a:gd name="adj" fmla="val 2500"/>
            </a:avLst>
          </a:prstGeom>
          <a:solidFill>
            <a:schemeClr val="tx2"/>
          </a:solidFill>
          <a:ln/>
        </p:spPr>
        <p:txBody>
          <a:bodyPr/>
          <a:lstStyle/>
          <a:p>
            <a:endParaRPr lang="en-US"/>
          </a:p>
        </p:txBody>
      </p:sp>
      <p:sp>
        <p:nvSpPr>
          <p:cNvPr id="5" name="Icon circle"/>
          <p:cNvSpPr/>
          <p:nvPr/>
        </p:nvSpPr>
        <p:spPr>
          <a:xfrm>
            <a:off x="868680" y="1737360"/>
            <a:ext cx="914400" cy="914400"/>
          </a:xfrm>
          <a:prstGeom prst="ellipse">
            <a:avLst/>
          </a:prstGeom>
          <a:solidFill>
            <a:schemeClr val="accent1"/>
          </a:solidFill>
          <a:ln/>
        </p:spPr>
        <p:txBody>
          <a:bodyPr/>
          <a:lstStyle/>
          <a:p>
            <a:endParaRPr lang="en-US"/>
          </a:p>
        </p:txBody>
      </p:sp>
      <p:pic>
        <p:nvPicPr>
          <p:cNvPr id="6" name="Icon" descr="Industry icon"/>
          <p:cNvPicPr>
            <a:picLocks noChangeAspect="1"/>
          </p:cNvPicPr>
          <p:nvPr/>
        </p:nvPicPr>
        <p:blipFill>
          <a:blip r:embed="rId3"/>
          <a:stretch>
            <a:fillRect/>
          </a:stretch>
        </p:blipFill>
        <p:spPr>
          <a:xfrm>
            <a:off x="1097280" y="1965960"/>
            <a:ext cx="457200" cy="457200"/>
          </a:xfrm>
          <a:prstGeom prst="rect">
            <a:avLst/>
          </a:prstGeom>
        </p:spPr>
      </p:pic>
      <p:sp>
        <p:nvSpPr>
          <p:cNvPr id="7" name="Text"/>
          <p:cNvSpPr txBox="1"/>
          <p:nvPr/>
        </p:nvSpPr>
        <p:spPr>
          <a:xfrm>
            <a:off x="868680" y="2834640"/>
            <a:ext cx="3017520" cy="868680"/>
          </a:xfrm>
          <a:prstGeom prst="rect">
            <a:avLst/>
          </a:prstGeom>
          <a:noFill/>
          <a:ln/>
        </p:spPr>
        <p:txBody>
          <a:bodyPr wrap="square" lIns="0" tIns="0" rIns="0" bIns="0" rtlCol="0" anchor="t"/>
          <a:lstStyle/>
          <a:p>
            <a:pPr marL="0" indent="0">
              <a:buNone/>
            </a:pPr>
            <a:r>
              <a:rPr lang="en-US" sz="2600" b="1" dirty="0">
                <a:solidFill>
                  <a:schemeClr val="bg1"/>
                </a:solidFill>
              </a:rPr>
              <a:t>Production concept</a:t>
            </a:r>
            <a:endParaRPr lang="en-US" sz="2600" dirty="0"/>
          </a:p>
        </p:txBody>
      </p:sp>
      <p:sp>
        <p:nvSpPr>
          <p:cNvPr id="8" name="Text"/>
          <p:cNvSpPr txBox="1"/>
          <p:nvPr/>
        </p:nvSpPr>
        <p:spPr>
          <a:xfrm>
            <a:off x="868680" y="3749040"/>
            <a:ext cx="3017520" cy="594360"/>
          </a:xfrm>
          <a:prstGeom prst="rect">
            <a:avLst/>
          </a:prstGeom>
          <a:noFill/>
          <a:ln/>
        </p:spPr>
        <p:txBody>
          <a:bodyPr wrap="square" lIns="0" tIns="0" rIns="0" bIns="0" rtlCol="0" anchor="t"/>
          <a:lstStyle/>
          <a:p>
            <a:pPr marL="0" indent="0">
              <a:buNone/>
            </a:pPr>
            <a:r>
              <a:rPr lang="en-US" sz="1800" dirty="0">
                <a:solidFill>
                  <a:schemeClr val="accent2"/>
                </a:solidFill>
              </a:rPr>
              <a:t>Make it available and affordable</a:t>
            </a:r>
            <a:endParaRPr lang="en-US" sz="1800" dirty="0"/>
          </a:p>
        </p:txBody>
      </p:sp>
      <p:sp>
        <p:nvSpPr>
          <p:cNvPr id="9" name="Text"/>
          <p:cNvSpPr txBox="1"/>
          <p:nvPr/>
        </p:nvSpPr>
        <p:spPr>
          <a:xfrm>
            <a:off x="868680" y="4434840"/>
            <a:ext cx="3017520" cy="274320"/>
          </a:xfrm>
          <a:prstGeom prst="rect">
            <a:avLst/>
          </a:prstGeom>
          <a:noFill/>
          <a:ln/>
        </p:spPr>
        <p:txBody>
          <a:bodyPr wrap="square" lIns="0" tIns="0" rIns="0" bIns="0" rtlCol="0" anchor="t"/>
          <a:lstStyle/>
          <a:p>
            <a:pPr marL="0" indent="0">
              <a:buNone/>
            </a:pPr>
            <a:r>
              <a:rPr lang="en-US" sz="1400" b="1" dirty="0">
                <a:solidFill>
                  <a:schemeClr val="bg2"/>
                </a:solidFill>
              </a:rPr>
              <a:t>Orientation: inside-out</a:t>
            </a:r>
            <a:endParaRPr lang="en-US" sz="1400" dirty="0"/>
          </a:p>
        </p:txBody>
      </p:sp>
      <p:sp>
        <p:nvSpPr>
          <p:cNvPr id="10" name="Text"/>
          <p:cNvSpPr txBox="1"/>
          <p:nvPr/>
        </p:nvSpPr>
        <p:spPr>
          <a:xfrm>
            <a:off x="868680" y="4846320"/>
            <a:ext cx="3017520" cy="118872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EXAMPLE</a:t>
            </a:r>
            <a:endParaRPr lang="en-US" sz="1400" dirty="0"/>
          </a:p>
          <a:p>
            <a:pPr marL="0" indent="0">
              <a:spcAft>
                <a:spcPts val="300"/>
              </a:spcAft>
              <a:buNone/>
            </a:pPr>
            <a:r>
              <a:rPr lang="en-US" sz="1400" dirty="0">
                <a:solidFill>
                  <a:schemeClr val="bg1"/>
                </a:solidFill>
              </a:rPr>
              <a:t>Henry Ford's assembly line: mass production to cut the Model T's price and widen the market.</a:t>
            </a:r>
            <a:endParaRPr lang="en-US" sz="1400" dirty="0"/>
          </a:p>
        </p:txBody>
      </p:sp>
      <p:sp>
        <p:nvSpPr>
          <p:cNvPr id="11" name="Detail card"/>
          <p:cNvSpPr/>
          <p:nvPr/>
        </p:nvSpPr>
        <p:spPr>
          <a:xfrm>
            <a:off x="4480560" y="1463040"/>
            <a:ext cx="7132320" cy="1463040"/>
          </a:xfrm>
          <a:prstGeom prst="roundRect">
            <a:avLst>
              <a:gd name="adj" fmla="val 6250"/>
            </a:avLst>
          </a:prstGeom>
          <a:solidFill>
            <a:schemeClr val="bg2"/>
          </a:solidFill>
          <a:ln/>
        </p:spPr>
        <p:txBody>
          <a:bodyPr/>
          <a:lstStyle/>
          <a:p>
            <a:endParaRPr lang="en-US"/>
          </a:p>
        </p:txBody>
      </p:sp>
      <p:sp>
        <p:nvSpPr>
          <p:cNvPr id="12" name="Text"/>
          <p:cNvSpPr txBox="1"/>
          <p:nvPr/>
        </p:nvSpPr>
        <p:spPr>
          <a:xfrm>
            <a:off x="4754880" y="16002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CORE BELIEF</a:t>
            </a:r>
            <a:endParaRPr lang="en-US" dirty="0"/>
          </a:p>
          <a:p>
            <a:pPr marL="0" indent="0">
              <a:spcAft>
                <a:spcPts val="400"/>
              </a:spcAft>
              <a:buNone/>
            </a:pPr>
            <a:r>
              <a:rPr lang="en-US" dirty="0">
                <a:solidFill>
                  <a:schemeClr val="tx1"/>
                </a:solidFill>
              </a:rPr>
              <a:t>Consumers prefer products that are widely available and inexpensive, so management concentrates on improving production and distribution efficiency.</a:t>
            </a:r>
            <a:endParaRPr lang="en-US" dirty="0"/>
          </a:p>
        </p:txBody>
      </p:sp>
      <p:sp>
        <p:nvSpPr>
          <p:cNvPr id="13" name="Detail card"/>
          <p:cNvSpPr/>
          <p:nvPr/>
        </p:nvSpPr>
        <p:spPr>
          <a:xfrm>
            <a:off x="4480560" y="3063240"/>
            <a:ext cx="7132320" cy="1463040"/>
          </a:xfrm>
          <a:prstGeom prst="roundRect">
            <a:avLst>
              <a:gd name="adj" fmla="val 6250"/>
            </a:avLst>
          </a:prstGeom>
          <a:solidFill>
            <a:schemeClr val="bg2"/>
          </a:solidFill>
          <a:ln/>
        </p:spPr>
        <p:txBody>
          <a:bodyPr/>
          <a:lstStyle/>
          <a:p>
            <a:endParaRPr lang="en-US"/>
          </a:p>
        </p:txBody>
      </p:sp>
      <p:sp>
        <p:nvSpPr>
          <p:cNvPr id="14" name="Text"/>
          <p:cNvSpPr txBox="1"/>
          <p:nvPr/>
        </p:nvSpPr>
        <p:spPr>
          <a:xfrm>
            <a:off x="4754880" y="32004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APPROPRIATE WHEN</a:t>
            </a:r>
            <a:endParaRPr lang="en-US" dirty="0"/>
          </a:p>
          <a:p>
            <a:pPr marL="0" indent="0">
              <a:spcAft>
                <a:spcPts val="400"/>
              </a:spcAft>
              <a:buNone/>
            </a:pPr>
            <a:r>
              <a:rPr lang="en-US" dirty="0">
                <a:solidFill>
                  <a:schemeClr val="tx1"/>
                </a:solidFill>
              </a:rPr>
              <a:t>Demand exceeds supply, or the product's cost is too high and must come down to expand the market.</a:t>
            </a:r>
            <a:endParaRPr lang="en-US" dirty="0"/>
          </a:p>
        </p:txBody>
      </p:sp>
      <p:sp>
        <p:nvSpPr>
          <p:cNvPr id="15" name="Detail card"/>
          <p:cNvSpPr/>
          <p:nvPr/>
        </p:nvSpPr>
        <p:spPr>
          <a:xfrm>
            <a:off x="4480560" y="4663440"/>
            <a:ext cx="7132320" cy="1463040"/>
          </a:xfrm>
          <a:prstGeom prst="roundRect">
            <a:avLst>
              <a:gd name="adj" fmla="val 6250"/>
            </a:avLst>
          </a:prstGeom>
          <a:solidFill>
            <a:schemeClr val="bg2"/>
          </a:solidFill>
          <a:ln/>
        </p:spPr>
        <p:txBody>
          <a:bodyPr/>
          <a:lstStyle/>
          <a:p>
            <a:endParaRPr lang="en-US"/>
          </a:p>
        </p:txBody>
      </p:sp>
      <p:sp>
        <p:nvSpPr>
          <p:cNvPr id="16" name="Text"/>
          <p:cNvSpPr txBox="1"/>
          <p:nvPr/>
        </p:nvSpPr>
        <p:spPr>
          <a:xfrm>
            <a:off x="4754880" y="48006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LIMITATIONS</a:t>
            </a:r>
            <a:endParaRPr lang="en-US" dirty="0"/>
          </a:p>
          <a:p>
            <a:pPr marL="0" indent="0">
              <a:spcAft>
                <a:spcPts val="400"/>
              </a:spcAft>
              <a:buNone/>
            </a:pPr>
            <a:r>
              <a:rPr lang="en-US" dirty="0">
                <a:solidFill>
                  <a:schemeClr val="tx1"/>
                </a:solidFill>
              </a:rPr>
              <a:t>A narrow focus on operations can neglect what customers actually want, a path to marketing myopia.</a:t>
            </a:r>
            <a:endParaRPr lang="en-US"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2. The Product concept</a:t>
            </a:r>
            <a:endParaRPr lang="en-US" sz="3400" dirty="0"/>
          </a:p>
        </p:txBody>
      </p:sp>
      <p:sp>
        <p:nvSpPr>
          <p:cNvPr id="4" name="Concept panel"/>
          <p:cNvSpPr/>
          <p:nvPr/>
        </p:nvSpPr>
        <p:spPr>
          <a:xfrm>
            <a:off x="548640" y="1463040"/>
            <a:ext cx="3657600" cy="4663440"/>
          </a:xfrm>
          <a:prstGeom prst="roundRect">
            <a:avLst>
              <a:gd name="adj" fmla="val 2500"/>
            </a:avLst>
          </a:prstGeom>
          <a:solidFill>
            <a:schemeClr val="tx2"/>
          </a:solidFill>
          <a:ln/>
        </p:spPr>
        <p:txBody>
          <a:bodyPr/>
          <a:lstStyle/>
          <a:p>
            <a:endParaRPr lang="en-US"/>
          </a:p>
        </p:txBody>
      </p:sp>
      <p:sp>
        <p:nvSpPr>
          <p:cNvPr id="5" name="Icon circle"/>
          <p:cNvSpPr/>
          <p:nvPr/>
        </p:nvSpPr>
        <p:spPr>
          <a:xfrm>
            <a:off x="868680" y="1737360"/>
            <a:ext cx="914400" cy="914400"/>
          </a:xfrm>
          <a:prstGeom prst="ellipse">
            <a:avLst/>
          </a:prstGeom>
          <a:solidFill>
            <a:schemeClr val="accent1"/>
          </a:solidFill>
          <a:ln/>
        </p:spPr>
        <p:txBody>
          <a:bodyPr/>
          <a:lstStyle/>
          <a:p>
            <a:endParaRPr lang="en-US"/>
          </a:p>
        </p:txBody>
      </p:sp>
      <p:pic>
        <p:nvPicPr>
          <p:cNvPr id="6" name="Icon" descr="Award icon"/>
          <p:cNvPicPr>
            <a:picLocks noChangeAspect="1"/>
          </p:cNvPicPr>
          <p:nvPr/>
        </p:nvPicPr>
        <p:blipFill>
          <a:blip r:embed="rId3"/>
          <a:stretch>
            <a:fillRect/>
          </a:stretch>
        </p:blipFill>
        <p:spPr>
          <a:xfrm>
            <a:off x="1097280" y="1965960"/>
            <a:ext cx="457200" cy="457200"/>
          </a:xfrm>
          <a:prstGeom prst="rect">
            <a:avLst/>
          </a:prstGeom>
        </p:spPr>
      </p:pic>
      <p:sp>
        <p:nvSpPr>
          <p:cNvPr id="7" name="Text"/>
          <p:cNvSpPr txBox="1"/>
          <p:nvPr/>
        </p:nvSpPr>
        <p:spPr>
          <a:xfrm>
            <a:off x="868680" y="2834640"/>
            <a:ext cx="3017520" cy="868680"/>
          </a:xfrm>
          <a:prstGeom prst="rect">
            <a:avLst/>
          </a:prstGeom>
          <a:noFill/>
          <a:ln/>
        </p:spPr>
        <p:txBody>
          <a:bodyPr wrap="square" lIns="0" tIns="0" rIns="0" bIns="0" rtlCol="0" anchor="t"/>
          <a:lstStyle/>
          <a:p>
            <a:pPr marL="0" indent="0">
              <a:buNone/>
            </a:pPr>
            <a:r>
              <a:rPr lang="en-US" sz="2600" b="1" dirty="0">
                <a:solidFill>
                  <a:schemeClr val="bg1"/>
                </a:solidFill>
              </a:rPr>
              <a:t>Product concept</a:t>
            </a:r>
            <a:endParaRPr lang="en-US" sz="2600" dirty="0"/>
          </a:p>
        </p:txBody>
      </p:sp>
      <p:sp>
        <p:nvSpPr>
          <p:cNvPr id="8" name="Text"/>
          <p:cNvSpPr txBox="1"/>
          <p:nvPr/>
        </p:nvSpPr>
        <p:spPr>
          <a:xfrm>
            <a:off x="868680" y="3749040"/>
            <a:ext cx="3017520" cy="594360"/>
          </a:xfrm>
          <a:prstGeom prst="rect">
            <a:avLst/>
          </a:prstGeom>
          <a:noFill/>
          <a:ln/>
        </p:spPr>
        <p:txBody>
          <a:bodyPr wrap="square" lIns="0" tIns="0" rIns="0" bIns="0" rtlCol="0" anchor="t"/>
          <a:lstStyle/>
          <a:p>
            <a:pPr marL="0" indent="0">
              <a:buNone/>
            </a:pPr>
            <a:r>
              <a:rPr lang="en-US" sz="1800" dirty="0">
                <a:solidFill>
                  <a:schemeClr val="accent2"/>
                </a:solidFill>
              </a:rPr>
              <a:t>Make it better</a:t>
            </a:r>
            <a:endParaRPr lang="en-US" sz="1800" dirty="0"/>
          </a:p>
        </p:txBody>
      </p:sp>
      <p:sp>
        <p:nvSpPr>
          <p:cNvPr id="9" name="Text"/>
          <p:cNvSpPr txBox="1"/>
          <p:nvPr/>
        </p:nvSpPr>
        <p:spPr>
          <a:xfrm>
            <a:off x="868680" y="4434840"/>
            <a:ext cx="3017520" cy="274320"/>
          </a:xfrm>
          <a:prstGeom prst="rect">
            <a:avLst/>
          </a:prstGeom>
          <a:noFill/>
          <a:ln/>
        </p:spPr>
        <p:txBody>
          <a:bodyPr wrap="square" lIns="0" tIns="0" rIns="0" bIns="0" rtlCol="0" anchor="t"/>
          <a:lstStyle/>
          <a:p>
            <a:pPr marL="0" indent="0">
              <a:buNone/>
            </a:pPr>
            <a:r>
              <a:rPr lang="en-US" sz="1400" b="1" dirty="0">
                <a:solidFill>
                  <a:schemeClr val="bg2"/>
                </a:solidFill>
              </a:rPr>
              <a:t>Orientation: inside-out</a:t>
            </a:r>
            <a:endParaRPr lang="en-US" sz="1400" dirty="0"/>
          </a:p>
        </p:txBody>
      </p:sp>
      <p:sp>
        <p:nvSpPr>
          <p:cNvPr id="10" name="Text"/>
          <p:cNvSpPr txBox="1"/>
          <p:nvPr/>
        </p:nvSpPr>
        <p:spPr>
          <a:xfrm>
            <a:off x="868680" y="4846320"/>
            <a:ext cx="3017520" cy="1188720"/>
          </a:xfrm>
          <a:prstGeom prst="rect">
            <a:avLst/>
          </a:prstGeom>
          <a:noFill/>
          <a:ln/>
        </p:spPr>
        <p:txBody>
          <a:bodyPr wrap="square" lIns="0" tIns="0" rIns="0" bIns="0" rtlCol="0" anchor="t"/>
          <a:lstStyle/>
          <a:p>
            <a:pPr marL="0" indent="0">
              <a:spcAft>
                <a:spcPts val="300"/>
              </a:spcAft>
              <a:buNone/>
            </a:pPr>
            <a:r>
              <a:rPr lang="en-US" sz="1200" b="1" dirty="0">
                <a:solidFill>
                  <a:schemeClr val="accent2"/>
                </a:solidFill>
              </a:rPr>
              <a:t>EXAMPLE</a:t>
            </a:r>
            <a:endParaRPr lang="en-US" sz="1400" dirty="0"/>
          </a:p>
          <a:p>
            <a:pPr marL="0" indent="0">
              <a:spcAft>
                <a:spcPts val="300"/>
              </a:spcAft>
              <a:buNone/>
            </a:pPr>
            <a:r>
              <a:rPr lang="en-US" sz="1400" dirty="0">
                <a:solidFill>
                  <a:schemeClr val="bg1"/>
                </a:solidFill>
              </a:rPr>
              <a:t>Railroads that saw themselves in the railroad business, not the transportation business (Levitt, 1960).</a:t>
            </a:r>
            <a:endParaRPr lang="en-US" sz="1400" dirty="0"/>
          </a:p>
        </p:txBody>
      </p:sp>
      <p:sp>
        <p:nvSpPr>
          <p:cNvPr id="11" name="Detail card"/>
          <p:cNvSpPr/>
          <p:nvPr/>
        </p:nvSpPr>
        <p:spPr>
          <a:xfrm>
            <a:off x="4480560" y="1463040"/>
            <a:ext cx="7132320" cy="1463040"/>
          </a:xfrm>
          <a:prstGeom prst="roundRect">
            <a:avLst>
              <a:gd name="adj" fmla="val 6250"/>
            </a:avLst>
          </a:prstGeom>
          <a:solidFill>
            <a:schemeClr val="bg2"/>
          </a:solidFill>
          <a:ln/>
        </p:spPr>
        <p:txBody>
          <a:bodyPr/>
          <a:lstStyle/>
          <a:p>
            <a:endParaRPr lang="en-US"/>
          </a:p>
        </p:txBody>
      </p:sp>
      <p:sp>
        <p:nvSpPr>
          <p:cNvPr id="12" name="Text"/>
          <p:cNvSpPr txBox="1"/>
          <p:nvPr/>
        </p:nvSpPr>
        <p:spPr>
          <a:xfrm>
            <a:off x="4754880" y="16002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CORE BELIEF</a:t>
            </a:r>
            <a:endParaRPr lang="en-US" dirty="0"/>
          </a:p>
          <a:p>
            <a:pPr marL="0" indent="0">
              <a:spcAft>
                <a:spcPts val="400"/>
              </a:spcAft>
              <a:buNone/>
            </a:pPr>
            <a:r>
              <a:rPr lang="en-US" dirty="0">
                <a:solidFill>
                  <a:schemeClr val="tx1"/>
                </a:solidFill>
              </a:rPr>
              <a:t>Consumers favor products offering the most quality, performance and innovative features, so the firm devotes its energy to constant product improvement.</a:t>
            </a:r>
            <a:endParaRPr lang="en-US" dirty="0"/>
          </a:p>
        </p:txBody>
      </p:sp>
      <p:sp>
        <p:nvSpPr>
          <p:cNvPr id="13" name="Detail card"/>
          <p:cNvSpPr/>
          <p:nvPr/>
        </p:nvSpPr>
        <p:spPr>
          <a:xfrm>
            <a:off x="4480560" y="3063240"/>
            <a:ext cx="7132320" cy="1463040"/>
          </a:xfrm>
          <a:prstGeom prst="roundRect">
            <a:avLst>
              <a:gd name="adj" fmla="val 6250"/>
            </a:avLst>
          </a:prstGeom>
          <a:solidFill>
            <a:schemeClr val="bg2"/>
          </a:solidFill>
          <a:ln/>
        </p:spPr>
        <p:txBody>
          <a:bodyPr/>
          <a:lstStyle/>
          <a:p>
            <a:endParaRPr lang="en-US"/>
          </a:p>
        </p:txBody>
      </p:sp>
      <p:sp>
        <p:nvSpPr>
          <p:cNvPr id="14" name="Text"/>
          <p:cNvSpPr txBox="1"/>
          <p:nvPr/>
        </p:nvSpPr>
        <p:spPr>
          <a:xfrm>
            <a:off x="4754880" y="32004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APPROPRIATE WHEN</a:t>
            </a:r>
            <a:endParaRPr lang="en-US" dirty="0"/>
          </a:p>
          <a:p>
            <a:pPr marL="0" indent="0">
              <a:spcAft>
                <a:spcPts val="400"/>
              </a:spcAft>
              <a:buNone/>
            </a:pPr>
            <a:r>
              <a:rPr lang="en-US" dirty="0">
                <a:solidFill>
                  <a:schemeClr val="tx1"/>
                </a:solidFill>
              </a:rPr>
              <a:t>Customers genuinely value superior performance and the firm understands which features matter to them.</a:t>
            </a:r>
            <a:endParaRPr lang="en-US" dirty="0"/>
          </a:p>
        </p:txBody>
      </p:sp>
      <p:sp>
        <p:nvSpPr>
          <p:cNvPr id="15" name="Detail card"/>
          <p:cNvSpPr/>
          <p:nvPr/>
        </p:nvSpPr>
        <p:spPr>
          <a:xfrm>
            <a:off x="4480560" y="4663440"/>
            <a:ext cx="7132320" cy="1463040"/>
          </a:xfrm>
          <a:prstGeom prst="roundRect">
            <a:avLst>
              <a:gd name="adj" fmla="val 6250"/>
            </a:avLst>
          </a:prstGeom>
          <a:solidFill>
            <a:schemeClr val="bg2"/>
          </a:solidFill>
          <a:ln/>
        </p:spPr>
        <p:txBody>
          <a:bodyPr/>
          <a:lstStyle/>
          <a:p>
            <a:endParaRPr lang="en-US"/>
          </a:p>
        </p:txBody>
      </p:sp>
      <p:sp>
        <p:nvSpPr>
          <p:cNvPr id="16" name="Text"/>
          <p:cNvSpPr txBox="1"/>
          <p:nvPr/>
        </p:nvSpPr>
        <p:spPr>
          <a:xfrm>
            <a:off x="4754880" y="48006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LIMITATIONS</a:t>
            </a:r>
            <a:endParaRPr lang="en-US" dirty="0"/>
          </a:p>
          <a:p>
            <a:pPr marL="0" indent="0">
              <a:spcAft>
                <a:spcPts val="400"/>
              </a:spcAft>
              <a:buNone/>
            </a:pPr>
            <a:r>
              <a:rPr lang="en-US" dirty="0">
                <a:solidFill>
                  <a:schemeClr val="tx1"/>
                </a:solidFill>
              </a:rPr>
              <a:t>The 'better mousetrap' fallacy: assuming buyers will beat a path to the door. The firm falls in love with its product and overlooks other ways of meeting the need (marketing myopia).</a:t>
            </a:r>
            <a:endParaRPr lang="en-US"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3. The Selling concept</a:t>
            </a:r>
            <a:endParaRPr lang="en-US" sz="3400" dirty="0"/>
          </a:p>
        </p:txBody>
      </p:sp>
      <p:sp>
        <p:nvSpPr>
          <p:cNvPr id="4" name="Concept panel"/>
          <p:cNvSpPr/>
          <p:nvPr/>
        </p:nvSpPr>
        <p:spPr>
          <a:xfrm>
            <a:off x="548640" y="1463040"/>
            <a:ext cx="3657600" cy="4663440"/>
          </a:xfrm>
          <a:prstGeom prst="roundRect">
            <a:avLst>
              <a:gd name="adj" fmla="val 2500"/>
            </a:avLst>
          </a:prstGeom>
          <a:solidFill>
            <a:schemeClr val="tx2"/>
          </a:solidFill>
          <a:ln/>
        </p:spPr>
        <p:txBody>
          <a:bodyPr/>
          <a:lstStyle/>
          <a:p>
            <a:endParaRPr lang="en-US"/>
          </a:p>
        </p:txBody>
      </p:sp>
      <p:sp>
        <p:nvSpPr>
          <p:cNvPr id="5" name="Icon circle"/>
          <p:cNvSpPr/>
          <p:nvPr/>
        </p:nvSpPr>
        <p:spPr>
          <a:xfrm>
            <a:off x="868680" y="1737360"/>
            <a:ext cx="914400" cy="914400"/>
          </a:xfrm>
          <a:prstGeom prst="ellipse">
            <a:avLst/>
          </a:prstGeom>
          <a:solidFill>
            <a:schemeClr val="accent1"/>
          </a:solidFill>
          <a:ln/>
        </p:spPr>
        <p:txBody>
          <a:bodyPr/>
          <a:lstStyle/>
          <a:p>
            <a:endParaRPr lang="en-US"/>
          </a:p>
        </p:txBody>
      </p:sp>
      <p:pic>
        <p:nvPicPr>
          <p:cNvPr id="6" name="Icon" descr="Bullhorn icon"/>
          <p:cNvPicPr>
            <a:picLocks noChangeAspect="1"/>
          </p:cNvPicPr>
          <p:nvPr/>
        </p:nvPicPr>
        <p:blipFill>
          <a:blip r:embed="rId3"/>
          <a:stretch>
            <a:fillRect/>
          </a:stretch>
        </p:blipFill>
        <p:spPr>
          <a:xfrm>
            <a:off x="1097280" y="1965960"/>
            <a:ext cx="457200" cy="457200"/>
          </a:xfrm>
          <a:prstGeom prst="rect">
            <a:avLst/>
          </a:prstGeom>
        </p:spPr>
      </p:pic>
      <p:sp>
        <p:nvSpPr>
          <p:cNvPr id="7" name="Text"/>
          <p:cNvSpPr txBox="1"/>
          <p:nvPr/>
        </p:nvSpPr>
        <p:spPr>
          <a:xfrm>
            <a:off x="868680" y="2834640"/>
            <a:ext cx="3017520" cy="868680"/>
          </a:xfrm>
          <a:prstGeom prst="rect">
            <a:avLst/>
          </a:prstGeom>
          <a:noFill/>
          <a:ln/>
        </p:spPr>
        <p:txBody>
          <a:bodyPr wrap="square" lIns="0" tIns="0" rIns="0" bIns="0" rtlCol="0" anchor="t"/>
          <a:lstStyle/>
          <a:p>
            <a:pPr marL="0" indent="0">
              <a:buNone/>
            </a:pPr>
            <a:r>
              <a:rPr lang="en-US" sz="2600" b="1" dirty="0">
                <a:solidFill>
                  <a:schemeClr val="bg1"/>
                </a:solidFill>
              </a:rPr>
              <a:t>Selling concept</a:t>
            </a:r>
            <a:endParaRPr lang="en-US" sz="2600" dirty="0"/>
          </a:p>
        </p:txBody>
      </p:sp>
      <p:sp>
        <p:nvSpPr>
          <p:cNvPr id="8" name="Text"/>
          <p:cNvSpPr txBox="1"/>
          <p:nvPr/>
        </p:nvSpPr>
        <p:spPr>
          <a:xfrm>
            <a:off x="868680" y="3749040"/>
            <a:ext cx="3017520" cy="594360"/>
          </a:xfrm>
          <a:prstGeom prst="rect">
            <a:avLst/>
          </a:prstGeom>
          <a:noFill/>
          <a:ln/>
        </p:spPr>
        <p:txBody>
          <a:bodyPr wrap="square" lIns="0" tIns="0" rIns="0" bIns="0" rtlCol="0" anchor="t"/>
          <a:lstStyle/>
          <a:p>
            <a:pPr marL="0" indent="0">
              <a:buNone/>
            </a:pPr>
            <a:r>
              <a:rPr lang="en-US" sz="1800" dirty="0">
                <a:solidFill>
                  <a:schemeClr val="accent2"/>
                </a:solidFill>
              </a:rPr>
              <a:t>Sell it harder</a:t>
            </a:r>
            <a:endParaRPr lang="en-US" sz="1800" dirty="0"/>
          </a:p>
        </p:txBody>
      </p:sp>
      <p:sp>
        <p:nvSpPr>
          <p:cNvPr id="9" name="Text"/>
          <p:cNvSpPr txBox="1"/>
          <p:nvPr/>
        </p:nvSpPr>
        <p:spPr>
          <a:xfrm>
            <a:off x="868680" y="4434840"/>
            <a:ext cx="3017520" cy="274320"/>
          </a:xfrm>
          <a:prstGeom prst="rect">
            <a:avLst/>
          </a:prstGeom>
          <a:noFill/>
          <a:ln/>
        </p:spPr>
        <p:txBody>
          <a:bodyPr wrap="square" lIns="0" tIns="0" rIns="0" bIns="0" rtlCol="0" anchor="t"/>
          <a:lstStyle/>
          <a:p>
            <a:pPr marL="0" indent="0">
              <a:buNone/>
            </a:pPr>
            <a:r>
              <a:rPr lang="en-US" sz="1400" b="1" dirty="0">
                <a:solidFill>
                  <a:schemeClr val="bg2"/>
                </a:solidFill>
              </a:rPr>
              <a:t>Orientation: inside-out</a:t>
            </a:r>
            <a:endParaRPr lang="en-US" sz="1400" dirty="0"/>
          </a:p>
        </p:txBody>
      </p:sp>
      <p:sp>
        <p:nvSpPr>
          <p:cNvPr id="10" name="Text"/>
          <p:cNvSpPr txBox="1"/>
          <p:nvPr/>
        </p:nvSpPr>
        <p:spPr>
          <a:xfrm>
            <a:off x="868680" y="4846320"/>
            <a:ext cx="3017520" cy="1188720"/>
          </a:xfrm>
          <a:prstGeom prst="rect">
            <a:avLst/>
          </a:prstGeom>
          <a:noFill/>
          <a:ln/>
        </p:spPr>
        <p:txBody>
          <a:bodyPr wrap="square" lIns="0" tIns="0" rIns="0" bIns="0" rtlCol="0" anchor="t"/>
          <a:lstStyle/>
          <a:p>
            <a:pPr marL="0" indent="0">
              <a:spcAft>
                <a:spcPts val="300"/>
              </a:spcAft>
              <a:buNone/>
            </a:pPr>
            <a:r>
              <a:rPr lang="en-US" sz="1200" b="1" dirty="0">
                <a:solidFill>
                  <a:schemeClr val="accent2"/>
                </a:solidFill>
              </a:rPr>
              <a:t>EXAMPLE</a:t>
            </a:r>
            <a:endParaRPr lang="en-US" sz="1400" dirty="0"/>
          </a:p>
          <a:p>
            <a:pPr marL="0" indent="0">
              <a:spcAft>
                <a:spcPts val="300"/>
              </a:spcAft>
              <a:buNone/>
            </a:pPr>
            <a:r>
              <a:rPr lang="en-US" sz="1400" dirty="0">
                <a:solidFill>
                  <a:schemeClr val="bg1"/>
                </a:solidFill>
              </a:rPr>
              <a:t>Insurance and other unsought goods sold through aggressive sales forces.</a:t>
            </a:r>
            <a:endParaRPr lang="en-US" sz="1400" dirty="0"/>
          </a:p>
        </p:txBody>
      </p:sp>
      <p:sp>
        <p:nvSpPr>
          <p:cNvPr id="11" name="Detail card"/>
          <p:cNvSpPr/>
          <p:nvPr/>
        </p:nvSpPr>
        <p:spPr>
          <a:xfrm>
            <a:off x="4480560" y="1463040"/>
            <a:ext cx="7132320" cy="1463040"/>
          </a:xfrm>
          <a:prstGeom prst="roundRect">
            <a:avLst>
              <a:gd name="adj" fmla="val 6250"/>
            </a:avLst>
          </a:prstGeom>
          <a:solidFill>
            <a:schemeClr val="bg2"/>
          </a:solidFill>
          <a:ln/>
        </p:spPr>
        <p:txBody>
          <a:bodyPr/>
          <a:lstStyle/>
          <a:p>
            <a:endParaRPr lang="en-US"/>
          </a:p>
        </p:txBody>
      </p:sp>
      <p:sp>
        <p:nvSpPr>
          <p:cNvPr id="12" name="Text"/>
          <p:cNvSpPr txBox="1"/>
          <p:nvPr/>
        </p:nvSpPr>
        <p:spPr>
          <a:xfrm>
            <a:off x="4754880" y="16002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CORE BELIEF</a:t>
            </a:r>
            <a:endParaRPr lang="en-US" dirty="0"/>
          </a:p>
          <a:p>
            <a:pPr marL="0" indent="0">
              <a:spcAft>
                <a:spcPts val="400"/>
              </a:spcAft>
              <a:buNone/>
            </a:pPr>
            <a:r>
              <a:rPr lang="en-US" dirty="0">
                <a:solidFill>
                  <a:schemeClr val="tx1"/>
                </a:solidFill>
              </a:rPr>
              <a:t>Consumers will not buy enough of the firm's products unless it undertakes a large-scale selling and promotion effort.</a:t>
            </a:r>
            <a:endParaRPr lang="en-US" dirty="0"/>
          </a:p>
        </p:txBody>
      </p:sp>
      <p:sp>
        <p:nvSpPr>
          <p:cNvPr id="13" name="Detail card"/>
          <p:cNvSpPr/>
          <p:nvPr/>
        </p:nvSpPr>
        <p:spPr>
          <a:xfrm>
            <a:off x="4480560" y="3063240"/>
            <a:ext cx="7132320" cy="1463040"/>
          </a:xfrm>
          <a:prstGeom prst="roundRect">
            <a:avLst>
              <a:gd name="adj" fmla="val 6250"/>
            </a:avLst>
          </a:prstGeom>
          <a:solidFill>
            <a:schemeClr val="bg2"/>
          </a:solidFill>
          <a:ln/>
        </p:spPr>
        <p:txBody>
          <a:bodyPr/>
          <a:lstStyle/>
          <a:p>
            <a:endParaRPr lang="en-US"/>
          </a:p>
        </p:txBody>
      </p:sp>
      <p:sp>
        <p:nvSpPr>
          <p:cNvPr id="14" name="Text"/>
          <p:cNvSpPr txBox="1"/>
          <p:nvPr/>
        </p:nvSpPr>
        <p:spPr>
          <a:xfrm>
            <a:off x="4754880" y="32004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APPROPRIATE WHEN</a:t>
            </a:r>
            <a:endParaRPr lang="en-US" dirty="0"/>
          </a:p>
          <a:p>
            <a:pPr marL="0" indent="0">
              <a:spcAft>
                <a:spcPts val="400"/>
              </a:spcAft>
              <a:buNone/>
            </a:pPr>
            <a:r>
              <a:rPr lang="en-US" dirty="0">
                <a:solidFill>
                  <a:schemeClr val="tx1"/>
                </a:solidFill>
              </a:rPr>
              <a:t>Unsought goods, those buyers do not normally think of buying, such as insurance or blood donations, and when firms face overcapacity.</a:t>
            </a:r>
            <a:endParaRPr lang="en-US" dirty="0"/>
          </a:p>
        </p:txBody>
      </p:sp>
      <p:sp>
        <p:nvSpPr>
          <p:cNvPr id="15" name="Detail card"/>
          <p:cNvSpPr/>
          <p:nvPr/>
        </p:nvSpPr>
        <p:spPr>
          <a:xfrm>
            <a:off x="4480560" y="4663440"/>
            <a:ext cx="7132320" cy="1463040"/>
          </a:xfrm>
          <a:prstGeom prst="roundRect">
            <a:avLst>
              <a:gd name="adj" fmla="val 6250"/>
            </a:avLst>
          </a:prstGeom>
          <a:solidFill>
            <a:schemeClr val="bg2"/>
          </a:solidFill>
          <a:ln/>
        </p:spPr>
        <p:txBody>
          <a:bodyPr/>
          <a:lstStyle/>
          <a:p>
            <a:endParaRPr lang="en-US"/>
          </a:p>
        </p:txBody>
      </p:sp>
      <p:sp>
        <p:nvSpPr>
          <p:cNvPr id="16" name="Text"/>
          <p:cNvSpPr txBox="1"/>
          <p:nvPr/>
        </p:nvSpPr>
        <p:spPr>
          <a:xfrm>
            <a:off x="4754880" y="4800600"/>
            <a:ext cx="6583680" cy="1188720"/>
          </a:xfrm>
          <a:prstGeom prst="rect">
            <a:avLst/>
          </a:prstGeom>
          <a:noFill/>
          <a:ln/>
        </p:spPr>
        <p:txBody>
          <a:bodyPr wrap="square" lIns="0" tIns="0" rIns="0" bIns="0" rtlCol="0" anchor="ctr"/>
          <a:lstStyle/>
          <a:p>
            <a:pPr marL="0" indent="0">
              <a:spcAft>
                <a:spcPts val="400"/>
              </a:spcAft>
              <a:buNone/>
            </a:pPr>
            <a:r>
              <a:rPr lang="en-US" b="1" dirty="0">
                <a:solidFill>
                  <a:schemeClr val="accent1"/>
                </a:solidFill>
              </a:rPr>
              <a:t>LIMITATIONS</a:t>
            </a:r>
            <a:endParaRPr lang="en-US" dirty="0"/>
          </a:p>
          <a:p>
            <a:pPr marL="0" indent="0">
              <a:spcAft>
                <a:spcPts val="400"/>
              </a:spcAft>
              <a:buNone/>
            </a:pPr>
            <a:r>
              <a:rPr lang="en-US" dirty="0">
                <a:solidFill>
                  <a:schemeClr val="tx1"/>
                </a:solidFill>
              </a:rPr>
              <a:t>Focuses on creating sales transactions, not long-term relationships. Coerced buyers who dislike the product may complain or return it.</a:t>
            </a:r>
            <a:endParaRPr lang="en-US"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4. The Marketing </a:t>
            </a:r>
            <a:r>
              <a:rPr lang="en-US" dirty="0"/>
              <a:t>C</a:t>
            </a:r>
            <a:r>
              <a:rPr lang="en-US" sz="3400" b="1" dirty="0">
                <a:solidFill>
                  <a:schemeClr val="tx2"/>
                </a:solidFill>
              </a:rPr>
              <a:t>oncept</a:t>
            </a:r>
            <a:endParaRPr lang="en-US" sz="3400" dirty="0"/>
          </a:p>
        </p:txBody>
      </p:sp>
      <p:sp>
        <p:nvSpPr>
          <p:cNvPr id="4" name="Text"/>
          <p:cNvSpPr txBox="1"/>
          <p:nvPr/>
        </p:nvSpPr>
        <p:spPr>
          <a:xfrm>
            <a:off x="548640" y="1371600"/>
            <a:ext cx="11064240" cy="822960"/>
          </a:xfrm>
          <a:prstGeom prst="rect">
            <a:avLst/>
          </a:prstGeom>
          <a:noFill/>
          <a:ln/>
        </p:spPr>
        <p:txBody>
          <a:bodyPr wrap="square" lIns="0" tIns="0" rIns="0" bIns="0" rtlCol="0" anchor="ctr"/>
          <a:lstStyle/>
          <a:p>
            <a:pPr marL="0" indent="0">
              <a:buNone/>
            </a:pPr>
            <a:r>
              <a:rPr lang="en-US" sz="1700" dirty="0">
                <a:solidFill>
                  <a:schemeClr val="tx2"/>
                </a:solidFill>
              </a:rPr>
              <a:t>Achieving organizational goals depends on knowing the needs and wants of target markets and delivering the desired satisfactions better than competitors do.</a:t>
            </a:r>
            <a:endParaRPr lang="en-US" sz="1700" dirty="0"/>
          </a:p>
        </p:txBody>
      </p:sp>
      <p:sp>
        <p:nvSpPr>
          <p:cNvPr id="5" name="Row label"/>
          <p:cNvSpPr/>
          <p:nvPr/>
        </p:nvSpPr>
        <p:spPr>
          <a:xfrm>
            <a:off x="548640" y="2423160"/>
            <a:ext cx="2103120" cy="1188720"/>
          </a:xfrm>
          <a:prstGeom prst="roundRect">
            <a:avLst>
              <a:gd name="adj" fmla="val 7692"/>
            </a:avLst>
          </a:prstGeom>
          <a:solidFill>
            <a:schemeClr val="tx2"/>
          </a:solidFill>
          <a:ln/>
        </p:spPr>
        <p:txBody>
          <a:bodyPr/>
          <a:lstStyle/>
          <a:p>
            <a:endParaRPr lang="en-US"/>
          </a:p>
        </p:txBody>
      </p:sp>
      <p:sp>
        <p:nvSpPr>
          <p:cNvPr id="6" name="Text"/>
          <p:cNvSpPr txBox="1"/>
          <p:nvPr/>
        </p:nvSpPr>
        <p:spPr>
          <a:xfrm>
            <a:off x="731520" y="2423160"/>
            <a:ext cx="1783080" cy="1188720"/>
          </a:xfrm>
          <a:prstGeom prst="rect">
            <a:avLst/>
          </a:prstGeom>
          <a:noFill/>
          <a:ln/>
        </p:spPr>
        <p:txBody>
          <a:bodyPr wrap="square" lIns="0" tIns="0" rIns="0" bIns="0" rtlCol="0" anchor="ctr"/>
          <a:lstStyle/>
          <a:p>
            <a:pPr marL="0" indent="0">
              <a:spcAft>
                <a:spcPts val="200"/>
              </a:spcAft>
              <a:buNone/>
            </a:pPr>
            <a:r>
              <a:rPr lang="en-US" sz="1300" b="1" dirty="0">
                <a:solidFill>
                  <a:schemeClr val="accent2"/>
                </a:solidFill>
              </a:rPr>
              <a:t>Selling concept</a:t>
            </a:r>
            <a:endParaRPr lang="en-US" sz="1400" dirty="0"/>
          </a:p>
          <a:p>
            <a:pPr marL="0" indent="0">
              <a:spcAft>
                <a:spcPts val="200"/>
              </a:spcAft>
              <a:buNone/>
            </a:pPr>
            <a:r>
              <a:rPr lang="en-US" sz="1800" dirty="0">
                <a:solidFill>
                  <a:schemeClr val="bg1"/>
                </a:solidFill>
              </a:rPr>
              <a:t>Inside-out</a:t>
            </a:r>
            <a:endParaRPr lang="en-US" sz="1400" dirty="0"/>
          </a:p>
        </p:txBody>
      </p:sp>
      <p:sp>
        <p:nvSpPr>
          <p:cNvPr id="7" name="Flow box"/>
          <p:cNvSpPr/>
          <p:nvPr/>
        </p:nvSpPr>
        <p:spPr>
          <a:xfrm>
            <a:off x="2880360" y="2423160"/>
            <a:ext cx="1920240" cy="1188720"/>
          </a:xfrm>
          <a:prstGeom prst="roundRect">
            <a:avLst>
              <a:gd name="adj" fmla="val 7692"/>
            </a:avLst>
          </a:prstGeom>
          <a:solidFill>
            <a:schemeClr val="accent6"/>
          </a:solidFill>
          <a:ln/>
        </p:spPr>
        <p:txBody>
          <a:bodyPr/>
          <a:lstStyle/>
          <a:p>
            <a:endParaRPr lang="en-US"/>
          </a:p>
        </p:txBody>
      </p:sp>
      <p:sp>
        <p:nvSpPr>
          <p:cNvPr id="8" name="Text"/>
          <p:cNvSpPr txBox="1"/>
          <p:nvPr/>
        </p:nvSpPr>
        <p:spPr>
          <a:xfrm>
            <a:off x="2971800" y="242316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Factory</a:t>
            </a:r>
            <a:endParaRPr lang="en-US" sz="1500" dirty="0"/>
          </a:p>
        </p:txBody>
      </p:sp>
      <p:sp>
        <p:nvSpPr>
          <p:cNvPr id="9" name="Arrow"/>
          <p:cNvSpPr/>
          <p:nvPr/>
        </p:nvSpPr>
        <p:spPr>
          <a:xfrm>
            <a:off x="4837176" y="2834640"/>
            <a:ext cx="201168" cy="365760"/>
          </a:xfrm>
          <a:prstGeom prst="rightArrow">
            <a:avLst/>
          </a:prstGeom>
          <a:solidFill>
            <a:schemeClr val="accent6"/>
          </a:solidFill>
          <a:ln/>
        </p:spPr>
        <p:txBody>
          <a:bodyPr/>
          <a:lstStyle/>
          <a:p>
            <a:endParaRPr lang="en-US"/>
          </a:p>
        </p:txBody>
      </p:sp>
      <p:sp>
        <p:nvSpPr>
          <p:cNvPr id="10" name="Flow box"/>
          <p:cNvSpPr/>
          <p:nvPr/>
        </p:nvSpPr>
        <p:spPr>
          <a:xfrm>
            <a:off x="5074920" y="2423160"/>
            <a:ext cx="1920240" cy="1188720"/>
          </a:xfrm>
          <a:prstGeom prst="roundRect">
            <a:avLst>
              <a:gd name="adj" fmla="val 7692"/>
            </a:avLst>
          </a:prstGeom>
          <a:solidFill>
            <a:schemeClr val="accent6"/>
          </a:solidFill>
          <a:ln/>
        </p:spPr>
        <p:txBody>
          <a:bodyPr/>
          <a:lstStyle/>
          <a:p>
            <a:endParaRPr lang="en-US"/>
          </a:p>
        </p:txBody>
      </p:sp>
      <p:sp>
        <p:nvSpPr>
          <p:cNvPr id="11" name="Text"/>
          <p:cNvSpPr txBox="1"/>
          <p:nvPr/>
        </p:nvSpPr>
        <p:spPr>
          <a:xfrm>
            <a:off x="5166360" y="242316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Existing products</a:t>
            </a:r>
            <a:endParaRPr lang="en-US" sz="1500" dirty="0"/>
          </a:p>
        </p:txBody>
      </p:sp>
      <p:sp>
        <p:nvSpPr>
          <p:cNvPr id="12" name="Arrow"/>
          <p:cNvSpPr/>
          <p:nvPr/>
        </p:nvSpPr>
        <p:spPr>
          <a:xfrm>
            <a:off x="7031736" y="2834640"/>
            <a:ext cx="201168" cy="365760"/>
          </a:xfrm>
          <a:prstGeom prst="rightArrow">
            <a:avLst/>
          </a:prstGeom>
          <a:solidFill>
            <a:schemeClr val="accent6"/>
          </a:solidFill>
          <a:ln/>
        </p:spPr>
        <p:txBody>
          <a:bodyPr/>
          <a:lstStyle/>
          <a:p>
            <a:endParaRPr lang="en-US"/>
          </a:p>
        </p:txBody>
      </p:sp>
      <p:sp>
        <p:nvSpPr>
          <p:cNvPr id="13" name="Flow box"/>
          <p:cNvSpPr/>
          <p:nvPr/>
        </p:nvSpPr>
        <p:spPr>
          <a:xfrm>
            <a:off x="7269480" y="2423160"/>
            <a:ext cx="1920240" cy="1188720"/>
          </a:xfrm>
          <a:prstGeom prst="roundRect">
            <a:avLst>
              <a:gd name="adj" fmla="val 7692"/>
            </a:avLst>
          </a:prstGeom>
          <a:solidFill>
            <a:schemeClr val="accent6"/>
          </a:solidFill>
          <a:ln/>
        </p:spPr>
        <p:txBody>
          <a:bodyPr/>
          <a:lstStyle/>
          <a:p>
            <a:endParaRPr lang="en-US"/>
          </a:p>
        </p:txBody>
      </p:sp>
      <p:sp>
        <p:nvSpPr>
          <p:cNvPr id="14" name="Text"/>
          <p:cNvSpPr txBox="1"/>
          <p:nvPr/>
        </p:nvSpPr>
        <p:spPr>
          <a:xfrm>
            <a:off x="7360920" y="242316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Selling and promoting</a:t>
            </a:r>
            <a:endParaRPr lang="en-US" sz="1500" dirty="0"/>
          </a:p>
        </p:txBody>
      </p:sp>
      <p:sp>
        <p:nvSpPr>
          <p:cNvPr id="15" name="Arrow"/>
          <p:cNvSpPr/>
          <p:nvPr/>
        </p:nvSpPr>
        <p:spPr>
          <a:xfrm>
            <a:off x="9226296" y="2834640"/>
            <a:ext cx="201168" cy="365760"/>
          </a:xfrm>
          <a:prstGeom prst="rightArrow">
            <a:avLst/>
          </a:prstGeom>
          <a:solidFill>
            <a:schemeClr val="accent6"/>
          </a:solidFill>
          <a:ln/>
        </p:spPr>
        <p:txBody>
          <a:bodyPr/>
          <a:lstStyle/>
          <a:p>
            <a:endParaRPr lang="en-US"/>
          </a:p>
        </p:txBody>
      </p:sp>
      <p:sp>
        <p:nvSpPr>
          <p:cNvPr id="16" name="Flow box"/>
          <p:cNvSpPr/>
          <p:nvPr/>
        </p:nvSpPr>
        <p:spPr>
          <a:xfrm>
            <a:off x="9464040" y="2423160"/>
            <a:ext cx="1920240" cy="1188720"/>
          </a:xfrm>
          <a:prstGeom prst="roundRect">
            <a:avLst>
              <a:gd name="adj" fmla="val 7692"/>
            </a:avLst>
          </a:prstGeom>
          <a:solidFill>
            <a:schemeClr val="accent6"/>
          </a:solidFill>
          <a:ln/>
        </p:spPr>
        <p:txBody>
          <a:bodyPr/>
          <a:lstStyle/>
          <a:p>
            <a:endParaRPr lang="en-US"/>
          </a:p>
        </p:txBody>
      </p:sp>
      <p:sp>
        <p:nvSpPr>
          <p:cNvPr id="17" name="Text"/>
          <p:cNvSpPr txBox="1"/>
          <p:nvPr/>
        </p:nvSpPr>
        <p:spPr>
          <a:xfrm>
            <a:off x="9555480" y="242316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Profits through sales volume</a:t>
            </a:r>
            <a:endParaRPr lang="en-US" sz="1500" dirty="0"/>
          </a:p>
        </p:txBody>
      </p:sp>
      <p:sp>
        <p:nvSpPr>
          <p:cNvPr id="18" name="Row label"/>
          <p:cNvSpPr/>
          <p:nvPr/>
        </p:nvSpPr>
        <p:spPr>
          <a:xfrm>
            <a:off x="548640" y="3840480"/>
            <a:ext cx="2103120" cy="1188720"/>
          </a:xfrm>
          <a:prstGeom prst="roundRect">
            <a:avLst>
              <a:gd name="adj" fmla="val 7692"/>
            </a:avLst>
          </a:prstGeom>
          <a:solidFill>
            <a:schemeClr val="tx2"/>
          </a:solidFill>
          <a:ln/>
        </p:spPr>
        <p:txBody>
          <a:bodyPr/>
          <a:lstStyle/>
          <a:p>
            <a:endParaRPr lang="en-US"/>
          </a:p>
        </p:txBody>
      </p:sp>
      <p:sp>
        <p:nvSpPr>
          <p:cNvPr id="19" name="Text"/>
          <p:cNvSpPr txBox="1"/>
          <p:nvPr/>
        </p:nvSpPr>
        <p:spPr>
          <a:xfrm>
            <a:off x="731520" y="3840480"/>
            <a:ext cx="1783080" cy="1188720"/>
          </a:xfrm>
          <a:prstGeom prst="rect">
            <a:avLst/>
          </a:prstGeom>
          <a:noFill/>
          <a:ln/>
        </p:spPr>
        <p:txBody>
          <a:bodyPr wrap="square" lIns="0" tIns="0" rIns="0" bIns="0" rtlCol="0" anchor="ctr"/>
          <a:lstStyle/>
          <a:p>
            <a:pPr marL="0" indent="0">
              <a:spcAft>
                <a:spcPts val="200"/>
              </a:spcAft>
              <a:buNone/>
            </a:pPr>
            <a:r>
              <a:rPr lang="en-US" sz="1300" b="1" dirty="0">
                <a:solidFill>
                  <a:schemeClr val="accent2"/>
                </a:solidFill>
              </a:rPr>
              <a:t>Marketing concept</a:t>
            </a:r>
            <a:endParaRPr lang="en-US" sz="1400" dirty="0"/>
          </a:p>
          <a:p>
            <a:pPr marL="0" indent="0">
              <a:spcAft>
                <a:spcPts val="200"/>
              </a:spcAft>
              <a:buNone/>
            </a:pPr>
            <a:r>
              <a:rPr lang="en-US" sz="1800" dirty="0">
                <a:solidFill>
                  <a:schemeClr val="bg1"/>
                </a:solidFill>
              </a:rPr>
              <a:t>Outside-in</a:t>
            </a:r>
            <a:endParaRPr lang="en-US" sz="1400" dirty="0"/>
          </a:p>
        </p:txBody>
      </p:sp>
      <p:sp>
        <p:nvSpPr>
          <p:cNvPr id="20" name="Flow box"/>
          <p:cNvSpPr/>
          <p:nvPr/>
        </p:nvSpPr>
        <p:spPr>
          <a:xfrm>
            <a:off x="2880360" y="3840480"/>
            <a:ext cx="1920240" cy="1188720"/>
          </a:xfrm>
          <a:prstGeom prst="roundRect">
            <a:avLst>
              <a:gd name="adj" fmla="val 7692"/>
            </a:avLst>
          </a:prstGeom>
          <a:solidFill>
            <a:schemeClr val="accent3"/>
          </a:solidFill>
          <a:ln/>
        </p:spPr>
        <p:txBody>
          <a:bodyPr/>
          <a:lstStyle/>
          <a:p>
            <a:endParaRPr lang="en-US"/>
          </a:p>
        </p:txBody>
      </p:sp>
      <p:sp>
        <p:nvSpPr>
          <p:cNvPr id="21" name="Text"/>
          <p:cNvSpPr txBox="1"/>
          <p:nvPr/>
        </p:nvSpPr>
        <p:spPr>
          <a:xfrm>
            <a:off x="2971800" y="384048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Target market</a:t>
            </a:r>
            <a:endParaRPr lang="en-US" sz="1500" dirty="0"/>
          </a:p>
        </p:txBody>
      </p:sp>
      <p:sp>
        <p:nvSpPr>
          <p:cNvPr id="22" name="Arrow"/>
          <p:cNvSpPr/>
          <p:nvPr/>
        </p:nvSpPr>
        <p:spPr>
          <a:xfrm>
            <a:off x="4837176" y="4251960"/>
            <a:ext cx="201168" cy="365760"/>
          </a:xfrm>
          <a:prstGeom prst="rightArrow">
            <a:avLst/>
          </a:prstGeom>
          <a:solidFill>
            <a:schemeClr val="accent6"/>
          </a:solidFill>
          <a:ln/>
        </p:spPr>
        <p:txBody>
          <a:bodyPr/>
          <a:lstStyle/>
          <a:p>
            <a:endParaRPr lang="en-US"/>
          </a:p>
        </p:txBody>
      </p:sp>
      <p:sp>
        <p:nvSpPr>
          <p:cNvPr id="23" name="Flow box"/>
          <p:cNvSpPr/>
          <p:nvPr/>
        </p:nvSpPr>
        <p:spPr>
          <a:xfrm>
            <a:off x="5074920" y="3840480"/>
            <a:ext cx="1920240" cy="1188720"/>
          </a:xfrm>
          <a:prstGeom prst="roundRect">
            <a:avLst>
              <a:gd name="adj" fmla="val 7692"/>
            </a:avLst>
          </a:prstGeom>
          <a:solidFill>
            <a:schemeClr val="accent3"/>
          </a:solidFill>
          <a:ln/>
        </p:spPr>
        <p:txBody>
          <a:bodyPr/>
          <a:lstStyle/>
          <a:p>
            <a:endParaRPr lang="en-US"/>
          </a:p>
        </p:txBody>
      </p:sp>
      <p:sp>
        <p:nvSpPr>
          <p:cNvPr id="24" name="Text"/>
          <p:cNvSpPr txBox="1"/>
          <p:nvPr/>
        </p:nvSpPr>
        <p:spPr>
          <a:xfrm>
            <a:off x="5166360" y="384048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Customer needs</a:t>
            </a:r>
            <a:endParaRPr lang="en-US" sz="1500" dirty="0"/>
          </a:p>
        </p:txBody>
      </p:sp>
      <p:sp>
        <p:nvSpPr>
          <p:cNvPr id="25" name="Arrow"/>
          <p:cNvSpPr/>
          <p:nvPr/>
        </p:nvSpPr>
        <p:spPr>
          <a:xfrm>
            <a:off x="7031736" y="4251960"/>
            <a:ext cx="201168" cy="365760"/>
          </a:xfrm>
          <a:prstGeom prst="rightArrow">
            <a:avLst/>
          </a:prstGeom>
          <a:solidFill>
            <a:schemeClr val="accent6"/>
          </a:solidFill>
          <a:ln/>
        </p:spPr>
        <p:txBody>
          <a:bodyPr/>
          <a:lstStyle/>
          <a:p>
            <a:endParaRPr lang="en-US"/>
          </a:p>
        </p:txBody>
      </p:sp>
      <p:sp>
        <p:nvSpPr>
          <p:cNvPr id="26" name="Flow box"/>
          <p:cNvSpPr/>
          <p:nvPr/>
        </p:nvSpPr>
        <p:spPr>
          <a:xfrm>
            <a:off x="7269480" y="3840480"/>
            <a:ext cx="1920240" cy="1188720"/>
          </a:xfrm>
          <a:prstGeom prst="roundRect">
            <a:avLst>
              <a:gd name="adj" fmla="val 7692"/>
            </a:avLst>
          </a:prstGeom>
          <a:solidFill>
            <a:schemeClr val="accent3"/>
          </a:solidFill>
          <a:ln/>
        </p:spPr>
        <p:txBody>
          <a:bodyPr/>
          <a:lstStyle/>
          <a:p>
            <a:endParaRPr lang="en-US"/>
          </a:p>
        </p:txBody>
      </p:sp>
      <p:sp>
        <p:nvSpPr>
          <p:cNvPr id="27" name="Text"/>
          <p:cNvSpPr txBox="1"/>
          <p:nvPr/>
        </p:nvSpPr>
        <p:spPr>
          <a:xfrm>
            <a:off x="7360920" y="384048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Integrated marketing</a:t>
            </a:r>
            <a:endParaRPr lang="en-US" sz="1500" dirty="0"/>
          </a:p>
        </p:txBody>
      </p:sp>
      <p:sp>
        <p:nvSpPr>
          <p:cNvPr id="28" name="Arrow"/>
          <p:cNvSpPr/>
          <p:nvPr/>
        </p:nvSpPr>
        <p:spPr>
          <a:xfrm>
            <a:off x="9226296" y="4251960"/>
            <a:ext cx="201168" cy="365760"/>
          </a:xfrm>
          <a:prstGeom prst="rightArrow">
            <a:avLst/>
          </a:prstGeom>
          <a:solidFill>
            <a:schemeClr val="accent6"/>
          </a:solidFill>
          <a:ln/>
        </p:spPr>
        <p:txBody>
          <a:bodyPr/>
          <a:lstStyle/>
          <a:p>
            <a:endParaRPr lang="en-US"/>
          </a:p>
        </p:txBody>
      </p:sp>
      <p:sp>
        <p:nvSpPr>
          <p:cNvPr id="29" name="Flow box"/>
          <p:cNvSpPr/>
          <p:nvPr/>
        </p:nvSpPr>
        <p:spPr>
          <a:xfrm>
            <a:off x="9464040" y="3840480"/>
            <a:ext cx="1920240" cy="1188720"/>
          </a:xfrm>
          <a:prstGeom prst="roundRect">
            <a:avLst>
              <a:gd name="adj" fmla="val 7692"/>
            </a:avLst>
          </a:prstGeom>
          <a:solidFill>
            <a:schemeClr val="accent3"/>
          </a:solidFill>
          <a:ln/>
        </p:spPr>
        <p:txBody>
          <a:bodyPr/>
          <a:lstStyle/>
          <a:p>
            <a:endParaRPr lang="en-US"/>
          </a:p>
        </p:txBody>
      </p:sp>
      <p:sp>
        <p:nvSpPr>
          <p:cNvPr id="30" name="Text"/>
          <p:cNvSpPr txBox="1"/>
          <p:nvPr/>
        </p:nvSpPr>
        <p:spPr>
          <a:xfrm>
            <a:off x="9555480" y="3840480"/>
            <a:ext cx="1737360" cy="1188720"/>
          </a:xfrm>
          <a:prstGeom prst="rect">
            <a:avLst/>
          </a:prstGeom>
          <a:noFill/>
          <a:ln/>
        </p:spPr>
        <p:txBody>
          <a:bodyPr wrap="square" lIns="0" tIns="0" rIns="0" bIns="0" rtlCol="0" anchor="ctr"/>
          <a:lstStyle/>
          <a:p>
            <a:pPr marL="0" indent="0" algn="ctr">
              <a:buNone/>
            </a:pPr>
            <a:r>
              <a:rPr lang="en-US" sz="1500" b="1" dirty="0">
                <a:solidFill>
                  <a:schemeClr val="bg1"/>
                </a:solidFill>
              </a:rPr>
              <a:t>Profits through customer satisfaction</a:t>
            </a:r>
            <a:endParaRPr lang="en-US" sz="1500" dirty="0"/>
          </a:p>
        </p:txBody>
      </p:sp>
      <p:sp>
        <p:nvSpPr>
          <p:cNvPr id="31" name="Callout"/>
          <p:cNvSpPr/>
          <p:nvPr/>
        </p:nvSpPr>
        <p:spPr>
          <a:xfrm>
            <a:off x="548640" y="5303520"/>
            <a:ext cx="11064240" cy="868680"/>
          </a:xfrm>
          <a:prstGeom prst="roundRect">
            <a:avLst>
              <a:gd name="adj" fmla="val 10526"/>
            </a:avLst>
          </a:prstGeom>
          <a:solidFill>
            <a:schemeClr val="bg2"/>
          </a:solidFill>
          <a:ln/>
        </p:spPr>
        <p:txBody>
          <a:bodyPr/>
          <a:lstStyle/>
          <a:p>
            <a:endParaRPr lang="en-US"/>
          </a:p>
        </p:txBody>
      </p:sp>
      <p:sp>
        <p:nvSpPr>
          <p:cNvPr id="32" name="Text"/>
          <p:cNvSpPr txBox="1"/>
          <p:nvPr/>
        </p:nvSpPr>
        <p:spPr>
          <a:xfrm>
            <a:off x="822960" y="5303520"/>
            <a:ext cx="10515600" cy="868680"/>
          </a:xfrm>
          <a:prstGeom prst="rect">
            <a:avLst/>
          </a:prstGeom>
          <a:noFill/>
          <a:ln/>
        </p:spPr>
        <p:txBody>
          <a:bodyPr wrap="square" lIns="0" tIns="0" rIns="0" bIns="0" rtlCol="0" anchor="ctr"/>
          <a:lstStyle/>
          <a:p>
            <a:pPr marL="0" indent="0">
              <a:buNone/>
            </a:pPr>
            <a:r>
              <a:rPr lang="en-US" sz="1600" dirty="0">
                <a:solidFill>
                  <a:schemeClr val="tx2"/>
                </a:solidFill>
              </a:rPr>
              <a:t>Customer-driven or customer-driving? Great marketers also discover needs customers cannot yet express, and design solutions for them.</a:t>
            </a:r>
            <a:endParaRPr lang="en-US" sz="16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1" grpId="0" animBg="1"/>
      <p:bldP spid="14" grpId="0" animBg="1"/>
      <p:bldP spid="17" grpId="0" animBg="1"/>
      <p:bldP spid="19" grpId="0" animBg="1"/>
      <p:bldP spid="21" grpId="0" animBg="1"/>
      <p:bldP spid="24" grpId="0" animBg="1"/>
      <p:bldP spid="27" grpId="0" animBg="1"/>
      <p:bldP spid="30" grpId="0" animBg="1"/>
      <p:bldP spid="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5. The societal marketing concept</a:t>
            </a:r>
            <a:endParaRPr lang="en-US" sz="3400" dirty="0"/>
          </a:p>
        </p:txBody>
      </p:sp>
      <p:sp>
        <p:nvSpPr>
          <p:cNvPr id="4" name="Venn circle"/>
          <p:cNvSpPr/>
          <p:nvPr/>
        </p:nvSpPr>
        <p:spPr>
          <a:xfrm>
            <a:off x="2194560" y="1417320"/>
            <a:ext cx="2286000" cy="2286000"/>
          </a:xfrm>
          <a:prstGeom prst="ellipse">
            <a:avLst/>
          </a:prstGeom>
          <a:solidFill>
            <a:schemeClr val="accent3"/>
          </a:solidFill>
          <a:ln/>
        </p:spPr>
        <p:txBody>
          <a:bodyPr/>
          <a:lstStyle/>
          <a:p>
            <a:endParaRPr lang="en-US"/>
          </a:p>
        </p:txBody>
      </p:sp>
      <p:sp>
        <p:nvSpPr>
          <p:cNvPr id="5" name="Text"/>
          <p:cNvSpPr txBox="1"/>
          <p:nvPr/>
        </p:nvSpPr>
        <p:spPr>
          <a:xfrm>
            <a:off x="2194560" y="1417320"/>
            <a:ext cx="2286000" cy="2286000"/>
          </a:xfrm>
          <a:prstGeom prst="rect">
            <a:avLst/>
          </a:prstGeom>
          <a:noFill/>
          <a:ln/>
        </p:spPr>
        <p:txBody>
          <a:bodyPr wrap="square" lIns="0" tIns="0" rIns="0" bIns="0" rtlCol="0" anchor="ctr"/>
          <a:lstStyle/>
          <a:p>
            <a:pPr marL="0" indent="0" algn="ctr">
              <a:spcAft>
                <a:spcPts val="200"/>
              </a:spcAft>
              <a:buNone/>
            </a:pPr>
            <a:r>
              <a:rPr lang="en-US" b="1" dirty="0">
                <a:solidFill>
                  <a:schemeClr val="bg1"/>
                </a:solidFill>
              </a:rPr>
              <a:t>Society</a:t>
            </a:r>
            <a:endParaRPr lang="en-US" dirty="0"/>
          </a:p>
          <a:p>
            <a:pPr marL="0" indent="0" algn="ctr">
              <a:spcAft>
                <a:spcPts val="200"/>
              </a:spcAft>
              <a:buNone/>
            </a:pPr>
            <a:r>
              <a:rPr lang="en-US" dirty="0">
                <a:solidFill>
                  <a:schemeClr val="bg1"/>
                </a:solidFill>
              </a:rPr>
              <a:t>Human welfare</a:t>
            </a:r>
            <a:endParaRPr lang="en-US" dirty="0"/>
          </a:p>
        </p:txBody>
      </p:sp>
      <p:sp>
        <p:nvSpPr>
          <p:cNvPr id="6" name="Venn circle"/>
          <p:cNvSpPr/>
          <p:nvPr/>
        </p:nvSpPr>
        <p:spPr>
          <a:xfrm>
            <a:off x="868680" y="3840480"/>
            <a:ext cx="2286000" cy="2286000"/>
          </a:xfrm>
          <a:prstGeom prst="ellipse">
            <a:avLst/>
          </a:prstGeom>
          <a:solidFill>
            <a:schemeClr val="accent5"/>
          </a:solidFill>
          <a:ln/>
        </p:spPr>
        <p:txBody>
          <a:bodyPr/>
          <a:lstStyle/>
          <a:p>
            <a:endParaRPr lang="en-US"/>
          </a:p>
        </p:txBody>
      </p:sp>
      <p:sp>
        <p:nvSpPr>
          <p:cNvPr id="7" name="Text"/>
          <p:cNvSpPr txBox="1"/>
          <p:nvPr/>
        </p:nvSpPr>
        <p:spPr>
          <a:xfrm>
            <a:off x="868680" y="3840480"/>
            <a:ext cx="2286000" cy="2286000"/>
          </a:xfrm>
          <a:prstGeom prst="rect">
            <a:avLst/>
          </a:prstGeom>
          <a:noFill/>
          <a:ln/>
        </p:spPr>
        <p:txBody>
          <a:bodyPr wrap="square" lIns="0" tIns="0" rIns="0" bIns="0" rtlCol="0" anchor="ctr"/>
          <a:lstStyle/>
          <a:p>
            <a:pPr marL="0" indent="0" algn="ctr">
              <a:spcAft>
                <a:spcPts val="200"/>
              </a:spcAft>
              <a:buNone/>
            </a:pPr>
            <a:r>
              <a:rPr lang="en-US" b="1" dirty="0">
                <a:solidFill>
                  <a:schemeClr val="bg1"/>
                </a:solidFill>
              </a:rPr>
              <a:t>Consumers</a:t>
            </a:r>
            <a:endParaRPr lang="en-US" dirty="0"/>
          </a:p>
          <a:p>
            <a:pPr marL="0" indent="0" algn="ctr">
              <a:spcAft>
                <a:spcPts val="200"/>
              </a:spcAft>
              <a:buNone/>
            </a:pPr>
            <a:r>
              <a:rPr lang="en-US" dirty="0">
                <a:solidFill>
                  <a:schemeClr val="bg1"/>
                </a:solidFill>
              </a:rPr>
              <a:t>Wants</a:t>
            </a:r>
            <a:endParaRPr lang="en-US" dirty="0"/>
          </a:p>
        </p:txBody>
      </p:sp>
      <p:sp>
        <p:nvSpPr>
          <p:cNvPr id="8" name="Venn circle"/>
          <p:cNvSpPr/>
          <p:nvPr/>
        </p:nvSpPr>
        <p:spPr>
          <a:xfrm>
            <a:off x="3520440" y="3840480"/>
            <a:ext cx="2286000" cy="2286000"/>
          </a:xfrm>
          <a:prstGeom prst="ellipse">
            <a:avLst/>
          </a:prstGeom>
          <a:solidFill>
            <a:schemeClr val="tx2"/>
          </a:solidFill>
          <a:ln/>
        </p:spPr>
        <p:txBody>
          <a:bodyPr/>
          <a:lstStyle/>
          <a:p>
            <a:endParaRPr lang="en-US"/>
          </a:p>
        </p:txBody>
      </p:sp>
      <p:sp>
        <p:nvSpPr>
          <p:cNvPr id="9" name="Text"/>
          <p:cNvSpPr txBox="1"/>
          <p:nvPr/>
        </p:nvSpPr>
        <p:spPr>
          <a:xfrm>
            <a:off x="3520440" y="3840480"/>
            <a:ext cx="2286000" cy="2286000"/>
          </a:xfrm>
          <a:prstGeom prst="rect">
            <a:avLst/>
          </a:prstGeom>
          <a:noFill/>
          <a:ln/>
        </p:spPr>
        <p:txBody>
          <a:bodyPr wrap="square" lIns="0" tIns="0" rIns="0" bIns="0" rtlCol="0" anchor="ctr"/>
          <a:lstStyle/>
          <a:p>
            <a:pPr marL="0" indent="0" algn="ctr">
              <a:spcAft>
                <a:spcPts val="200"/>
              </a:spcAft>
              <a:buNone/>
            </a:pPr>
            <a:r>
              <a:rPr lang="en-US" b="1" dirty="0">
                <a:solidFill>
                  <a:schemeClr val="bg1"/>
                </a:solidFill>
              </a:rPr>
              <a:t>Company</a:t>
            </a:r>
            <a:endParaRPr lang="en-US" dirty="0"/>
          </a:p>
          <a:p>
            <a:pPr marL="0" indent="0" algn="ctr">
              <a:spcAft>
                <a:spcPts val="200"/>
              </a:spcAft>
              <a:buNone/>
            </a:pPr>
            <a:r>
              <a:rPr lang="en-US" dirty="0">
                <a:solidFill>
                  <a:schemeClr val="bg1"/>
                </a:solidFill>
              </a:rPr>
              <a:t>Profits</a:t>
            </a:r>
            <a:endParaRPr lang="en-US" dirty="0"/>
          </a:p>
        </p:txBody>
      </p:sp>
      <p:sp>
        <p:nvSpPr>
          <p:cNvPr id="10" name="Detail card"/>
          <p:cNvSpPr/>
          <p:nvPr/>
        </p:nvSpPr>
        <p:spPr>
          <a:xfrm>
            <a:off x="6400800" y="1417320"/>
            <a:ext cx="5212080" cy="1463040"/>
          </a:xfrm>
          <a:prstGeom prst="roundRect">
            <a:avLst>
              <a:gd name="adj" fmla="val 6250"/>
            </a:avLst>
          </a:prstGeom>
          <a:solidFill>
            <a:schemeClr val="bg2"/>
          </a:solidFill>
          <a:ln/>
        </p:spPr>
        <p:txBody>
          <a:bodyPr/>
          <a:lstStyle/>
          <a:p>
            <a:endParaRPr lang="en-US"/>
          </a:p>
        </p:txBody>
      </p:sp>
      <p:sp>
        <p:nvSpPr>
          <p:cNvPr id="11" name="Text"/>
          <p:cNvSpPr txBox="1"/>
          <p:nvPr/>
        </p:nvSpPr>
        <p:spPr>
          <a:xfrm>
            <a:off x="6675120" y="1527048"/>
            <a:ext cx="4663440" cy="1243584"/>
          </a:xfrm>
          <a:prstGeom prst="rect">
            <a:avLst/>
          </a:prstGeom>
          <a:noFill/>
          <a:ln/>
        </p:spPr>
        <p:txBody>
          <a:bodyPr wrap="square" lIns="0" tIns="0" rIns="0" bIns="0" rtlCol="0" anchor="ctr"/>
          <a:lstStyle/>
          <a:p>
            <a:pPr marL="0" indent="0">
              <a:spcAft>
                <a:spcPts val="300"/>
              </a:spcAft>
              <a:buNone/>
            </a:pPr>
            <a:r>
              <a:rPr lang="en-US" b="1" dirty="0">
                <a:solidFill>
                  <a:schemeClr val="accent1"/>
                </a:solidFill>
              </a:rPr>
              <a:t>CORE BELIEF</a:t>
            </a:r>
            <a:endParaRPr lang="en-US" dirty="0"/>
          </a:p>
          <a:p>
            <a:pPr marL="0" indent="0">
              <a:spcAft>
                <a:spcPts val="300"/>
              </a:spcAft>
              <a:buNone/>
            </a:pPr>
            <a:r>
              <a:rPr lang="en-US" dirty="0">
                <a:solidFill>
                  <a:schemeClr val="tx1"/>
                </a:solidFill>
              </a:rPr>
              <a:t>Marketing strategy should deliver value to customers in a way that maintains or improves both the consumer's and society's well-being.</a:t>
            </a:r>
            <a:endParaRPr lang="en-US" dirty="0"/>
          </a:p>
        </p:txBody>
      </p:sp>
      <p:sp>
        <p:nvSpPr>
          <p:cNvPr id="12" name="Detail card"/>
          <p:cNvSpPr/>
          <p:nvPr/>
        </p:nvSpPr>
        <p:spPr>
          <a:xfrm>
            <a:off x="6400800" y="3017520"/>
            <a:ext cx="5212080" cy="1463040"/>
          </a:xfrm>
          <a:prstGeom prst="roundRect">
            <a:avLst>
              <a:gd name="adj" fmla="val 6250"/>
            </a:avLst>
          </a:prstGeom>
          <a:solidFill>
            <a:schemeClr val="bg2"/>
          </a:solidFill>
          <a:ln/>
        </p:spPr>
        <p:txBody>
          <a:bodyPr/>
          <a:lstStyle/>
          <a:p>
            <a:endParaRPr lang="en-US"/>
          </a:p>
        </p:txBody>
      </p:sp>
      <p:sp>
        <p:nvSpPr>
          <p:cNvPr id="13" name="Text"/>
          <p:cNvSpPr txBox="1"/>
          <p:nvPr/>
        </p:nvSpPr>
        <p:spPr>
          <a:xfrm>
            <a:off x="6675120" y="3127248"/>
            <a:ext cx="4937760" cy="1243584"/>
          </a:xfrm>
          <a:prstGeom prst="rect">
            <a:avLst/>
          </a:prstGeom>
          <a:noFill/>
          <a:ln/>
        </p:spPr>
        <p:txBody>
          <a:bodyPr wrap="square" lIns="0" tIns="0" rIns="0" bIns="0" rtlCol="0" anchor="ctr"/>
          <a:lstStyle/>
          <a:p>
            <a:pPr marL="0" indent="0">
              <a:spcAft>
                <a:spcPts val="300"/>
              </a:spcAft>
              <a:buNone/>
            </a:pPr>
            <a:r>
              <a:rPr lang="en-US" b="1" dirty="0">
                <a:solidFill>
                  <a:schemeClr val="accent1"/>
                </a:solidFill>
              </a:rPr>
              <a:t>WHY IT EMERGED</a:t>
            </a:r>
            <a:endParaRPr lang="en-US" dirty="0"/>
          </a:p>
          <a:p>
            <a:pPr marL="0" indent="0">
              <a:spcAft>
                <a:spcPts val="300"/>
              </a:spcAft>
              <a:buNone/>
            </a:pPr>
            <a:r>
              <a:rPr lang="en-US" dirty="0">
                <a:solidFill>
                  <a:schemeClr val="tx1"/>
                </a:solidFill>
              </a:rPr>
              <a:t>The pure marketing concept can overlook conflicts between consumers' short-run wants and their long-run welfare, and between company and society.</a:t>
            </a:r>
            <a:endParaRPr lang="en-US" dirty="0"/>
          </a:p>
        </p:txBody>
      </p:sp>
      <p:sp>
        <p:nvSpPr>
          <p:cNvPr id="14" name="Detail card"/>
          <p:cNvSpPr/>
          <p:nvPr/>
        </p:nvSpPr>
        <p:spPr>
          <a:xfrm>
            <a:off x="6400800" y="4617720"/>
            <a:ext cx="5212080" cy="1463040"/>
          </a:xfrm>
          <a:prstGeom prst="roundRect">
            <a:avLst>
              <a:gd name="adj" fmla="val 6250"/>
            </a:avLst>
          </a:prstGeom>
          <a:solidFill>
            <a:schemeClr val="bg2"/>
          </a:solidFill>
          <a:ln/>
        </p:spPr>
        <p:txBody>
          <a:bodyPr/>
          <a:lstStyle/>
          <a:p>
            <a:endParaRPr lang="en-US"/>
          </a:p>
        </p:txBody>
      </p:sp>
      <p:sp>
        <p:nvSpPr>
          <p:cNvPr id="15" name="Text"/>
          <p:cNvSpPr txBox="1"/>
          <p:nvPr/>
        </p:nvSpPr>
        <p:spPr>
          <a:xfrm>
            <a:off x="6675120" y="4727448"/>
            <a:ext cx="4663440" cy="1243584"/>
          </a:xfrm>
          <a:prstGeom prst="rect">
            <a:avLst/>
          </a:prstGeom>
          <a:noFill/>
          <a:ln/>
        </p:spPr>
        <p:txBody>
          <a:bodyPr wrap="square" lIns="0" tIns="0" rIns="0" bIns="0" rtlCol="0" anchor="ctr"/>
          <a:lstStyle/>
          <a:p>
            <a:pPr marL="0" indent="0">
              <a:spcAft>
                <a:spcPts val="300"/>
              </a:spcAft>
              <a:buNone/>
            </a:pPr>
            <a:r>
              <a:rPr lang="en-US" b="1" dirty="0">
                <a:solidFill>
                  <a:schemeClr val="accent1"/>
                </a:solidFill>
              </a:rPr>
              <a:t>IN PRACTICE</a:t>
            </a:r>
            <a:endParaRPr lang="en-US" dirty="0"/>
          </a:p>
          <a:p>
            <a:pPr marL="0" indent="0">
              <a:spcAft>
                <a:spcPts val="300"/>
              </a:spcAft>
              <a:buNone/>
            </a:pPr>
            <a:r>
              <a:rPr lang="en-US" dirty="0">
                <a:solidFill>
                  <a:schemeClr val="tx1"/>
                </a:solidFill>
              </a:rPr>
              <a:t>Sustainable marketing balances today's needs with the needs of future generations, often reported as the triple bottom line: people, planet, profits.</a:t>
            </a:r>
            <a:endParaRPr lang="en-US"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6. Holistic Marketing </a:t>
            </a:r>
            <a:endParaRPr lang="en-US" sz="3400" dirty="0"/>
          </a:p>
        </p:txBody>
      </p:sp>
      <p:sp>
        <p:nvSpPr>
          <p:cNvPr id="4" name="Holistic card"/>
          <p:cNvSpPr/>
          <p:nvPr/>
        </p:nvSpPr>
        <p:spPr>
          <a:xfrm>
            <a:off x="548640" y="1417320"/>
            <a:ext cx="5440680" cy="2240280"/>
          </a:xfrm>
          <a:prstGeom prst="roundRect">
            <a:avLst>
              <a:gd name="adj" fmla="val 4082"/>
            </a:avLst>
          </a:prstGeom>
          <a:solidFill>
            <a:schemeClr val="bg2"/>
          </a:solidFill>
          <a:ln/>
        </p:spPr>
        <p:txBody>
          <a:bodyPr/>
          <a:lstStyle/>
          <a:p>
            <a:endParaRPr lang="en-US"/>
          </a:p>
        </p:txBody>
      </p:sp>
      <p:sp>
        <p:nvSpPr>
          <p:cNvPr id="5" name="Icon circle"/>
          <p:cNvSpPr/>
          <p:nvPr/>
        </p:nvSpPr>
        <p:spPr>
          <a:xfrm>
            <a:off x="822960" y="1645920"/>
            <a:ext cx="548640" cy="548640"/>
          </a:xfrm>
          <a:prstGeom prst="ellipse">
            <a:avLst/>
          </a:prstGeom>
          <a:solidFill>
            <a:schemeClr val="accent3"/>
          </a:solidFill>
          <a:ln/>
        </p:spPr>
        <p:txBody>
          <a:bodyPr/>
          <a:lstStyle/>
          <a:p>
            <a:endParaRPr lang="en-US"/>
          </a:p>
        </p:txBody>
      </p:sp>
      <p:pic>
        <p:nvPicPr>
          <p:cNvPr id="6" name="Icon" descr="Handshake icon"/>
          <p:cNvPicPr>
            <a:picLocks noChangeAspect="1"/>
          </p:cNvPicPr>
          <p:nvPr/>
        </p:nvPicPr>
        <p:blipFill>
          <a:blip r:embed="rId3"/>
          <a:stretch>
            <a:fillRect/>
          </a:stretch>
        </p:blipFill>
        <p:spPr>
          <a:xfrm>
            <a:off x="960120" y="1783080"/>
            <a:ext cx="274320" cy="274320"/>
          </a:xfrm>
          <a:prstGeom prst="rect">
            <a:avLst/>
          </a:prstGeom>
        </p:spPr>
      </p:pic>
      <p:sp>
        <p:nvSpPr>
          <p:cNvPr id="7" name="Text"/>
          <p:cNvSpPr txBox="1"/>
          <p:nvPr/>
        </p:nvSpPr>
        <p:spPr>
          <a:xfrm>
            <a:off x="822960" y="2286000"/>
            <a:ext cx="4572000" cy="128016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Relationship marketing</a:t>
            </a:r>
            <a:endParaRPr lang="en-US" sz="1400" dirty="0"/>
          </a:p>
          <a:p>
            <a:pPr marL="0" indent="0">
              <a:spcAft>
                <a:spcPts val="400"/>
              </a:spcAft>
              <a:buNone/>
            </a:pPr>
            <a:r>
              <a:rPr lang="en-US" sz="1500" dirty="0">
                <a:solidFill>
                  <a:schemeClr val="tx1"/>
                </a:solidFill>
              </a:rPr>
              <a:t>Builds mutually satisfying long-term relationships with customers, employees, marketing partners and the financial community.</a:t>
            </a:r>
            <a:endParaRPr lang="en-US" sz="1400" dirty="0"/>
          </a:p>
        </p:txBody>
      </p:sp>
      <p:sp>
        <p:nvSpPr>
          <p:cNvPr id="8" name="Holistic card"/>
          <p:cNvSpPr/>
          <p:nvPr/>
        </p:nvSpPr>
        <p:spPr>
          <a:xfrm>
            <a:off x="6172200" y="1417320"/>
            <a:ext cx="5440680" cy="2240280"/>
          </a:xfrm>
          <a:prstGeom prst="roundRect">
            <a:avLst>
              <a:gd name="adj" fmla="val 4082"/>
            </a:avLst>
          </a:prstGeom>
          <a:solidFill>
            <a:schemeClr val="bg2"/>
          </a:solidFill>
          <a:ln/>
        </p:spPr>
        <p:txBody>
          <a:bodyPr/>
          <a:lstStyle/>
          <a:p>
            <a:endParaRPr lang="en-US"/>
          </a:p>
        </p:txBody>
      </p:sp>
      <p:sp>
        <p:nvSpPr>
          <p:cNvPr id="9" name="Icon circle"/>
          <p:cNvSpPr/>
          <p:nvPr/>
        </p:nvSpPr>
        <p:spPr>
          <a:xfrm>
            <a:off x="6812280" y="1645920"/>
            <a:ext cx="548640" cy="548640"/>
          </a:xfrm>
          <a:prstGeom prst="ellipse">
            <a:avLst/>
          </a:prstGeom>
          <a:solidFill>
            <a:schemeClr val="accent4"/>
          </a:solidFill>
          <a:ln/>
        </p:spPr>
        <p:txBody>
          <a:bodyPr/>
          <a:lstStyle/>
          <a:p>
            <a:endParaRPr lang="en-US"/>
          </a:p>
        </p:txBody>
      </p:sp>
      <p:pic>
        <p:nvPicPr>
          <p:cNvPr id="10" name="Icon" descr="PuzzlePiece icon"/>
          <p:cNvPicPr>
            <a:picLocks noChangeAspect="1"/>
          </p:cNvPicPr>
          <p:nvPr/>
        </p:nvPicPr>
        <p:blipFill>
          <a:blip r:embed="rId4"/>
          <a:stretch>
            <a:fillRect/>
          </a:stretch>
        </p:blipFill>
        <p:spPr>
          <a:xfrm>
            <a:off x="6949440" y="1783080"/>
            <a:ext cx="274320" cy="274320"/>
          </a:xfrm>
          <a:prstGeom prst="rect">
            <a:avLst/>
          </a:prstGeom>
        </p:spPr>
      </p:pic>
      <p:sp>
        <p:nvSpPr>
          <p:cNvPr id="11" name="Text"/>
          <p:cNvSpPr txBox="1"/>
          <p:nvPr/>
        </p:nvSpPr>
        <p:spPr>
          <a:xfrm>
            <a:off x="6812280" y="2286000"/>
            <a:ext cx="4572000" cy="128016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Integrated marketing</a:t>
            </a:r>
            <a:endParaRPr lang="en-US" sz="1400" dirty="0"/>
          </a:p>
          <a:p>
            <a:pPr marL="0" indent="0">
              <a:spcAft>
                <a:spcPts val="400"/>
              </a:spcAft>
              <a:buNone/>
            </a:pPr>
            <a:r>
              <a:rPr lang="en-US" sz="1500" dirty="0">
                <a:solidFill>
                  <a:schemeClr val="tx1"/>
                </a:solidFill>
              </a:rPr>
              <a:t>Designs activities and programs so the whole is greater than the sum of its parts: product, price, place and communications work together.</a:t>
            </a:r>
            <a:endParaRPr lang="en-US" sz="1400" dirty="0"/>
          </a:p>
        </p:txBody>
      </p:sp>
      <p:sp>
        <p:nvSpPr>
          <p:cNvPr id="12" name="Holistic card"/>
          <p:cNvSpPr/>
          <p:nvPr/>
        </p:nvSpPr>
        <p:spPr>
          <a:xfrm>
            <a:off x="548640" y="3840480"/>
            <a:ext cx="5440680" cy="2240280"/>
          </a:xfrm>
          <a:prstGeom prst="roundRect">
            <a:avLst>
              <a:gd name="adj" fmla="val 4082"/>
            </a:avLst>
          </a:prstGeom>
          <a:solidFill>
            <a:schemeClr val="bg2"/>
          </a:solidFill>
          <a:ln/>
        </p:spPr>
        <p:txBody>
          <a:bodyPr/>
          <a:lstStyle/>
          <a:p>
            <a:endParaRPr lang="en-US"/>
          </a:p>
        </p:txBody>
      </p:sp>
      <p:sp>
        <p:nvSpPr>
          <p:cNvPr id="13" name="Icon circle"/>
          <p:cNvSpPr/>
          <p:nvPr/>
        </p:nvSpPr>
        <p:spPr>
          <a:xfrm>
            <a:off x="822960" y="4069080"/>
            <a:ext cx="548640" cy="548640"/>
          </a:xfrm>
          <a:prstGeom prst="ellipse">
            <a:avLst/>
          </a:prstGeom>
          <a:solidFill>
            <a:schemeClr val="accent5"/>
          </a:solidFill>
          <a:ln/>
        </p:spPr>
        <p:txBody>
          <a:bodyPr/>
          <a:lstStyle/>
          <a:p>
            <a:endParaRPr lang="en-US"/>
          </a:p>
        </p:txBody>
      </p:sp>
      <p:pic>
        <p:nvPicPr>
          <p:cNvPr id="14" name="Icon" descr="Sitemap icon"/>
          <p:cNvPicPr>
            <a:picLocks noChangeAspect="1"/>
          </p:cNvPicPr>
          <p:nvPr/>
        </p:nvPicPr>
        <p:blipFill>
          <a:blip r:embed="rId5"/>
          <a:stretch>
            <a:fillRect/>
          </a:stretch>
        </p:blipFill>
        <p:spPr>
          <a:xfrm>
            <a:off x="960120" y="4206240"/>
            <a:ext cx="274320" cy="274320"/>
          </a:xfrm>
          <a:prstGeom prst="rect">
            <a:avLst/>
          </a:prstGeom>
        </p:spPr>
      </p:pic>
      <p:sp>
        <p:nvSpPr>
          <p:cNvPr id="15" name="Text"/>
          <p:cNvSpPr txBox="1"/>
          <p:nvPr/>
        </p:nvSpPr>
        <p:spPr>
          <a:xfrm>
            <a:off x="822960" y="4709160"/>
            <a:ext cx="4572000" cy="128016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Internal marketing</a:t>
            </a:r>
            <a:endParaRPr lang="en-US" sz="1400" dirty="0"/>
          </a:p>
          <a:p>
            <a:pPr marL="0" indent="0">
              <a:spcAft>
                <a:spcPts val="400"/>
              </a:spcAft>
              <a:buNone/>
            </a:pPr>
            <a:r>
              <a:rPr lang="en-US" sz="1500" dirty="0">
                <a:solidFill>
                  <a:schemeClr val="tx1"/>
                </a:solidFill>
              </a:rPr>
              <a:t>Ensures everyone in the organization, from senior management to employees, embraces appropriate marketing principles.</a:t>
            </a:r>
            <a:endParaRPr lang="en-US" sz="1400" dirty="0"/>
          </a:p>
        </p:txBody>
      </p:sp>
      <p:sp>
        <p:nvSpPr>
          <p:cNvPr id="16" name="Holistic card"/>
          <p:cNvSpPr/>
          <p:nvPr/>
        </p:nvSpPr>
        <p:spPr>
          <a:xfrm>
            <a:off x="6172200" y="3840480"/>
            <a:ext cx="5440680" cy="2240280"/>
          </a:xfrm>
          <a:prstGeom prst="roundRect">
            <a:avLst>
              <a:gd name="adj" fmla="val 4082"/>
            </a:avLst>
          </a:prstGeom>
          <a:solidFill>
            <a:schemeClr val="bg2"/>
          </a:solidFill>
          <a:ln/>
        </p:spPr>
        <p:txBody>
          <a:bodyPr/>
          <a:lstStyle/>
          <a:p>
            <a:endParaRPr lang="en-US"/>
          </a:p>
        </p:txBody>
      </p:sp>
      <p:sp>
        <p:nvSpPr>
          <p:cNvPr id="17" name="Icon circle"/>
          <p:cNvSpPr/>
          <p:nvPr/>
        </p:nvSpPr>
        <p:spPr>
          <a:xfrm>
            <a:off x="6812280" y="4069080"/>
            <a:ext cx="548640" cy="548640"/>
          </a:xfrm>
          <a:prstGeom prst="ellipse">
            <a:avLst/>
          </a:prstGeom>
          <a:solidFill>
            <a:schemeClr val="accent1"/>
          </a:solidFill>
          <a:ln/>
        </p:spPr>
        <p:txBody>
          <a:bodyPr/>
          <a:lstStyle/>
          <a:p>
            <a:endParaRPr lang="en-US"/>
          </a:p>
        </p:txBody>
      </p:sp>
      <p:pic>
        <p:nvPicPr>
          <p:cNvPr id="18" name="Icon" descr="ChartLine icon"/>
          <p:cNvPicPr>
            <a:picLocks noChangeAspect="1"/>
          </p:cNvPicPr>
          <p:nvPr/>
        </p:nvPicPr>
        <p:blipFill>
          <a:blip r:embed="rId6"/>
          <a:stretch>
            <a:fillRect/>
          </a:stretch>
        </p:blipFill>
        <p:spPr>
          <a:xfrm>
            <a:off x="6949440" y="4206240"/>
            <a:ext cx="274320" cy="274320"/>
          </a:xfrm>
          <a:prstGeom prst="rect">
            <a:avLst/>
          </a:prstGeom>
        </p:spPr>
      </p:pic>
      <p:sp>
        <p:nvSpPr>
          <p:cNvPr id="19" name="Text"/>
          <p:cNvSpPr txBox="1"/>
          <p:nvPr/>
        </p:nvSpPr>
        <p:spPr>
          <a:xfrm>
            <a:off x="6812280" y="4709160"/>
            <a:ext cx="4572000" cy="128016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Performance marketing</a:t>
            </a:r>
            <a:endParaRPr lang="en-US" sz="1400" dirty="0"/>
          </a:p>
          <a:p>
            <a:pPr marL="0" indent="0">
              <a:spcAft>
                <a:spcPts val="400"/>
              </a:spcAft>
              <a:buNone/>
            </a:pPr>
            <a:r>
              <a:rPr lang="en-US" sz="1500" dirty="0">
                <a:solidFill>
                  <a:schemeClr val="tx1"/>
                </a:solidFill>
              </a:rPr>
              <a:t>Examines financial returns from marketing (revenue, brand and customer equity) and wider legal, ethical, social and environmental effects.</a:t>
            </a:r>
            <a:endParaRPr lang="en-US" sz="1400" dirty="0"/>
          </a:p>
        </p:txBody>
      </p:sp>
      <p:sp>
        <p:nvSpPr>
          <p:cNvPr id="20" name="Center circle"/>
          <p:cNvSpPr/>
          <p:nvPr/>
        </p:nvSpPr>
        <p:spPr>
          <a:xfrm>
            <a:off x="5440680" y="3154680"/>
            <a:ext cx="1280160" cy="1280160"/>
          </a:xfrm>
          <a:prstGeom prst="ellipse">
            <a:avLst/>
          </a:prstGeom>
          <a:solidFill>
            <a:schemeClr val="tx2"/>
          </a:solidFill>
          <a:ln w="38100">
            <a:solidFill>
              <a:schemeClr val="bg1"/>
            </a:solidFill>
            <a:prstDash val="solid"/>
          </a:ln>
        </p:spPr>
        <p:txBody>
          <a:bodyPr/>
          <a:lstStyle/>
          <a:p>
            <a:endParaRPr lang="en-US"/>
          </a:p>
        </p:txBody>
      </p:sp>
      <p:sp>
        <p:nvSpPr>
          <p:cNvPr id="21" name="Text"/>
          <p:cNvSpPr txBox="1"/>
          <p:nvPr/>
        </p:nvSpPr>
        <p:spPr>
          <a:xfrm>
            <a:off x="5440680" y="3154680"/>
            <a:ext cx="1280160" cy="1280160"/>
          </a:xfrm>
          <a:prstGeom prst="rect">
            <a:avLst/>
          </a:prstGeom>
          <a:noFill/>
          <a:ln/>
        </p:spPr>
        <p:txBody>
          <a:bodyPr wrap="square" lIns="0" tIns="0" rIns="0" bIns="0" rtlCol="0" anchor="ctr"/>
          <a:lstStyle/>
          <a:p>
            <a:pPr marL="0" indent="0" algn="ctr">
              <a:buNone/>
            </a:pPr>
            <a:r>
              <a:rPr lang="en-US" sz="1600" b="1" dirty="0">
                <a:solidFill>
                  <a:schemeClr val="bg1"/>
                </a:solidFill>
              </a:rPr>
              <a:t>Holistic</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Comparing the Philosophies</a:t>
            </a:r>
            <a:endParaRPr lang="en-US" sz="3400" dirty="0"/>
          </a:p>
        </p:txBody>
      </p:sp>
      <p:graphicFrame>
        <p:nvGraphicFramePr>
          <p:cNvPr id="29" name="Table"/>
          <p:cNvGraphicFramePr>
            <a:graphicFrameLocks noGrp="1"/>
          </p:cNvGraphicFramePr>
          <p:nvPr>
            <p:extLst>
              <p:ext uri="{D42A27DB-BD31-4B8C-83A1-F6EECF244321}">
                <p14:modId xmlns:p14="http://schemas.microsoft.com/office/powerpoint/2010/main" val="2633315382"/>
              </p:ext>
            </p:extLst>
          </p:nvPr>
        </p:nvGraphicFramePr>
        <p:xfrm>
          <a:off x="548640" y="1417320"/>
          <a:ext cx="11064240" cy="4572000"/>
        </p:xfrm>
        <a:graphic>
          <a:graphicData uri="http://schemas.openxmlformats.org/drawingml/2006/table">
            <a:tbl>
              <a:tblPr/>
              <a:tblGrid>
                <a:gridCol w="17373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457200">
                <a:tc>
                  <a:txBody>
                    <a:bodyPr/>
                    <a:lstStyle/>
                    <a:p>
                      <a:pPr marL="0" indent="0">
                        <a:buNone/>
                      </a:pPr>
                      <a:r>
                        <a:rPr lang="en-US" sz="1600" b="1" dirty="0">
                          <a:solidFill>
                            <a:srgbClr val="FFFFFF"/>
                          </a:solidFill>
                        </a:rPr>
                        <a:t>Philosophy</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Orientation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Assumes customers buy when...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tc>
                  <a:txBody>
                    <a:bodyPr/>
                    <a:lstStyle/>
                    <a:p>
                      <a:pPr marL="0" indent="0">
                        <a:buNone/>
                      </a:pPr>
                      <a:r>
                        <a:rPr lang="en-US" sz="1600" b="1" dirty="0">
                          <a:solidFill>
                            <a:srgbClr val="FFFFFF"/>
                          </a:solidFill>
                        </a:rPr>
                        <a:t>Main risk</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rgbClr val="1F2A5C"/>
                          </a:solidFill>
                        </a:rPr>
                        <a:t>Production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Inside-out: operations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Products are affordable and available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Ignores what customers want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rgbClr val="1F2A5C"/>
                          </a:solidFill>
                        </a:rPr>
                        <a:t>Product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Inside-out: product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Products have the best quality and features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Marketing myopia</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rgbClr val="1F2A5C"/>
                          </a:solidFill>
                        </a:rPr>
                        <a:t>Selling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Inside-out: sales force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They are persuaded by heavy selling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Short-term sales, unhappy customers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3"/>
                  </a:ext>
                </a:extLst>
              </a:tr>
              <a:tr h="685800">
                <a:tc>
                  <a:txBody>
                    <a:bodyPr/>
                    <a:lstStyle/>
                    <a:p>
                      <a:pPr marL="0" indent="0">
                        <a:buNone/>
                      </a:pPr>
                      <a:r>
                        <a:rPr lang="en-US" sz="1600" b="1" dirty="0">
                          <a:solidFill>
                            <a:srgbClr val="1F2A5C"/>
                          </a:solidFill>
                        </a:rPr>
                        <a:t>Marketing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Outside-in: customers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The firm satisfies needs better than rivals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Ignores society's long-run welfare</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en-US" sz="1600" b="1" dirty="0">
                          <a:solidFill>
                            <a:srgbClr val="1F2A5C"/>
                          </a:solidFill>
                        </a:rPr>
                        <a:t>Societal</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Outside-in: customers and society</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Value is delivered while protecting well-being</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tc>
                  <a:txBody>
                    <a:bodyPr/>
                    <a:lstStyle/>
                    <a:p>
                      <a:pPr marL="0" indent="0">
                        <a:buNone/>
                      </a:pPr>
                      <a:r>
                        <a:rPr lang="en-US" sz="1600" dirty="0">
                          <a:solidFill>
                            <a:srgbClr val="1B1F3B"/>
                          </a:solidFill>
                        </a:rPr>
                        <a:t>Balancing profit with social cost</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EEF0F8"/>
                    </a:solidFill>
                  </a:tcPr>
                </a:tc>
                <a:extLst>
                  <a:ext uri="{0D108BD9-81ED-4DB2-BD59-A6C34878D82A}">
                    <a16:rowId xmlns:a16="http://schemas.microsoft.com/office/drawing/2014/main" val="10005"/>
                  </a:ext>
                </a:extLst>
              </a:tr>
              <a:tr h="685800">
                <a:tc>
                  <a:txBody>
                    <a:bodyPr/>
                    <a:lstStyle/>
                    <a:p>
                      <a:pPr marL="0" indent="0">
                        <a:buNone/>
                      </a:pPr>
                      <a:r>
                        <a:rPr lang="en-US" sz="1600" b="1" dirty="0">
                          <a:solidFill>
                            <a:srgbClr val="1F2A5C"/>
                          </a:solidFill>
                        </a:rPr>
                        <a:t>Holistic</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Integrated: everything matters</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Relationships, integration and performance align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tc>
                  <a:txBody>
                    <a:bodyPr/>
                    <a:lstStyle/>
                    <a:p>
                      <a:pPr marL="0" indent="0">
                        <a:buNone/>
                      </a:pPr>
                      <a:r>
                        <a:rPr lang="en-US" sz="1600" dirty="0">
                          <a:solidFill>
                            <a:srgbClr val="1B1F3B"/>
                          </a:solidFill>
                        </a:rPr>
                        <a:t>Needs whole-organization coordination</a:t>
                      </a:r>
                      <a:endParaRPr lang="en-US" sz="1600" dirty="0"/>
                    </a:p>
                  </a:txBody>
                  <a:tcPr marL="101600" marR="101600" marT="38100" marB="38100" anchor="ctr">
                    <a:lnL w="6350" cap="flat" cmpd="sng" algn="ctr">
                      <a:solidFill>
                        <a:srgbClr val="D5D9EA"/>
                      </a:solidFill>
                      <a:prstDash val="solid"/>
                      <a:round/>
                      <a:headEnd type="none" w="med" len="med"/>
                      <a:tailEnd type="none" w="med" len="med"/>
                    </a:lnL>
                    <a:lnR w="6350" cap="flat" cmpd="sng" algn="ctr">
                      <a:solidFill>
                        <a:srgbClr val="D5D9EA"/>
                      </a:solidFill>
                      <a:prstDash val="solid"/>
                      <a:round/>
                      <a:headEnd type="none" w="med" len="med"/>
                      <a:tailEnd type="none" w="med" len="med"/>
                    </a:lnR>
                    <a:lnT w="6350" cap="flat" cmpd="sng" algn="ctr">
                      <a:solidFill>
                        <a:srgbClr val="D5D9EA"/>
                      </a:solidFill>
                      <a:prstDash val="solid"/>
                      <a:round/>
                      <a:headEnd type="none" w="med" len="med"/>
                      <a:tailEnd type="none" w="med" len="med"/>
                    </a:lnT>
                    <a:lnB w="6350" cap="flat" cmpd="sng" algn="ctr">
                      <a:solidFill>
                        <a:srgbClr val="D5D9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Which philosophy is it?</a:t>
            </a:r>
            <a:endParaRPr lang="en-US" sz="3400" dirty="0"/>
          </a:p>
        </p:txBody>
      </p:sp>
      <p:sp>
        <p:nvSpPr>
          <p:cNvPr id="4" name="Scenario card"/>
          <p:cNvSpPr/>
          <p:nvPr/>
        </p:nvSpPr>
        <p:spPr>
          <a:xfrm>
            <a:off x="548640" y="1417320"/>
            <a:ext cx="7680960" cy="822960"/>
          </a:xfrm>
          <a:prstGeom prst="roundRect">
            <a:avLst>
              <a:gd name="adj" fmla="val 11111"/>
            </a:avLst>
          </a:prstGeom>
          <a:solidFill>
            <a:schemeClr val="bg2"/>
          </a:solidFill>
          <a:ln/>
        </p:spPr>
        <p:txBody>
          <a:bodyPr/>
          <a:lstStyle/>
          <a:p>
            <a:endParaRPr lang="en-US"/>
          </a:p>
        </p:txBody>
      </p:sp>
      <p:sp>
        <p:nvSpPr>
          <p:cNvPr id="5" name="Number circle"/>
          <p:cNvSpPr/>
          <p:nvPr/>
        </p:nvSpPr>
        <p:spPr>
          <a:xfrm>
            <a:off x="731520" y="1554480"/>
            <a:ext cx="548640" cy="548640"/>
          </a:xfrm>
          <a:prstGeom prst="ellipse">
            <a:avLst/>
          </a:prstGeom>
          <a:solidFill>
            <a:schemeClr val="accent1"/>
          </a:solidFill>
          <a:ln/>
        </p:spPr>
        <p:txBody>
          <a:bodyPr/>
          <a:lstStyle/>
          <a:p>
            <a:endParaRPr lang="en-US"/>
          </a:p>
        </p:txBody>
      </p:sp>
      <p:sp>
        <p:nvSpPr>
          <p:cNvPr id="6" name="Number"/>
          <p:cNvSpPr txBox="1"/>
          <p:nvPr/>
        </p:nvSpPr>
        <p:spPr>
          <a:xfrm>
            <a:off x="731520" y="15544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p:cNvSpPr txBox="1"/>
          <p:nvPr/>
        </p:nvSpPr>
        <p:spPr>
          <a:xfrm>
            <a:off x="1508760" y="1463040"/>
            <a:ext cx="6583680" cy="731520"/>
          </a:xfrm>
          <a:prstGeom prst="rect">
            <a:avLst/>
          </a:prstGeom>
          <a:noFill/>
          <a:ln/>
        </p:spPr>
        <p:txBody>
          <a:bodyPr wrap="square" lIns="0" tIns="0" rIns="0" bIns="0" rtlCol="0" anchor="ctr"/>
          <a:lstStyle/>
          <a:p>
            <a:pPr marL="0" indent="0">
              <a:buNone/>
            </a:pPr>
            <a:r>
              <a:rPr lang="en-US" sz="1500" dirty="0">
                <a:solidFill>
                  <a:schemeClr val="tx1"/>
                </a:solidFill>
              </a:rPr>
              <a:t>A software startup keeps adding features to its app but has never interviewed a single user.</a:t>
            </a:r>
            <a:endParaRPr lang="en-US" sz="1500" dirty="0"/>
          </a:p>
        </p:txBody>
      </p:sp>
      <p:sp>
        <p:nvSpPr>
          <p:cNvPr id="8" name="Scenario card"/>
          <p:cNvSpPr/>
          <p:nvPr/>
        </p:nvSpPr>
        <p:spPr>
          <a:xfrm>
            <a:off x="548640" y="2350008"/>
            <a:ext cx="7680960" cy="822960"/>
          </a:xfrm>
          <a:prstGeom prst="roundRect">
            <a:avLst>
              <a:gd name="adj" fmla="val 11111"/>
            </a:avLst>
          </a:prstGeom>
          <a:solidFill>
            <a:schemeClr val="bg2"/>
          </a:solidFill>
          <a:ln/>
        </p:spPr>
        <p:txBody>
          <a:bodyPr/>
          <a:lstStyle/>
          <a:p>
            <a:endParaRPr lang="en-US"/>
          </a:p>
        </p:txBody>
      </p:sp>
      <p:sp>
        <p:nvSpPr>
          <p:cNvPr id="9" name="Number circle"/>
          <p:cNvSpPr/>
          <p:nvPr/>
        </p:nvSpPr>
        <p:spPr>
          <a:xfrm>
            <a:off x="731520" y="2487168"/>
            <a:ext cx="548640" cy="548640"/>
          </a:xfrm>
          <a:prstGeom prst="ellipse">
            <a:avLst/>
          </a:prstGeom>
          <a:solidFill>
            <a:schemeClr val="accent1"/>
          </a:solidFill>
          <a:ln/>
        </p:spPr>
        <p:txBody>
          <a:bodyPr/>
          <a:lstStyle/>
          <a:p>
            <a:endParaRPr lang="en-US"/>
          </a:p>
        </p:txBody>
      </p:sp>
      <p:sp>
        <p:nvSpPr>
          <p:cNvPr id="10" name="Number"/>
          <p:cNvSpPr txBox="1"/>
          <p:nvPr/>
        </p:nvSpPr>
        <p:spPr>
          <a:xfrm>
            <a:off x="731520" y="248716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Text"/>
          <p:cNvSpPr txBox="1"/>
          <p:nvPr/>
        </p:nvSpPr>
        <p:spPr>
          <a:xfrm>
            <a:off x="1508760" y="2395728"/>
            <a:ext cx="6583680" cy="731520"/>
          </a:xfrm>
          <a:prstGeom prst="rect">
            <a:avLst/>
          </a:prstGeom>
          <a:noFill/>
          <a:ln/>
        </p:spPr>
        <p:txBody>
          <a:bodyPr wrap="square" lIns="0" tIns="0" rIns="0" bIns="0" rtlCol="0" anchor="ctr"/>
          <a:lstStyle/>
          <a:p>
            <a:pPr marL="0" indent="0">
              <a:buNone/>
            </a:pPr>
            <a:r>
              <a:rPr lang="en-US" sz="1500" dirty="0">
                <a:solidFill>
                  <a:schemeClr val="tx1"/>
                </a:solidFill>
              </a:rPr>
              <a:t>In a market with severe shortages, a manufacturer invests in cheaper production lines and wider distribution.</a:t>
            </a:r>
            <a:endParaRPr lang="en-US" sz="1500" dirty="0"/>
          </a:p>
        </p:txBody>
      </p:sp>
      <p:sp>
        <p:nvSpPr>
          <p:cNvPr id="12" name="Scenario card"/>
          <p:cNvSpPr/>
          <p:nvPr/>
        </p:nvSpPr>
        <p:spPr>
          <a:xfrm>
            <a:off x="548640" y="3282696"/>
            <a:ext cx="7680960" cy="822960"/>
          </a:xfrm>
          <a:prstGeom prst="roundRect">
            <a:avLst>
              <a:gd name="adj" fmla="val 11111"/>
            </a:avLst>
          </a:prstGeom>
          <a:solidFill>
            <a:schemeClr val="bg2"/>
          </a:solidFill>
          <a:ln/>
        </p:spPr>
        <p:txBody>
          <a:bodyPr/>
          <a:lstStyle/>
          <a:p>
            <a:endParaRPr lang="en-US"/>
          </a:p>
        </p:txBody>
      </p:sp>
      <p:sp>
        <p:nvSpPr>
          <p:cNvPr id="13" name="Number circle"/>
          <p:cNvSpPr/>
          <p:nvPr/>
        </p:nvSpPr>
        <p:spPr>
          <a:xfrm>
            <a:off x="731520" y="3419856"/>
            <a:ext cx="548640" cy="548640"/>
          </a:xfrm>
          <a:prstGeom prst="ellipse">
            <a:avLst/>
          </a:prstGeom>
          <a:solidFill>
            <a:schemeClr val="accent1"/>
          </a:solidFill>
          <a:ln/>
        </p:spPr>
        <p:txBody>
          <a:bodyPr/>
          <a:lstStyle/>
          <a:p>
            <a:endParaRPr lang="en-US"/>
          </a:p>
        </p:txBody>
      </p:sp>
      <p:sp>
        <p:nvSpPr>
          <p:cNvPr id="14" name="Number"/>
          <p:cNvSpPr txBox="1"/>
          <p:nvPr/>
        </p:nvSpPr>
        <p:spPr>
          <a:xfrm>
            <a:off x="731520" y="341985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5" name="Text"/>
          <p:cNvSpPr txBox="1"/>
          <p:nvPr/>
        </p:nvSpPr>
        <p:spPr>
          <a:xfrm>
            <a:off x="1508760" y="3328416"/>
            <a:ext cx="6583680" cy="731520"/>
          </a:xfrm>
          <a:prstGeom prst="rect">
            <a:avLst/>
          </a:prstGeom>
          <a:noFill/>
          <a:ln/>
        </p:spPr>
        <p:txBody>
          <a:bodyPr wrap="square" lIns="0" tIns="0" rIns="0" bIns="0" rtlCol="0" anchor="ctr"/>
          <a:lstStyle/>
          <a:p>
            <a:pPr marL="0" indent="0">
              <a:buNone/>
            </a:pPr>
            <a:r>
              <a:rPr lang="en-US" sz="1500" dirty="0">
                <a:solidFill>
                  <a:schemeClr val="tx1"/>
                </a:solidFill>
              </a:rPr>
              <a:t>An insurer pays high commissions for aggressive cold-calling of people who never asked for cover.</a:t>
            </a:r>
            <a:endParaRPr lang="en-US" sz="1500" dirty="0"/>
          </a:p>
        </p:txBody>
      </p:sp>
      <p:sp>
        <p:nvSpPr>
          <p:cNvPr id="16" name="Scenario card"/>
          <p:cNvSpPr/>
          <p:nvPr/>
        </p:nvSpPr>
        <p:spPr>
          <a:xfrm>
            <a:off x="548640" y="4215384"/>
            <a:ext cx="7680960" cy="822960"/>
          </a:xfrm>
          <a:prstGeom prst="roundRect">
            <a:avLst>
              <a:gd name="adj" fmla="val 11111"/>
            </a:avLst>
          </a:prstGeom>
          <a:solidFill>
            <a:schemeClr val="bg2"/>
          </a:solidFill>
          <a:ln/>
        </p:spPr>
        <p:txBody>
          <a:bodyPr/>
          <a:lstStyle/>
          <a:p>
            <a:endParaRPr lang="en-US"/>
          </a:p>
        </p:txBody>
      </p:sp>
      <p:sp>
        <p:nvSpPr>
          <p:cNvPr id="17" name="Number circle"/>
          <p:cNvSpPr/>
          <p:nvPr/>
        </p:nvSpPr>
        <p:spPr>
          <a:xfrm>
            <a:off x="731520" y="4352544"/>
            <a:ext cx="548640" cy="548640"/>
          </a:xfrm>
          <a:prstGeom prst="ellipse">
            <a:avLst/>
          </a:prstGeom>
          <a:solidFill>
            <a:schemeClr val="accent1"/>
          </a:solidFill>
          <a:ln/>
        </p:spPr>
        <p:txBody>
          <a:bodyPr/>
          <a:lstStyle/>
          <a:p>
            <a:endParaRPr lang="en-US"/>
          </a:p>
        </p:txBody>
      </p:sp>
      <p:sp>
        <p:nvSpPr>
          <p:cNvPr id="18" name="Number"/>
          <p:cNvSpPr txBox="1"/>
          <p:nvPr/>
        </p:nvSpPr>
        <p:spPr>
          <a:xfrm>
            <a:off x="731520" y="4352544"/>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9" name="Text"/>
          <p:cNvSpPr txBox="1"/>
          <p:nvPr/>
        </p:nvSpPr>
        <p:spPr>
          <a:xfrm>
            <a:off x="1508760" y="4261104"/>
            <a:ext cx="6583680" cy="731520"/>
          </a:xfrm>
          <a:prstGeom prst="rect">
            <a:avLst/>
          </a:prstGeom>
          <a:noFill/>
          <a:ln/>
        </p:spPr>
        <p:txBody>
          <a:bodyPr wrap="square" lIns="0" tIns="0" rIns="0" bIns="0" rtlCol="0" anchor="ctr"/>
          <a:lstStyle/>
          <a:p>
            <a:pPr marL="0" indent="0">
              <a:buNone/>
            </a:pPr>
            <a:r>
              <a:rPr lang="en-US" sz="1500" dirty="0">
                <a:solidFill>
                  <a:schemeClr val="tx1"/>
                </a:solidFill>
              </a:rPr>
              <a:t>A bank studies customer needs, trains staff and aligns every department around the customer journey.</a:t>
            </a:r>
            <a:endParaRPr lang="en-US" sz="1500" dirty="0"/>
          </a:p>
        </p:txBody>
      </p:sp>
      <p:sp>
        <p:nvSpPr>
          <p:cNvPr id="20" name="Scenario card"/>
          <p:cNvSpPr/>
          <p:nvPr/>
        </p:nvSpPr>
        <p:spPr>
          <a:xfrm>
            <a:off x="548640" y="5148072"/>
            <a:ext cx="7680960" cy="822960"/>
          </a:xfrm>
          <a:prstGeom prst="roundRect">
            <a:avLst>
              <a:gd name="adj" fmla="val 11111"/>
            </a:avLst>
          </a:prstGeom>
          <a:solidFill>
            <a:schemeClr val="bg2"/>
          </a:solidFill>
          <a:ln/>
        </p:spPr>
        <p:txBody>
          <a:bodyPr/>
          <a:lstStyle/>
          <a:p>
            <a:endParaRPr lang="en-US"/>
          </a:p>
        </p:txBody>
      </p:sp>
      <p:sp>
        <p:nvSpPr>
          <p:cNvPr id="21" name="Number circle"/>
          <p:cNvSpPr/>
          <p:nvPr/>
        </p:nvSpPr>
        <p:spPr>
          <a:xfrm>
            <a:off x="731520" y="5285232"/>
            <a:ext cx="548640" cy="548640"/>
          </a:xfrm>
          <a:prstGeom prst="ellipse">
            <a:avLst/>
          </a:prstGeom>
          <a:solidFill>
            <a:schemeClr val="accent1"/>
          </a:solidFill>
          <a:ln/>
        </p:spPr>
        <p:txBody>
          <a:bodyPr/>
          <a:lstStyle/>
          <a:p>
            <a:endParaRPr lang="en-US"/>
          </a:p>
        </p:txBody>
      </p:sp>
      <p:sp>
        <p:nvSpPr>
          <p:cNvPr id="22" name="Number"/>
          <p:cNvSpPr txBox="1"/>
          <p:nvPr/>
        </p:nvSpPr>
        <p:spPr>
          <a:xfrm>
            <a:off x="731520" y="5285232"/>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3" name="Text"/>
          <p:cNvSpPr txBox="1"/>
          <p:nvPr/>
        </p:nvSpPr>
        <p:spPr>
          <a:xfrm>
            <a:off x="1508760" y="5193792"/>
            <a:ext cx="6583680" cy="731520"/>
          </a:xfrm>
          <a:prstGeom prst="rect">
            <a:avLst/>
          </a:prstGeom>
          <a:noFill/>
          <a:ln/>
        </p:spPr>
        <p:txBody>
          <a:bodyPr wrap="square" lIns="0" tIns="0" rIns="0" bIns="0" rtlCol="0" anchor="ctr"/>
          <a:lstStyle/>
          <a:p>
            <a:pPr marL="0" indent="0">
              <a:buNone/>
            </a:pPr>
            <a:r>
              <a:rPr lang="en-US" sz="1500" dirty="0">
                <a:solidFill>
                  <a:schemeClr val="tx1"/>
                </a:solidFill>
              </a:rPr>
              <a:t>A food brand moves to recyclable packaging after customer and community concerns, even though costs rise.</a:t>
            </a:r>
            <a:endParaRPr lang="en-US" sz="1500" dirty="0"/>
          </a:p>
        </p:txBody>
      </p:sp>
      <p:sp>
        <p:nvSpPr>
          <p:cNvPr id="24" name="Prompt panel"/>
          <p:cNvSpPr/>
          <p:nvPr/>
        </p:nvSpPr>
        <p:spPr>
          <a:xfrm>
            <a:off x="8458200" y="1417320"/>
            <a:ext cx="3154680" cy="4553712"/>
          </a:xfrm>
          <a:prstGeom prst="roundRect">
            <a:avLst>
              <a:gd name="adj" fmla="val 2899"/>
            </a:avLst>
          </a:prstGeom>
          <a:solidFill>
            <a:schemeClr val="tx2"/>
          </a:solidFill>
          <a:ln/>
        </p:spPr>
        <p:txBody>
          <a:bodyPr/>
          <a:lstStyle/>
          <a:p>
            <a:endParaRPr lang="en-US"/>
          </a:p>
        </p:txBody>
      </p:sp>
      <p:sp>
        <p:nvSpPr>
          <p:cNvPr id="25" name="Text"/>
          <p:cNvSpPr txBox="1"/>
          <p:nvPr/>
        </p:nvSpPr>
        <p:spPr>
          <a:xfrm>
            <a:off x="8732520" y="1645920"/>
            <a:ext cx="2651760" cy="365760"/>
          </a:xfrm>
          <a:prstGeom prst="rect">
            <a:avLst/>
          </a:prstGeom>
          <a:noFill/>
          <a:ln/>
        </p:spPr>
        <p:txBody>
          <a:bodyPr wrap="square" lIns="0" tIns="0" rIns="0" bIns="0" rtlCol="0" anchor="t"/>
          <a:lstStyle/>
          <a:p>
            <a:pPr marL="0" indent="0">
              <a:buNone/>
            </a:pPr>
            <a:r>
              <a:rPr lang="en-US" sz="2000" b="1" dirty="0">
                <a:solidFill>
                  <a:schemeClr val="accent2"/>
                </a:solidFill>
              </a:rPr>
              <a:t>Ask yourself</a:t>
            </a:r>
            <a:endParaRPr lang="en-US" sz="2000" dirty="0"/>
          </a:p>
        </p:txBody>
      </p:sp>
      <p:sp>
        <p:nvSpPr>
          <p:cNvPr id="26" name="Text"/>
          <p:cNvSpPr txBox="1"/>
          <p:nvPr/>
        </p:nvSpPr>
        <p:spPr>
          <a:xfrm>
            <a:off x="8732520" y="2240280"/>
            <a:ext cx="265176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Does the firm start inside or outside?</a:t>
            </a:r>
            <a:endParaRPr lang="en-US" sz="1600" dirty="0"/>
          </a:p>
          <a:p>
            <a:pPr marL="342900" indent="-342900">
              <a:spcAft>
                <a:spcPts val="600"/>
              </a:spcAft>
              <a:buSzPct val="100000"/>
              <a:buChar char="•"/>
            </a:pPr>
            <a:r>
              <a:rPr lang="en-US" sz="1600" dirty="0">
                <a:solidFill>
                  <a:schemeClr val="bg1"/>
                </a:solidFill>
              </a:rPr>
              <a:t>Who benefits from the strategy?</a:t>
            </a:r>
            <a:endParaRPr lang="en-US" sz="1600" dirty="0"/>
          </a:p>
          <a:p>
            <a:pPr marL="342900" indent="-342900">
              <a:spcAft>
                <a:spcPts val="600"/>
              </a:spcAft>
              <a:buSzPct val="100000"/>
              <a:buChar char="•"/>
            </a:pPr>
            <a:r>
              <a:rPr lang="en-US" sz="1600" dirty="0">
                <a:solidFill>
                  <a:schemeClr val="bg1"/>
                </a:solidFill>
              </a:rPr>
              <a:t>What is the firm ignoring?</a:t>
            </a:r>
            <a:endParaRPr lang="en-US" sz="1600" dirty="0"/>
          </a:p>
          <a:p>
            <a:pPr marL="342900" indent="-342900">
              <a:spcAft>
                <a:spcPts val="600"/>
              </a:spcAft>
              <a:buSzPct val="100000"/>
              <a:buChar char="•"/>
            </a:pPr>
            <a:r>
              <a:rPr lang="en-US" sz="1600" dirty="0">
                <a:solidFill>
                  <a:schemeClr val="bg1"/>
                </a:solidFill>
              </a:rPr>
              <a:t>What would you change?</a:t>
            </a:r>
            <a:endParaRPr lang="en-US" sz="16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bg1"/>
                </a:solidFill>
              </a:rPr>
              <a:t>Key takeaways</a:t>
            </a:r>
            <a:endParaRPr lang="en-US" sz="3400" dirty="0"/>
          </a:p>
        </p:txBody>
      </p:sp>
      <p:sp>
        <p:nvSpPr>
          <p:cNvPr id="4" name="Number circle"/>
          <p:cNvSpPr/>
          <p:nvPr/>
        </p:nvSpPr>
        <p:spPr>
          <a:xfrm>
            <a:off x="548640" y="1508760"/>
            <a:ext cx="640080" cy="640080"/>
          </a:xfrm>
          <a:prstGeom prst="ellipse">
            <a:avLst/>
          </a:prstGeom>
          <a:solidFill>
            <a:schemeClr val="accent1"/>
          </a:solidFill>
          <a:ln/>
        </p:spPr>
        <p:txBody>
          <a:bodyPr/>
          <a:lstStyle/>
          <a:p>
            <a:endParaRPr lang="en-US"/>
          </a:p>
        </p:txBody>
      </p:sp>
      <p:sp>
        <p:nvSpPr>
          <p:cNvPr id="5" name="Number"/>
          <p:cNvSpPr txBox="1"/>
          <p:nvPr/>
        </p:nvSpPr>
        <p:spPr>
          <a:xfrm>
            <a:off x="54864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p:cNvSpPr txBox="1"/>
          <p:nvPr/>
        </p:nvSpPr>
        <p:spPr>
          <a:xfrm>
            <a:off x="1463040" y="1417320"/>
            <a:ext cx="10149840" cy="822960"/>
          </a:xfrm>
          <a:prstGeom prst="rect">
            <a:avLst/>
          </a:prstGeom>
          <a:noFill/>
          <a:ln/>
        </p:spPr>
        <p:txBody>
          <a:bodyPr wrap="square" lIns="0" tIns="0" rIns="0" bIns="0" rtlCol="0" anchor="ctr"/>
          <a:lstStyle/>
          <a:p>
            <a:pPr marL="0" indent="0">
              <a:buNone/>
            </a:pPr>
            <a:r>
              <a:rPr lang="en-US" sz="1800" dirty="0">
                <a:solidFill>
                  <a:schemeClr val="bg1"/>
                </a:solidFill>
              </a:rPr>
              <a:t>Marketing creates customer value and builds relationships in order to capture value in return.</a:t>
            </a:r>
            <a:endParaRPr lang="en-US" sz="1800" dirty="0"/>
          </a:p>
        </p:txBody>
      </p:sp>
      <p:sp>
        <p:nvSpPr>
          <p:cNvPr id="7" name="Number circle"/>
          <p:cNvSpPr/>
          <p:nvPr/>
        </p:nvSpPr>
        <p:spPr>
          <a:xfrm>
            <a:off x="548640" y="2441448"/>
            <a:ext cx="640080" cy="640080"/>
          </a:xfrm>
          <a:prstGeom prst="ellipse">
            <a:avLst/>
          </a:prstGeom>
          <a:solidFill>
            <a:schemeClr val="accent1"/>
          </a:solidFill>
          <a:ln/>
        </p:spPr>
        <p:txBody>
          <a:bodyPr/>
          <a:lstStyle/>
          <a:p>
            <a:endParaRPr lang="en-US"/>
          </a:p>
        </p:txBody>
      </p:sp>
      <p:sp>
        <p:nvSpPr>
          <p:cNvPr id="8" name="Number"/>
          <p:cNvSpPr txBox="1"/>
          <p:nvPr/>
        </p:nvSpPr>
        <p:spPr>
          <a:xfrm>
            <a:off x="548640" y="2441448"/>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9" name="Text"/>
          <p:cNvSpPr txBox="1"/>
          <p:nvPr/>
        </p:nvSpPr>
        <p:spPr>
          <a:xfrm>
            <a:off x="1463040" y="2350008"/>
            <a:ext cx="10149840" cy="822960"/>
          </a:xfrm>
          <a:prstGeom prst="rect">
            <a:avLst/>
          </a:prstGeom>
          <a:noFill/>
          <a:ln/>
        </p:spPr>
        <p:txBody>
          <a:bodyPr wrap="square" lIns="0" tIns="0" rIns="0" bIns="0" rtlCol="0" anchor="ctr"/>
          <a:lstStyle/>
          <a:p>
            <a:pPr marL="0" indent="0">
              <a:buNone/>
            </a:pPr>
            <a:r>
              <a:rPr lang="en-US" sz="1800" dirty="0">
                <a:solidFill>
                  <a:schemeClr val="bg1"/>
                </a:solidFill>
              </a:rPr>
              <a:t>Marketing management is demand management: choose target markets, then create, deliver and communicate superior value.</a:t>
            </a:r>
            <a:endParaRPr lang="en-US" sz="1800" dirty="0"/>
          </a:p>
        </p:txBody>
      </p:sp>
      <p:sp>
        <p:nvSpPr>
          <p:cNvPr id="10" name="Number circle"/>
          <p:cNvSpPr/>
          <p:nvPr/>
        </p:nvSpPr>
        <p:spPr>
          <a:xfrm>
            <a:off x="548640" y="3374136"/>
            <a:ext cx="640080" cy="640080"/>
          </a:xfrm>
          <a:prstGeom prst="ellipse">
            <a:avLst/>
          </a:prstGeom>
          <a:solidFill>
            <a:schemeClr val="accent1"/>
          </a:solidFill>
          <a:ln/>
        </p:spPr>
        <p:txBody>
          <a:bodyPr/>
          <a:lstStyle/>
          <a:p>
            <a:endParaRPr lang="en-US"/>
          </a:p>
        </p:txBody>
      </p:sp>
      <p:sp>
        <p:nvSpPr>
          <p:cNvPr id="11" name="Number"/>
          <p:cNvSpPr txBox="1"/>
          <p:nvPr/>
        </p:nvSpPr>
        <p:spPr>
          <a:xfrm>
            <a:off x="548640" y="3374136"/>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2" name="Text"/>
          <p:cNvSpPr txBox="1"/>
          <p:nvPr/>
        </p:nvSpPr>
        <p:spPr>
          <a:xfrm>
            <a:off x="1463040" y="3282696"/>
            <a:ext cx="10149840" cy="822960"/>
          </a:xfrm>
          <a:prstGeom prst="rect">
            <a:avLst/>
          </a:prstGeom>
          <a:noFill/>
          <a:ln/>
        </p:spPr>
        <p:txBody>
          <a:bodyPr wrap="square" lIns="0" tIns="0" rIns="0" bIns="0" rtlCol="0" anchor="ctr"/>
          <a:lstStyle/>
          <a:p>
            <a:pPr marL="0" indent="0">
              <a:buNone/>
            </a:pPr>
            <a:r>
              <a:rPr lang="en-US" sz="1800" dirty="0">
                <a:solidFill>
                  <a:schemeClr val="bg1"/>
                </a:solidFill>
              </a:rPr>
              <a:t>Marketing has moved from production and selling to relationships, digital engagement and social responsibility.</a:t>
            </a:r>
            <a:endParaRPr lang="en-US" sz="1800" dirty="0"/>
          </a:p>
        </p:txBody>
      </p:sp>
      <p:sp>
        <p:nvSpPr>
          <p:cNvPr id="13" name="Number circle"/>
          <p:cNvSpPr/>
          <p:nvPr/>
        </p:nvSpPr>
        <p:spPr>
          <a:xfrm>
            <a:off x="548640" y="4306824"/>
            <a:ext cx="640080" cy="640080"/>
          </a:xfrm>
          <a:prstGeom prst="ellipse">
            <a:avLst/>
          </a:prstGeom>
          <a:solidFill>
            <a:schemeClr val="accent1"/>
          </a:solidFill>
          <a:ln/>
        </p:spPr>
        <p:txBody>
          <a:bodyPr/>
          <a:lstStyle/>
          <a:p>
            <a:endParaRPr lang="en-US"/>
          </a:p>
        </p:txBody>
      </p:sp>
      <p:sp>
        <p:nvSpPr>
          <p:cNvPr id="14" name="Number"/>
          <p:cNvSpPr txBox="1"/>
          <p:nvPr/>
        </p:nvSpPr>
        <p:spPr>
          <a:xfrm>
            <a:off x="548640" y="4306824"/>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5" name="Text"/>
          <p:cNvSpPr txBox="1"/>
          <p:nvPr/>
        </p:nvSpPr>
        <p:spPr>
          <a:xfrm>
            <a:off x="1463040" y="4215384"/>
            <a:ext cx="10149840" cy="822960"/>
          </a:xfrm>
          <a:prstGeom prst="rect">
            <a:avLst/>
          </a:prstGeom>
          <a:noFill/>
          <a:ln/>
        </p:spPr>
        <p:txBody>
          <a:bodyPr wrap="square" lIns="0" tIns="0" rIns="0" bIns="0" rtlCol="0" anchor="ctr"/>
          <a:lstStyle/>
          <a:p>
            <a:pPr marL="0" indent="0">
              <a:buNone/>
            </a:pPr>
            <a:r>
              <a:rPr lang="en-US" sz="1800" dirty="0">
                <a:solidFill>
                  <a:schemeClr val="bg1"/>
                </a:solidFill>
              </a:rPr>
              <a:t>The marketing and societal concepts start with customers and society, not the factory.</a:t>
            </a:r>
            <a:endParaRPr lang="en-US" sz="1800" dirty="0"/>
          </a:p>
        </p:txBody>
      </p:sp>
      <p:sp>
        <p:nvSpPr>
          <p:cNvPr id="16" name="Number circle"/>
          <p:cNvSpPr/>
          <p:nvPr/>
        </p:nvSpPr>
        <p:spPr>
          <a:xfrm>
            <a:off x="548640" y="5239512"/>
            <a:ext cx="640080" cy="640080"/>
          </a:xfrm>
          <a:prstGeom prst="ellipse">
            <a:avLst/>
          </a:prstGeom>
          <a:solidFill>
            <a:schemeClr val="accent1"/>
          </a:solidFill>
          <a:ln/>
        </p:spPr>
        <p:txBody>
          <a:bodyPr/>
          <a:lstStyle/>
          <a:p>
            <a:endParaRPr lang="en-US"/>
          </a:p>
        </p:txBody>
      </p:sp>
      <p:sp>
        <p:nvSpPr>
          <p:cNvPr id="17" name="Number"/>
          <p:cNvSpPr txBox="1"/>
          <p:nvPr/>
        </p:nvSpPr>
        <p:spPr>
          <a:xfrm>
            <a:off x="548640" y="5239512"/>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18" name="Text"/>
          <p:cNvSpPr txBox="1"/>
          <p:nvPr/>
        </p:nvSpPr>
        <p:spPr>
          <a:xfrm>
            <a:off x="1463040" y="5148072"/>
            <a:ext cx="10149840" cy="822960"/>
          </a:xfrm>
          <a:prstGeom prst="rect">
            <a:avLst/>
          </a:prstGeom>
          <a:noFill/>
          <a:ln/>
        </p:spPr>
        <p:txBody>
          <a:bodyPr wrap="square" lIns="0" tIns="0" rIns="0" bIns="0" rtlCol="0" anchor="ctr"/>
          <a:lstStyle/>
          <a:p>
            <a:pPr marL="0" indent="0">
              <a:buNone/>
            </a:pPr>
            <a:r>
              <a:rPr lang="en-US" sz="1800" dirty="0">
                <a:solidFill>
                  <a:schemeClr val="bg1"/>
                </a:solidFill>
              </a:rPr>
              <a:t>Holistic marketing integrates relationships, integration, internal alignment and performance: everything matters.</a:t>
            </a:r>
            <a:endParaRPr lang="en-US" sz="18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Review questions</a:t>
            </a:r>
            <a:endParaRPr lang="en-US" sz="3400" dirty="0"/>
          </a:p>
        </p:txBody>
      </p:sp>
      <p:sp>
        <p:nvSpPr>
          <p:cNvPr id="4" name="Question card"/>
          <p:cNvSpPr/>
          <p:nvPr/>
        </p:nvSpPr>
        <p:spPr>
          <a:xfrm>
            <a:off x="548640" y="1417320"/>
            <a:ext cx="5440680" cy="1463040"/>
          </a:xfrm>
          <a:prstGeom prst="roundRect">
            <a:avLst>
              <a:gd name="adj" fmla="val 6250"/>
            </a:avLst>
          </a:prstGeom>
          <a:solidFill>
            <a:schemeClr val="bg2"/>
          </a:solidFill>
          <a:ln/>
        </p:spPr>
        <p:txBody>
          <a:bodyPr/>
          <a:lstStyle/>
          <a:p>
            <a:endParaRPr lang="en-US"/>
          </a:p>
        </p:txBody>
      </p:sp>
      <p:sp>
        <p:nvSpPr>
          <p:cNvPr id="5" name="Number circle"/>
          <p:cNvSpPr/>
          <p:nvPr/>
        </p:nvSpPr>
        <p:spPr>
          <a:xfrm>
            <a:off x="777240" y="1874520"/>
            <a:ext cx="548640" cy="548640"/>
          </a:xfrm>
          <a:prstGeom prst="ellipse">
            <a:avLst/>
          </a:prstGeom>
          <a:solidFill>
            <a:schemeClr val="accent3"/>
          </a:solidFill>
          <a:ln/>
        </p:spPr>
        <p:txBody>
          <a:bodyPr/>
          <a:lstStyle/>
          <a:p>
            <a:endParaRPr lang="en-US"/>
          </a:p>
        </p:txBody>
      </p:sp>
      <p:sp>
        <p:nvSpPr>
          <p:cNvPr id="6" name="Number"/>
          <p:cNvSpPr txBox="1"/>
          <p:nvPr/>
        </p:nvSpPr>
        <p:spPr>
          <a:xfrm>
            <a:off x="777240" y="187452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Q1</a:t>
            </a:r>
            <a:endParaRPr lang="en-US" sz="1400" dirty="0"/>
          </a:p>
        </p:txBody>
      </p:sp>
      <p:sp>
        <p:nvSpPr>
          <p:cNvPr id="7" name="Text"/>
          <p:cNvSpPr txBox="1"/>
          <p:nvPr/>
        </p:nvSpPr>
        <p:spPr>
          <a:xfrm>
            <a:off x="1554480" y="1508760"/>
            <a:ext cx="4206240" cy="1280160"/>
          </a:xfrm>
          <a:prstGeom prst="rect">
            <a:avLst/>
          </a:prstGeom>
          <a:noFill/>
          <a:ln/>
        </p:spPr>
        <p:txBody>
          <a:bodyPr wrap="square" lIns="0" tIns="0" rIns="0" bIns="0" rtlCol="0" anchor="ctr"/>
          <a:lstStyle/>
          <a:p>
            <a:pPr marL="0" indent="0">
              <a:buNone/>
            </a:pPr>
            <a:r>
              <a:rPr lang="en-US" sz="1600" dirty="0">
                <a:solidFill>
                  <a:schemeClr val="tx1"/>
                </a:solidFill>
              </a:rPr>
              <a:t>Differentiate between needs, wants and demands using an example from your own life.</a:t>
            </a:r>
            <a:endParaRPr lang="en-US" sz="1600" dirty="0"/>
          </a:p>
        </p:txBody>
      </p:sp>
      <p:sp>
        <p:nvSpPr>
          <p:cNvPr id="8" name="Question card"/>
          <p:cNvSpPr/>
          <p:nvPr/>
        </p:nvSpPr>
        <p:spPr>
          <a:xfrm>
            <a:off x="6172200" y="1417320"/>
            <a:ext cx="5440680" cy="1463040"/>
          </a:xfrm>
          <a:prstGeom prst="roundRect">
            <a:avLst>
              <a:gd name="adj" fmla="val 6250"/>
            </a:avLst>
          </a:prstGeom>
          <a:solidFill>
            <a:schemeClr val="bg2"/>
          </a:solidFill>
          <a:ln/>
        </p:spPr>
        <p:txBody>
          <a:bodyPr/>
          <a:lstStyle/>
          <a:p>
            <a:endParaRPr lang="en-US"/>
          </a:p>
        </p:txBody>
      </p:sp>
      <p:sp>
        <p:nvSpPr>
          <p:cNvPr id="9" name="Number circle"/>
          <p:cNvSpPr/>
          <p:nvPr/>
        </p:nvSpPr>
        <p:spPr>
          <a:xfrm>
            <a:off x="6400800" y="1874520"/>
            <a:ext cx="548640" cy="548640"/>
          </a:xfrm>
          <a:prstGeom prst="ellipse">
            <a:avLst/>
          </a:prstGeom>
          <a:solidFill>
            <a:schemeClr val="accent3"/>
          </a:solidFill>
          <a:ln/>
        </p:spPr>
        <p:txBody>
          <a:bodyPr/>
          <a:lstStyle/>
          <a:p>
            <a:endParaRPr lang="en-US"/>
          </a:p>
        </p:txBody>
      </p:sp>
      <p:sp>
        <p:nvSpPr>
          <p:cNvPr id="10" name="Number"/>
          <p:cNvSpPr txBox="1"/>
          <p:nvPr/>
        </p:nvSpPr>
        <p:spPr>
          <a:xfrm>
            <a:off x="6400800" y="187452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Q2</a:t>
            </a:r>
            <a:endParaRPr lang="en-US" sz="1400" dirty="0"/>
          </a:p>
        </p:txBody>
      </p:sp>
      <p:sp>
        <p:nvSpPr>
          <p:cNvPr id="11" name="Text"/>
          <p:cNvSpPr txBox="1"/>
          <p:nvPr/>
        </p:nvSpPr>
        <p:spPr>
          <a:xfrm>
            <a:off x="7178040" y="1508760"/>
            <a:ext cx="4206240" cy="1280160"/>
          </a:xfrm>
          <a:prstGeom prst="rect">
            <a:avLst/>
          </a:prstGeom>
          <a:noFill/>
          <a:ln/>
        </p:spPr>
        <p:txBody>
          <a:bodyPr wrap="square" lIns="0" tIns="0" rIns="0" bIns="0" rtlCol="0" anchor="ctr"/>
          <a:lstStyle/>
          <a:p>
            <a:pPr marL="0" indent="0">
              <a:buNone/>
            </a:pPr>
            <a:r>
              <a:rPr lang="en-US" sz="1600" dirty="0">
                <a:solidFill>
                  <a:schemeClr val="tx1"/>
                </a:solidFill>
              </a:rPr>
              <a:t>Why is selling only the tip of the marketing iceberg?</a:t>
            </a:r>
            <a:endParaRPr lang="en-US" sz="1600" dirty="0"/>
          </a:p>
        </p:txBody>
      </p:sp>
      <p:sp>
        <p:nvSpPr>
          <p:cNvPr id="12" name="Question card"/>
          <p:cNvSpPr/>
          <p:nvPr/>
        </p:nvSpPr>
        <p:spPr>
          <a:xfrm>
            <a:off x="548640" y="3017520"/>
            <a:ext cx="5440680" cy="1463040"/>
          </a:xfrm>
          <a:prstGeom prst="roundRect">
            <a:avLst>
              <a:gd name="adj" fmla="val 6250"/>
            </a:avLst>
          </a:prstGeom>
          <a:solidFill>
            <a:schemeClr val="bg2"/>
          </a:solidFill>
          <a:ln/>
        </p:spPr>
        <p:txBody>
          <a:bodyPr/>
          <a:lstStyle/>
          <a:p>
            <a:endParaRPr lang="en-US"/>
          </a:p>
        </p:txBody>
      </p:sp>
      <p:sp>
        <p:nvSpPr>
          <p:cNvPr id="13" name="Number circle"/>
          <p:cNvSpPr/>
          <p:nvPr/>
        </p:nvSpPr>
        <p:spPr>
          <a:xfrm>
            <a:off x="777240" y="3474720"/>
            <a:ext cx="548640" cy="548640"/>
          </a:xfrm>
          <a:prstGeom prst="ellipse">
            <a:avLst/>
          </a:prstGeom>
          <a:solidFill>
            <a:schemeClr val="accent3"/>
          </a:solidFill>
          <a:ln/>
        </p:spPr>
        <p:txBody>
          <a:bodyPr/>
          <a:lstStyle/>
          <a:p>
            <a:endParaRPr lang="en-US"/>
          </a:p>
        </p:txBody>
      </p:sp>
      <p:sp>
        <p:nvSpPr>
          <p:cNvPr id="14" name="Number"/>
          <p:cNvSpPr txBox="1"/>
          <p:nvPr/>
        </p:nvSpPr>
        <p:spPr>
          <a:xfrm>
            <a:off x="777240" y="347472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Q3</a:t>
            </a:r>
            <a:endParaRPr lang="en-US" sz="1400" dirty="0"/>
          </a:p>
        </p:txBody>
      </p:sp>
      <p:sp>
        <p:nvSpPr>
          <p:cNvPr id="15" name="Text"/>
          <p:cNvSpPr txBox="1"/>
          <p:nvPr/>
        </p:nvSpPr>
        <p:spPr>
          <a:xfrm>
            <a:off x="1554480" y="3108960"/>
            <a:ext cx="4206240" cy="1280160"/>
          </a:xfrm>
          <a:prstGeom prst="rect">
            <a:avLst/>
          </a:prstGeom>
          <a:noFill/>
          <a:ln/>
        </p:spPr>
        <p:txBody>
          <a:bodyPr wrap="square" lIns="0" tIns="0" rIns="0" bIns="0" rtlCol="0" anchor="ctr"/>
          <a:lstStyle/>
          <a:p>
            <a:pPr marL="0" indent="0">
              <a:buNone/>
            </a:pPr>
            <a:r>
              <a:rPr lang="en-US" sz="1600" dirty="0">
                <a:solidFill>
                  <a:schemeClr val="tx1"/>
                </a:solidFill>
              </a:rPr>
              <a:t>Explain the five steps of the marketing process.</a:t>
            </a:r>
            <a:endParaRPr lang="en-US" sz="1600" dirty="0"/>
          </a:p>
        </p:txBody>
      </p:sp>
      <p:sp>
        <p:nvSpPr>
          <p:cNvPr id="16" name="Question card"/>
          <p:cNvSpPr/>
          <p:nvPr/>
        </p:nvSpPr>
        <p:spPr>
          <a:xfrm>
            <a:off x="6172200" y="3017520"/>
            <a:ext cx="5440680" cy="1463040"/>
          </a:xfrm>
          <a:prstGeom prst="roundRect">
            <a:avLst>
              <a:gd name="adj" fmla="val 6250"/>
            </a:avLst>
          </a:prstGeom>
          <a:solidFill>
            <a:schemeClr val="bg2"/>
          </a:solidFill>
          <a:ln/>
        </p:spPr>
        <p:txBody>
          <a:bodyPr/>
          <a:lstStyle/>
          <a:p>
            <a:endParaRPr lang="en-US"/>
          </a:p>
        </p:txBody>
      </p:sp>
      <p:sp>
        <p:nvSpPr>
          <p:cNvPr id="17" name="Number circle"/>
          <p:cNvSpPr/>
          <p:nvPr/>
        </p:nvSpPr>
        <p:spPr>
          <a:xfrm>
            <a:off x="6400800" y="3474720"/>
            <a:ext cx="548640" cy="548640"/>
          </a:xfrm>
          <a:prstGeom prst="ellipse">
            <a:avLst/>
          </a:prstGeom>
          <a:solidFill>
            <a:schemeClr val="accent3"/>
          </a:solidFill>
          <a:ln/>
        </p:spPr>
        <p:txBody>
          <a:bodyPr/>
          <a:lstStyle/>
          <a:p>
            <a:endParaRPr lang="en-US"/>
          </a:p>
        </p:txBody>
      </p:sp>
      <p:sp>
        <p:nvSpPr>
          <p:cNvPr id="18" name="Number"/>
          <p:cNvSpPr txBox="1"/>
          <p:nvPr/>
        </p:nvSpPr>
        <p:spPr>
          <a:xfrm>
            <a:off x="6400800" y="347472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Q4</a:t>
            </a:r>
            <a:endParaRPr lang="en-US" sz="1400" dirty="0"/>
          </a:p>
        </p:txBody>
      </p:sp>
      <p:sp>
        <p:nvSpPr>
          <p:cNvPr id="19" name="Text"/>
          <p:cNvSpPr txBox="1"/>
          <p:nvPr/>
        </p:nvSpPr>
        <p:spPr>
          <a:xfrm>
            <a:off x="7178040" y="3108960"/>
            <a:ext cx="4206240" cy="1280160"/>
          </a:xfrm>
          <a:prstGeom prst="rect">
            <a:avLst/>
          </a:prstGeom>
          <a:noFill/>
          <a:ln/>
        </p:spPr>
        <p:txBody>
          <a:bodyPr wrap="square" lIns="0" tIns="0" rIns="0" bIns="0" rtlCol="0" anchor="ctr"/>
          <a:lstStyle/>
          <a:p>
            <a:pPr marL="0" indent="0">
              <a:buNone/>
            </a:pPr>
            <a:r>
              <a:rPr lang="en-US" sz="1600" dirty="0">
                <a:solidFill>
                  <a:schemeClr val="tx1"/>
                </a:solidFill>
              </a:rPr>
              <a:t>Trace the shift from the production era to the relationship and digital eras. What drove each change?</a:t>
            </a:r>
            <a:endParaRPr lang="en-US" sz="1600" dirty="0"/>
          </a:p>
        </p:txBody>
      </p:sp>
      <p:sp>
        <p:nvSpPr>
          <p:cNvPr id="20" name="Question card"/>
          <p:cNvSpPr/>
          <p:nvPr/>
        </p:nvSpPr>
        <p:spPr>
          <a:xfrm>
            <a:off x="548640" y="4617720"/>
            <a:ext cx="5440680" cy="1463040"/>
          </a:xfrm>
          <a:prstGeom prst="roundRect">
            <a:avLst>
              <a:gd name="adj" fmla="val 6250"/>
            </a:avLst>
          </a:prstGeom>
          <a:solidFill>
            <a:schemeClr val="bg2"/>
          </a:solidFill>
          <a:ln/>
        </p:spPr>
        <p:txBody>
          <a:bodyPr/>
          <a:lstStyle/>
          <a:p>
            <a:endParaRPr lang="en-US"/>
          </a:p>
        </p:txBody>
      </p:sp>
      <p:sp>
        <p:nvSpPr>
          <p:cNvPr id="21" name="Number circle"/>
          <p:cNvSpPr/>
          <p:nvPr/>
        </p:nvSpPr>
        <p:spPr>
          <a:xfrm>
            <a:off x="777240" y="5074920"/>
            <a:ext cx="548640" cy="548640"/>
          </a:xfrm>
          <a:prstGeom prst="ellipse">
            <a:avLst/>
          </a:prstGeom>
          <a:solidFill>
            <a:schemeClr val="accent3"/>
          </a:solidFill>
          <a:ln/>
        </p:spPr>
        <p:txBody>
          <a:bodyPr/>
          <a:lstStyle/>
          <a:p>
            <a:endParaRPr lang="en-US"/>
          </a:p>
        </p:txBody>
      </p:sp>
      <p:sp>
        <p:nvSpPr>
          <p:cNvPr id="22" name="Number"/>
          <p:cNvSpPr txBox="1"/>
          <p:nvPr/>
        </p:nvSpPr>
        <p:spPr>
          <a:xfrm>
            <a:off x="777240" y="507492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Q5</a:t>
            </a:r>
            <a:endParaRPr lang="en-US" sz="1400" dirty="0"/>
          </a:p>
        </p:txBody>
      </p:sp>
      <p:sp>
        <p:nvSpPr>
          <p:cNvPr id="23" name="Text"/>
          <p:cNvSpPr txBox="1"/>
          <p:nvPr/>
        </p:nvSpPr>
        <p:spPr>
          <a:xfrm>
            <a:off x="1554480" y="4709160"/>
            <a:ext cx="4206240" cy="1280160"/>
          </a:xfrm>
          <a:prstGeom prst="rect">
            <a:avLst/>
          </a:prstGeom>
          <a:noFill/>
          <a:ln/>
        </p:spPr>
        <p:txBody>
          <a:bodyPr wrap="square" lIns="0" tIns="0" rIns="0" bIns="0" rtlCol="0" anchor="ctr"/>
          <a:lstStyle/>
          <a:p>
            <a:pPr marL="0" indent="0">
              <a:buNone/>
            </a:pPr>
            <a:r>
              <a:rPr lang="en-US" sz="1600" dirty="0">
                <a:solidFill>
                  <a:schemeClr val="tx1"/>
                </a:solidFill>
              </a:rPr>
              <a:t>Which philosophy best describes a firm you know well? Justify your answer.</a:t>
            </a:r>
            <a:endParaRPr lang="en-US" sz="1600" dirty="0"/>
          </a:p>
        </p:txBody>
      </p:sp>
      <p:sp>
        <p:nvSpPr>
          <p:cNvPr id="24" name="Question card"/>
          <p:cNvSpPr/>
          <p:nvPr/>
        </p:nvSpPr>
        <p:spPr>
          <a:xfrm>
            <a:off x="6172200" y="4617720"/>
            <a:ext cx="5440680" cy="1463040"/>
          </a:xfrm>
          <a:prstGeom prst="roundRect">
            <a:avLst>
              <a:gd name="adj" fmla="val 6250"/>
            </a:avLst>
          </a:prstGeom>
          <a:solidFill>
            <a:schemeClr val="bg2"/>
          </a:solidFill>
          <a:ln/>
        </p:spPr>
        <p:txBody>
          <a:bodyPr/>
          <a:lstStyle/>
          <a:p>
            <a:endParaRPr lang="en-US"/>
          </a:p>
        </p:txBody>
      </p:sp>
      <p:sp>
        <p:nvSpPr>
          <p:cNvPr id="25" name="Number circle"/>
          <p:cNvSpPr/>
          <p:nvPr/>
        </p:nvSpPr>
        <p:spPr>
          <a:xfrm>
            <a:off x="6400800" y="5074920"/>
            <a:ext cx="548640" cy="548640"/>
          </a:xfrm>
          <a:prstGeom prst="ellipse">
            <a:avLst/>
          </a:prstGeom>
          <a:solidFill>
            <a:schemeClr val="accent3"/>
          </a:solidFill>
          <a:ln/>
        </p:spPr>
        <p:txBody>
          <a:bodyPr/>
          <a:lstStyle/>
          <a:p>
            <a:endParaRPr lang="en-US"/>
          </a:p>
        </p:txBody>
      </p:sp>
      <p:sp>
        <p:nvSpPr>
          <p:cNvPr id="26" name="Number"/>
          <p:cNvSpPr txBox="1"/>
          <p:nvPr/>
        </p:nvSpPr>
        <p:spPr>
          <a:xfrm>
            <a:off x="6400800" y="507492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Q6</a:t>
            </a:r>
            <a:endParaRPr lang="en-US" sz="1400" dirty="0"/>
          </a:p>
        </p:txBody>
      </p:sp>
      <p:sp>
        <p:nvSpPr>
          <p:cNvPr id="27" name="Text"/>
          <p:cNvSpPr txBox="1"/>
          <p:nvPr/>
        </p:nvSpPr>
        <p:spPr>
          <a:xfrm>
            <a:off x="7178040" y="4709160"/>
            <a:ext cx="4206240" cy="1280160"/>
          </a:xfrm>
          <a:prstGeom prst="rect">
            <a:avLst/>
          </a:prstGeom>
          <a:noFill/>
          <a:ln/>
        </p:spPr>
        <p:txBody>
          <a:bodyPr wrap="square" lIns="0" tIns="0" rIns="0" bIns="0" rtlCol="0" anchor="ctr"/>
          <a:lstStyle/>
          <a:p>
            <a:pPr marL="0" indent="0">
              <a:buNone/>
            </a:pPr>
            <a:r>
              <a:rPr lang="en-US" sz="1600" dirty="0">
                <a:solidFill>
                  <a:schemeClr val="tx1"/>
                </a:solidFill>
              </a:rPr>
              <a:t>Why might a firm that follows the marketing concept still need societal marketing?</a:t>
            </a:r>
            <a:endParaRPr lang="en-US" sz="16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References and further reading</a:t>
            </a:r>
            <a:endParaRPr lang="en-US" sz="3400" dirty="0"/>
          </a:p>
        </p:txBody>
      </p:sp>
      <p:sp>
        <p:nvSpPr>
          <p:cNvPr id="4" name="Icon circle"/>
          <p:cNvSpPr/>
          <p:nvPr/>
        </p:nvSpPr>
        <p:spPr>
          <a:xfrm>
            <a:off x="9692640" y="2011680"/>
            <a:ext cx="1737360" cy="1737360"/>
          </a:xfrm>
          <a:prstGeom prst="ellipse">
            <a:avLst/>
          </a:prstGeom>
          <a:solidFill>
            <a:schemeClr val="accent3"/>
          </a:solidFill>
          <a:ln/>
        </p:spPr>
        <p:txBody>
          <a:bodyPr/>
          <a:lstStyle/>
          <a:p>
            <a:endParaRPr lang="en-US"/>
          </a:p>
        </p:txBody>
      </p:sp>
      <p:pic>
        <p:nvPicPr>
          <p:cNvPr id="5" name="Icon" descr="Book icon"/>
          <p:cNvPicPr>
            <a:picLocks noChangeAspect="1"/>
          </p:cNvPicPr>
          <p:nvPr/>
        </p:nvPicPr>
        <p:blipFill>
          <a:blip r:embed="rId3"/>
          <a:stretch>
            <a:fillRect/>
          </a:stretch>
        </p:blipFill>
        <p:spPr>
          <a:xfrm>
            <a:off x="10126980" y="2446020"/>
            <a:ext cx="868680" cy="868680"/>
          </a:xfrm>
          <a:prstGeom prst="rect">
            <a:avLst/>
          </a:prstGeom>
        </p:spPr>
      </p:pic>
      <p:sp>
        <p:nvSpPr>
          <p:cNvPr id="6" name="Text"/>
          <p:cNvSpPr txBox="1"/>
          <p:nvPr/>
        </p:nvSpPr>
        <p:spPr>
          <a:xfrm>
            <a:off x="548640" y="1463040"/>
            <a:ext cx="8686800" cy="45720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Kotler, P., &amp; Keller, K. L. Marketing Management. Pearson (use the edition adopted for your course).</a:t>
            </a:r>
            <a:endParaRPr lang="en-US" sz="1700" dirty="0"/>
          </a:p>
          <a:p>
            <a:pPr marL="342900" indent="-342900">
              <a:spcAft>
                <a:spcPts val="1200"/>
              </a:spcAft>
              <a:buSzPct val="100000"/>
              <a:buChar char="•"/>
            </a:pPr>
            <a:r>
              <a:rPr lang="en-US" sz="1700" dirty="0">
                <a:solidFill>
                  <a:schemeClr val="tx1"/>
                </a:solidFill>
              </a:rPr>
              <a:t>Armstrong, G., &amp; Kotler, P. Marketing: An Introduction. Pearson (current edition).</a:t>
            </a:r>
            <a:endParaRPr lang="en-US" sz="1700" dirty="0"/>
          </a:p>
          <a:p>
            <a:pPr marL="342900" indent="-342900">
              <a:spcAft>
                <a:spcPts val="1200"/>
              </a:spcAft>
              <a:buSzPct val="100000"/>
              <a:buChar char="•"/>
            </a:pPr>
            <a:r>
              <a:rPr lang="en-US" sz="1700" dirty="0">
                <a:solidFill>
                  <a:schemeClr val="tx1"/>
                </a:solidFill>
              </a:rPr>
              <a:t>Kotler, P., Kartajaya, H., &amp; Setiawan, I. Marketing 4.0 (2017) and Marketing 5.0 (2021). Wiley.</a:t>
            </a:r>
            <a:endParaRPr lang="en-US" sz="1700" dirty="0"/>
          </a:p>
          <a:p>
            <a:pPr marL="342900" indent="-342900">
              <a:spcAft>
                <a:spcPts val="1200"/>
              </a:spcAft>
              <a:buSzPct val="100000"/>
              <a:buChar char="•"/>
            </a:pPr>
            <a:r>
              <a:rPr lang="en-US" sz="1700" dirty="0">
                <a:solidFill>
                  <a:schemeClr val="tx1"/>
                </a:solidFill>
              </a:rPr>
              <a:t>Levitt, T. (1960). Marketing Myopia. Harvard Business Review.</a:t>
            </a:r>
            <a:endParaRPr lang="en-US" sz="1700" dirty="0"/>
          </a:p>
          <a:p>
            <a:pPr marL="342900" indent="-342900">
              <a:spcAft>
                <a:spcPts val="1200"/>
              </a:spcAft>
              <a:buSzPct val="100000"/>
              <a:buChar char="•"/>
            </a:pPr>
            <a:r>
              <a:rPr lang="en-US" sz="1700" dirty="0">
                <a:solidFill>
                  <a:schemeClr val="tx1"/>
                </a:solidFill>
              </a:rPr>
              <a:t>Keith, R. J. (1960). The Marketing Revolution. Journal of Marketing.</a:t>
            </a:r>
            <a:endParaRPr lang="en-US" sz="1700" dirty="0"/>
          </a:p>
          <a:p>
            <a:pPr marL="342900" indent="-342900">
              <a:spcAft>
                <a:spcPts val="1200"/>
              </a:spcAft>
              <a:buSzPct val="100000"/>
              <a:buChar char="•"/>
            </a:pPr>
            <a:r>
              <a:rPr lang="en-US" sz="1700" dirty="0">
                <a:solidFill>
                  <a:schemeClr val="tx1"/>
                </a:solidFill>
              </a:rPr>
              <a:t>American Marketing Association (2017). Definition of Marketing.</a:t>
            </a:r>
            <a:endParaRPr lang="en-US" sz="17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theme/theme1.xml><?xml version="1.0" encoding="utf-8"?>
<a:theme xmlns:a="http://schemas.openxmlformats.org/drawingml/2006/main" name="Marketing Navy">
  <a:themeElements>
    <a:clrScheme name="Marketing Navy">
      <a:dk1>
        <a:srgbClr val="1B1F3B"/>
      </a:dk1>
      <a:lt1>
        <a:srgbClr val="FFFFFF"/>
      </a:lt1>
      <a:dk2>
        <a:srgbClr val="1F2A5C"/>
      </a:dk2>
      <a:lt2>
        <a:srgbClr val="EEF0F8"/>
      </a:lt2>
      <a:accent1>
        <a:srgbClr val="D2414D"/>
      </a:accent1>
      <a:accent2>
        <a:srgbClr val="F2B84B"/>
      </a:accent2>
      <a:accent3>
        <a:srgbClr val="2F7F86"/>
      </a:accent3>
      <a:accent4>
        <a:srgbClr val="6C5BA8"/>
      </a:accent4>
      <a:accent5>
        <a:srgbClr val="3F6FD1"/>
      </a:accent5>
      <a:accent6>
        <a:srgbClr val="69719A"/>
      </a:accent6>
      <a:hlink>
        <a:srgbClr val="3F6FD1"/>
      </a:hlink>
      <a:folHlink>
        <a:srgbClr val="6C5BA8"/>
      </a:folHlink>
    </a:clrScheme>
    <a:fontScheme name="Marketing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4324</Words>
  <Application>Microsoft Office PowerPoint</Application>
  <PresentationFormat>Widescreen</PresentationFormat>
  <Paragraphs>557</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Marketing Navy</vt:lpstr>
      <vt:lpstr>Introduction to Marketing Management</vt:lpstr>
      <vt:lpstr>House Keeping: Course Compact &amp; Material</vt:lpstr>
      <vt:lpstr>Learning objectives</vt:lpstr>
      <vt:lpstr>Roadmap for today</vt:lpstr>
      <vt:lpstr>Core marketing concepts</vt:lpstr>
      <vt:lpstr>What is marketing?</vt:lpstr>
      <vt:lpstr>Needs, wants and demands</vt:lpstr>
      <vt:lpstr>Definition of Core Concepts </vt:lpstr>
      <vt:lpstr>What can be marketed?</vt:lpstr>
      <vt:lpstr>Definition of Marketing Management </vt:lpstr>
      <vt:lpstr>Marketing Management is Demand Management</vt:lpstr>
      <vt:lpstr>The Five-Step Marketing Process</vt:lpstr>
      <vt:lpstr>Customer-Driven Marketing Strategy</vt:lpstr>
      <vt:lpstr>The Marketing Mix: From 4Ps to Holistic 4Ps</vt:lpstr>
      <vt:lpstr>The Tasks of Marketing Management</vt:lpstr>
      <vt:lpstr>Evolution of marketing</vt:lpstr>
      <vt:lpstr>Marketing Eras</vt:lpstr>
      <vt:lpstr>Marketing 1.0 to 5.0</vt:lpstr>
      <vt:lpstr>Forces Reshaping Marketing Today</vt:lpstr>
      <vt:lpstr>From Transactions to Relationships</vt:lpstr>
      <vt:lpstr>Marketing Philosophies</vt:lpstr>
      <vt:lpstr>Five Philosophies at a Glance</vt:lpstr>
      <vt:lpstr>1. The Production concept</vt:lpstr>
      <vt:lpstr>2. The Product concept</vt:lpstr>
      <vt:lpstr>3. The Selling concept</vt:lpstr>
      <vt:lpstr>4. The Marketing Concept</vt:lpstr>
      <vt:lpstr>5. The societal marketing concept</vt:lpstr>
      <vt:lpstr>6. Holistic Marketing </vt:lpstr>
      <vt:lpstr>Comparing the Philosophies</vt:lpstr>
      <vt:lpstr>Which philosophy is it?</vt:lpstr>
      <vt:lpstr>Key takeaways</vt:lpstr>
      <vt:lpstr>Review questions</vt:lpstr>
      <vt:lpstr>References and further reading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Marketing Management</dc:title>
  <dc:subject>Concepts, evolution and marketing philosophies</dc:subject>
  <dc:creator>Ebes Esho</dc:creator>
  <cp:lastModifiedBy>Ebes Esho</cp:lastModifiedBy>
  <cp:revision>1</cp:revision>
  <dcterms:created xsi:type="dcterms:W3CDTF">2026-10-11T09:24:16Z</dcterms:created>
  <dcterms:modified xsi:type="dcterms:W3CDTF">2026-10-13T07:49:31Z</dcterms:modified>
</cp:coreProperties>
</file>