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731520"/>
            <a:ext cx="2468880" cy="2468880"/>
          </a:xfrm>
          <a:prstGeom prst="ellipse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3840480"/>
            <a:ext cx="1097280" cy="1097280"/>
          </a:xfrm>
          <a:prstGeom prst="ellipse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6126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8AB3D"/>
                </a:solidFill>
                <a:latin typeface="Aptos"/>
              </a:defRPr>
            </a:pPr>
            <a:r>
              <a:t>CSC 301  |  3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783766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1072"/>
            <a:ext cx="6583680" cy="25960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Jeremiah Ocheni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CS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 301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5077503"/>
            <a:ext cx="11387328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CDD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Nigerian University of Technology and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Where we are going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155448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317296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Explain what a data structure is and why the choice matters.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15544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02  Recognise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48840"/>
            <a:ext cx="317296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Identify common structures in familiar systems: lists, queues and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82296" cy="155448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03 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48840"/>
            <a:ext cx="317296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Write and test a small C++ program that stores and searches real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0607040" cy="7879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rPr dirty="0"/>
              <a:t>By the end of the session, you should be able to explain your design choice</a:t>
            </a:r>
            <a:r>
              <a:rPr lang="en-US" dirty="0"/>
              <a:t>, </a:t>
            </a:r>
            <a:r>
              <a:rPr dirty="0"/>
              <a:t>not just make the program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Start with a problem, not a 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744"/>
                </a:solidFill>
                <a:latin typeface="Aptos"/>
              </a:defRPr>
            </a:pPr>
            <a:r>
              <a:rPr dirty="0"/>
              <a:t>A department needs a simple way to manage </a:t>
            </a:r>
            <a:r>
              <a:rPr lang="en-US" dirty="0"/>
              <a:t>class</a:t>
            </a:r>
            <a:r>
              <a:rPr dirty="0"/>
              <a:t> attendance.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120640" cy="256032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Record each student's matric number and name.</a:t>
            </a:r>
          </a:p>
          <a:p>
            <a:pPr>
              <a:spcAft>
                <a:spcPts val="7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Mark whether the student is present.</a:t>
            </a:r>
          </a:p>
          <a:p>
            <a:pPr>
              <a:spcAft>
                <a:spcPts val="7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Find a student quickly when a lecturer asks.</a:t>
            </a:r>
          </a:p>
          <a:p>
            <a:pPr>
              <a:spcAft>
                <a:spcPts val="7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Produce a count of students present.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4937760" cy="30175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82296" cy="301752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746504"/>
            <a:ext cx="45902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Discuss in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48840"/>
            <a:ext cx="4590288" cy="23591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What information must be stored?</a:t>
            </a:r>
          </a:p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What operations will staff perform?</a:t>
            </a:r>
          </a:p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What could go wrong if names are stored in separate, unrelated lists?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What do we mean by a data structure?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60704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42744"/>
                </a:solidFill>
                <a:latin typeface="Aptos"/>
              </a:defRPr>
            </a:pPr>
            <a:r>
              <a:t>A data structure is a way of organising data so that a program can work with it effectively.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82296" cy="164592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935224"/>
            <a:ext cx="30358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37560"/>
            <a:ext cx="3035808" cy="9875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rPr dirty="0"/>
              <a:t>The values we want to keep: names, scores, IDs or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7889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2788920"/>
            <a:ext cx="82296" cy="164592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2935224"/>
            <a:ext cx="30358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337560"/>
            <a:ext cx="3035808" cy="9875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How those values are arranged and related.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889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788920"/>
            <a:ext cx="82296" cy="164592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935224"/>
            <a:ext cx="30358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37560"/>
            <a:ext cx="3035808" cy="9875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What we need to do: add, find, update, remove or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Everyday examples are already data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182880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Playlist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317296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A sequence of songs. Order matters; you move forward or backward.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18288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Bank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48840"/>
            <a:ext cx="317296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People are usually served in arrival order: first in, first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00200"/>
            <a:ext cx="3520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82296" cy="182880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746504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Browser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148840"/>
            <a:ext cx="317296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Pages are kept so you can revisit earlier pages or move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Choose the structure to fit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82296" cy="114300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8646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Array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864608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Useful when a fixed-size collection is accessed by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120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82296" cy="11430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46504"/>
            <a:ext cx="48646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Record / 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48840"/>
            <a:ext cx="4864608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Keeps related fields for one item together, e.g. ID, name and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52120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82296" cy="114300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118104"/>
            <a:ext cx="48646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20440"/>
            <a:ext cx="4864608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Useful when items should be handled in arrival order.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71800"/>
            <a:ext cx="52120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971800"/>
            <a:ext cx="82296" cy="1143000"/>
          </a:xfrm>
          <a:prstGeom prst="rect">
            <a:avLst/>
          </a:prstGeom>
          <a:solidFill>
            <a:srgbClr val="B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118104"/>
            <a:ext cx="48646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520440"/>
            <a:ext cx="4864608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Useful for hierarchical relationships, such as folders or organisation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The first building blocks: values and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t>A program needs to know what kind of value it is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82296" cy="150876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295144"/>
            <a:ext cx="29443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97480"/>
            <a:ext cx="2944368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A whole number</a:t>
            </a:r>
          </a:p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Example: 2026014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148840"/>
            <a:ext cx="82296" cy="150876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295144"/>
            <a:ext cx="29443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double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697480"/>
            <a:ext cx="2944368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A number with a decimal</a:t>
            </a:r>
          </a:p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Example: 76.5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82296" cy="150876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29443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97480"/>
            <a:ext cx="2944368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Text</a:t>
            </a:r>
          </a:p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Example: "Ada Okafor"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Arrays: a collection with 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332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t>Suppose we need to store five quiz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234440" cy="777240"/>
          </a:xfrm>
          <a:prstGeom prst="roundRect">
            <a:avLst/>
          </a:prstGeom>
          <a:solidFill>
            <a:srgbClr val="E2F3F1"/>
          </a:solidFill>
          <a:ln>
            <a:solidFill>
              <a:srgbClr val="1A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5707E"/>
                </a:solidFill>
                <a:latin typeface="Aptos"/>
              </a:defRPr>
            </a:pPr>
            <a:r>
              <a:t>index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331720"/>
            <a:ext cx="1234440" cy="777240"/>
          </a:xfrm>
          <a:prstGeom prst="roundRect">
            <a:avLst/>
          </a:prstGeom>
          <a:solidFill>
            <a:srgbClr val="E2F3F1"/>
          </a:solidFill>
          <a:ln>
            <a:solidFill>
              <a:srgbClr val="1A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2514600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182112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5707E"/>
                </a:solidFill>
                <a:latin typeface="Aptos"/>
              </a:defRPr>
            </a:pPr>
            <a:r>
              <a:t>index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331720"/>
            <a:ext cx="1234440" cy="777240"/>
          </a:xfrm>
          <a:prstGeom prst="roundRect">
            <a:avLst/>
          </a:prstGeom>
          <a:solidFill>
            <a:srgbClr val="E2F3F1"/>
          </a:solidFill>
          <a:ln>
            <a:solidFill>
              <a:srgbClr val="1A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82112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5707E"/>
                </a:solidFill>
                <a:latin typeface="Aptos"/>
              </a:defRPr>
            </a:pPr>
            <a:r>
              <a:t>index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2331720"/>
            <a:ext cx="1234440" cy="777240"/>
          </a:xfrm>
          <a:prstGeom prst="roundRect">
            <a:avLst/>
          </a:prstGeom>
          <a:solidFill>
            <a:srgbClr val="E2F3F1"/>
          </a:solidFill>
          <a:ln>
            <a:solidFill>
              <a:srgbClr val="1A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79" y="2514600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182112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5707E"/>
                </a:solidFill>
                <a:latin typeface="Aptos"/>
              </a:defRPr>
            </a:pPr>
            <a:r>
              <a:t>index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331720"/>
            <a:ext cx="1234440" cy="777240"/>
          </a:xfrm>
          <a:prstGeom prst="roundRect">
            <a:avLst/>
          </a:prstGeom>
          <a:solidFill>
            <a:srgbClr val="E2F3F1"/>
          </a:solidFill>
          <a:ln>
            <a:solidFill>
              <a:srgbClr val="1A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82112"/>
            <a:ext cx="1234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5707E"/>
                </a:solidFill>
                <a:latin typeface="Aptos"/>
              </a:defRPr>
            </a:pPr>
            <a:r>
              <a:t>index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A8B8B"/>
                </a:solidFill>
                <a:latin typeface="Aptos"/>
              </a:defRPr>
            </a:pPr>
            <a:r>
              <a:t>In C++, array positions start at 0. The first value is scores[0], not scores[1].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EAA8C-FC54-62D8-73FB-E3E57CE7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02BC7F-E413-9378-8D86-F4AD393525F2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Four operations performed in arrays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622F5-2D80-8EBC-DAA4-84A7815F7315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B877E-FB30-807C-DE08-40B34D3B3025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DE87F-0D2F-C1B6-D018-490F86EE154F}"/>
              </a:ext>
            </a:extLst>
          </p:cNvPr>
          <p:cNvSpPr txBox="1"/>
          <p:nvPr/>
        </p:nvSpPr>
        <p:spPr>
          <a:xfrm>
            <a:off x="777240" y="1508760"/>
            <a:ext cx="10332720" cy="200875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operation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Search operation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Insert operation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Delete operation</a:t>
            </a:r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216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31F64-98C6-F0AE-16CF-AB0D3E84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7B0E7-6C97-E4E4-B83B-853B767FFFD9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28FB8-B62B-250E-0CB7-281E9EC4E01A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4E010-1922-29EF-5032-1E0046013766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B7FEE-B917-2556-201F-9BD57C5C1811}"/>
              </a:ext>
            </a:extLst>
          </p:cNvPr>
          <p:cNvSpPr txBox="1"/>
          <p:nvPr/>
        </p:nvSpPr>
        <p:spPr>
          <a:xfrm>
            <a:off x="777240" y="1508760"/>
            <a:ext cx="10332720" cy="16112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Reading operations from arrays can be performed / interpreted in two ways 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by index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by value (search)</a:t>
            </a:r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784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799DB-1145-FA90-EF2F-C19F6CEB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11139E-55AC-A833-A257-E4A31FC21CF5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by index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A2F13-BD51-BB23-4AF7-AB611AF48D0B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5BB09-33C5-CCDA-94E0-E99C3639D168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1257C-4A15-12A7-A035-2811A897BA1C}"/>
              </a:ext>
            </a:extLst>
          </p:cNvPr>
          <p:cNvSpPr txBox="1"/>
          <p:nvPr/>
        </p:nvSpPr>
        <p:spPr>
          <a:xfrm>
            <a:off x="777240" y="1508760"/>
            <a:ext cx="10332720" cy="35861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atinLnBrk="1"/>
            <a:r>
              <a:rPr lang="en-US" dirty="0"/>
              <a:t>#include &lt;iostream&gt;</a:t>
            </a:r>
          </a:p>
          <a:p>
            <a:pPr latinLnBrk="1"/>
            <a:r>
              <a:rPr lang="en-US" dirty="0"/>
              <a:t>using namespace std;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int main() {</a:t>
            </a:r>
          </a:p>
          <a:p>
            <a:pPr latinLnBrk="1"/>
            <a:r>
              <a:rPr lang="en-US" dirty="0"/>
              <a:t>    int marks[5] = {72, 81, 64, 90, 76};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"marks[3] = " &lt;&lt; marks[3]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return 0;</a:t>
            </a:r>
          </a:p>
          <a:p>
            <a:pPr latinLnBrk="1"/>
            <a:r>
              <a:rPr lang="en-US" dirty="0"/>
              <a:t>}</a:t>
            </a:r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726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F4B88-7F90-2F81-7CF3-B5653826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7B1333-EC5A-51A9-E59A-792201A7A7A3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Read by value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48554F-F95D-4AF4-E09F-664BD91205FA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38532-32B9-0A53-32E7-9D02DA801B2A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DE192-D0CC-B030-FCD7-5E10EA9FC928}"/>
              </a:ext>
            </a:extLst>
          </p:cNvPr>
          <p:cNvSpPr txBox="1"/>
          <p:nvPr/>
        </p:nvSpPr>
        <p:spPr>
          <a:xfrm>
            <a:off x="3893581" y="0"/>
            <a:ext cx="7770795" cy="774109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atinLnBrk="1"/>
            <a:r>
              <a:rPr lang="en-US" dirty="0"/>
              <a:t>#include &lt;iostream&gt;</a:t>
            </a:r>
          </a:p>
          <a:p>
            <a:pPr latinLnBrk="1"/>
            <a:r>
              <a:rPr lang="en-US" dirty="0"/>
              <a:t>using namespace std;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int main() {</a:t>
            </a:r>
          </a:p>
          <a:p>
            <a:pPr latinLnBrk="1"/>
            <a:r>
              <a:rPr lang="en-US" dirty="0"/>
              <a:t>    int marks[5] = {72, 81, 64, 90, 76};</a:t>
            </a:r>
          </a:p>
          <a:p>
            <a:pPr latinLnBrk="1"/>
            <a:r>
              <a:rPr lang="en-US" dirty="0"/>
              <a:t>    const int SIZE = 5;</a:t>
            </a:r>
          </a:p>
          <a:p>
            <a:pPr latinLnBrk="1"/>
            <a:r>
              <a:rPr lang="en-US" dirty="0"/>
              <a:t>    int key = 90;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int </a:t>
            </a:r>
            <a:r>
              <a:rPr lang="en-US" dirty="0" err="1"/>
              <a:t>foundIndex</a:t>
            </a:r>
            <a:r>
              <a:rPr lang="en-US" dirty="0"/>
              <a:t> = -1;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latinLnBrk="1"/>
            <a:r>
              <a:rPr lang="en-US" dirty="0"/>
              <a:t>        if (marks[</a:t>
            </a:r>
            <a:r>
              <a:rPr lang="en-US" dirty="0" err="1"/>
              <a:t>i</a:t>
            </a:r>
            <a:r>
              <a:rPr lang="en-US" dirty="0"/>
              <a:t>] == key) {</a:t>
            </a:r>
          </a:p>
          <a:p>
            <a:pPr latinLnBrk="1"/>
            <a:r>
              <a:rPr lang="en-US" dirty="0"/>
              <a:t>            </a:t>
            </a:r>
            <a:r>
              <a:rPr lang="en-US" dirty="0" err="1"/>
              <a:t>foundIndex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latinLnBrk="1"/>
            <a:r>
              <a:rPr lang="en-US" dirty="0"/>
              <a:t>            break;              </a:t>
            </a:r>
            <a:r>
              <a:rPr lang="en-US" i="1" dirty="0"/>
              <a:t>// stop as soon as we find it</a:t>
            </a:r>
            <a:endParaRPr lang="en-US" dirty="0"/>
          </a:p>
          <a:p>
            <a:pPr latinLnBrk="1"/>
            <a:r>
              <a:rPr lang="en-US" dirty="0"/>
              <a:t>        }</a:t>
            </a:r>
          </a:p>
          <a:p>
            <a:pPr latinLnBrk="1"/>
            <a:r>
              <a:rPr lang="en-US" dirty="0"/>
              <a:t>    }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if (</a:t>
            </a:r>
            <a:r>
              <a:rPr lang="en-US" dirty="0" err="1"/>
              <a:t>foundIndex</a:t>
            </a:r>
            <a:r>
              <a:rPr lang="en-US" dirty="0"/>
              <a:t> != -1) {</a:t>
            </a:r>
          </a:p>
          <a:p>
            <a:pPr latinLnBrk="1"/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"Found " &lt;&lt; key &lt;&lt; " at index " &lt;&lt; </a:t>
            </a:r>
            <a:r>
              <a:rPr lang="en-US" dirty="0" err="1"/>
              <a:t>foundIndex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latinLnBrk="1"/>
            <a:r>
              <a:rPr lang="en-US" dirty="0"/>
              <a:t>    } else {</a:t>
            </a:r>
          </a:p>
          <a:p>
            <a:pPr latinLnBrk="1"/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key &lt;&lt; " not found in the array"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latinLnBrk="1"/>
            <a:r>
              <a:rPr lang="en-US" dirty="0"/>
              <a:t>    }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    return 0;</a:t>
            </a:r>
          </a:p>
          <a:p>
            <a:pPr latinLnBrk="1"/>
            <a:r>
              <a:rPr lang="en-US" dirty="0"/>
              <a:t>}</a:t>
            </a:r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2671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DBBFB-EB79-3425-03C0-60553E19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5A282-FC8F-E0B8-EAD7-B5B4B9862378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Search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AB853-46F3-B16A-B762-57DE9F32D4A0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86D5D-1FF4-52C3-F3B3-11A5D55EC56F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15361-19FD-41D5-8E38-65FE3EC8B24A}"/>
              </a:ext>
            </a:extLst>
          </p:cNvPr>
          <p:cNvSpPr txBox="1"/>
          <p:nvPr/>
        </p:nvSpPr>
        <p:spPr>
          <a:xfrm>
            <a:off x="4235116" y="-58337"/>
            <a:ext cx="53580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marks[5] = {72, 81, 64, 90, 76};</a:t>
            </a:r>
          </a:p>
          <a:p>
            <a:r>
              <a:rPr lang="en-US" dirty="0"/>
              <a:t>    const int SIZE = 5;</a:t>
            </a:r>
          </a:p>
          <a:p>
            <a:r>
              <a:rPr lang="en-US" dirty="0"/>
              <a:t>    int key = 90;</a:t>
            </a:r>
          </a:p>
          <a:p>
            <a:endParaRPr lang="en-US" dirty="0"/>
          </a:p>
          <a:p>
            <a:r>
              <a:rPr lang="en-US" dirty="0"/>
              <a:t>    int </a:t>
            </a:r>
            <a:r>
              <a:rPr lang="en-US" dirty="0" err="1"/>
              <a:t>foundIndex</a:t>
            </a:r>
            <a:r>
              <a:rPr lang="en-US" dirty="0"/>
              <a:t> = -1;   // -1 means "not found"</a:t>
            </a:r>
          </a:p>
          <a:p>
            <a:endParaRPr lang="en-US" dirty="0"/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(marks[</a:t>
            </a:r>
            <a:r>
              <a:rPr lang="en-US" dirty="0" err="1"/>
              <a:t>i</a:t>
            </a:r>
            <a:r>
              <a:rPr lang="en-US" dirty="0"/>
              <a:t>] == key) {</a:t>
            </a:r>
          </a:p>
          <a:p>
            <a:r>
              <a:rPr lang="en-US" dirty="0"/>
              <a:t>            </a:t>
            </a:r>
            <a:r>
              <a:rPr lang="en-US" dirty="0" err="1"/>
              <a:t>foundIndex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        break;          // stop as soon as we find it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if (</a:t>
            </a:r>
            <a:r>
              <a:rPr lang="en-US" dirty="0" err="1"/>
              <a:t>foundIndex</a:t>
            </a:r>
            <a:r>
              <a:rPr lang="en-US" dirty="0"/>
              <a:t> != -1)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"Found " &lt;&lt; key &lt;&lt; " at index " &lt;&lt; </a:t>
            </a:r>
            <a:r>
              <a:rPr lang="en-US" dirty="0" err="1"/>
              <a:t>foundIndex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key &lt;&lt; " not found in the array"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8295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53EA6-228A-E61B-C291-8AA86559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C553F-6B7E-D99F-6D28-18C567940C78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Insert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44FA-C5CF-E8FE-0CBF-FDA650DD736C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0E9CA-9EED-1942-1A2B-0D0870AD9C94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96BFA-ED15-3E24-0527-AB50EFCDC394}"/>
              </a:ext>
            </a:extLst>
          </p:cNvPr>
          <p:cNvSpPr txBox="1"/>
          <p:nvPr/>
        </p:nvSpPr>
        <p:spPr>
          <a:xfrm>
            <a:off x="4716379" y="354330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marks[10] = {72, 81, 64, 90, 76};   // capacity 10, size 5</a:t>
            </a:r>
          </a:p>
          <a:p>
            <a:r>
              <a:rPr lang="en-US" dirty="0"/>
              <a:t>    int size = 5;</a:t>
            </a:r>
          </a:p>
          <a:p>
            <a:endParaRPr lang="en-US" dirty="0"/>
          </a:p>
          <a:p>
            <a:r>
              <a:rPr lang="en-US" dirty="0"/>
              <a:t>    int </a:t>
            </a:r>
            <a:r>
              <a:rPr lang="en-US" dirty="0" err="1"/>
              <a:t>newMark</a:t>
            </a:r>
            <a:r>
              <a:rPr lang="en-US" dirty="0"/>
              <a:t> = 88;</a:t>
            </a:r>
          </a:p>
          <a:p>
            <a:endParaRPr lang="en-US" dirty="0"/>
          </a:p>
          <a:p>
            <a:r>
              <a:rPr lang="en-US" dirty="0"/>
              <a:t>    // Insert at the end — no shifting needed</a:t>
            </a:r>
          </a:p>
          <a:p>
            <a:r>
              <a:rPr lang="en-US" dirty="0"/>
              <a:t>    marks[size] = </a:t>
            </a:r>
            <a:r>
              <a:rPr lang="en-US" dirty="0" err="1"/>
              <a:t>newMark</a:t>
            </a:r>
            <a:r>
              <a:rPr lang="en-US" dirty="0"/>
              <a:t>;</a:t>
            </a:r>
          </a:p>
          <a:p>
            <a:r>
              <a:rPr lang="en-US" dirty="0"/>
              <a:t>    size++;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inserting " &lt;&lt; </a:t>
            </a:r>
            <a:r>
              <a:rPr lang="en-US" dirty="0" err="1"/>
              <a:t>newMark</a:t>
            </a:r>
            <a:r>
              <a:rPr lang="en-US" dirty="0"/>
              <a:t> &lt;&lt; " at the end:\n";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marks[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D73A3-7BD1-9382-AAE7-1664C8D993B6}"/>
              </a:ext>
            </a:extLst>
          </p:cNvPr>
          <p:cNvSpPr txBox="1"/>
          <p:nvPr/>
        </p:nvSpPr>
        <p:spPr>
          <a:xfrm>
            <a:off x="566928" y="2932927"/>
            <a:ext cx="6352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sz="2800" dirty="0"/>
              <a:t>Insert at the end</a:t>
            </a:r>
          </a:p>
        </p:txBody>
      </p:sp>
    </p:spTree>
    <p:extLst>
      <p:ext uri="{BB962C8B-B14F-4D97-AF65-F5344CB8AC3E}">
        <p14:creationId xmlns:p14="http://schemas.microsoft.com/office/powerpoint/2010/main" val="98410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3AFF5-6641-94A1-208B-B3BC705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323A6-3828-58DA-E65C-72ED58328F95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Insert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50CBD-A38E-2E85-860E-E88A4F65CF51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B2DAE-A4B5-1989-5D0C-FFAD9E44E39F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F0D53-0DDC-14A9-625D-B26001F28B5F}"/>
              </a:ext>
            </a:extLst>
          </p:cNvPr>
          <p:cNvSpPr txBox="1"/>
          <p:nvPr/>
        </p:nvSpPr>
        <p:spPr>
          <a:xfrm>
            <a:off x="566928" y="2932927"/>
            <a:ext cx="6352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sz="2800" dirty="0"/>
              <a:t>Insert at a given 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425DB-891B-1738-EBCE-89DFE4251F0D}"/>
              </a:ext>
            </a:extLst>
          </p:cNvPr>
          <p:cNvSpPr txBox="1"/>
          <p:nvPr/>
        </p:nvSpPr>
        <p:spPr>
          <a:xfrm>
            <a:off x="5021179" y="-368967"/>
            <a:ext cx="10507578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marks[10] = {72, 81, 64, 90, 76};</a:t>
            </a:r>
          </a:p>
          <a:p>
            <a:r>
              <a:rPr lang="en-US" dirty="0"/>
              <a:t>    int size = 5;</a:t>
            </a:r>
          </a:p>
          <a:p>
            <a:endParaRPr lang="en-US" dirty="0"/>
          </a:p>
          <a:p>
            <a:r>
              <a:rPr lang="en-US" dirty="0"/>
              <a:t>    int pos = 2;       // insert before index 2</a:t>
            </a:r>
          </a:p>
          <a:p>
            <a:r>
              <a:rPr lang="en-US" dirty="0"/>
              <a:t>    int </a:t>
            </a:r>
            <a:r>
              <a:rPr lang="en-US" dirty="0" err="1"/>
              <a:t>newMark</a:t>
            </a:r>
            <a:r>
              <a:rPr lang="en-US" dirty="0"/>
              <a:t> = 55;</a:t>
            </a:r>
          </a:p>
          <a:p>
            <a:endParaRPr lang="en-US" dirty="0"/>
          </a:p>
          <a:p>
            <a:r>
              <a:rPr lang="en-US" dirty="0"/>
              <a:t>    // Step 1: shift elements from pos onward to the right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size; </a:t>
            </a:r>
            <a:r>
              <a:rPr lang="en-US" dirty="0" err="1"/>
              <a:t>i</a:t>
            </a:r>
            <a:r>
              <a:rPr lang="en-US" dirty="0"/>
              <a:t> &gt; pos; </a:t>
            </a:r>
            <a:r>
              <a:rPr lang="en-US" dirty="0" err="1"/>
              <a:t>i</a:t>
            </a:r>
            <a:r>
              <a:rPr lang="en-US" dirty="0"/>
              <a:t>--) {</a:t>
            </a:r>
          </a:p>
          <a:p>
            <a:r>
              <a:rPr lang="en-US" dirty="0"/>
              <a:t>        marks[</a:t>
            </a:r>
            <a:r>
              <a:rPr lang="en-US" dirty="0" err="1"/>
              <a:t>i</a:t>
            </a:r>
            <a:r>
              <a:rPr lang="en-US" dirty="0"/>
              <a:t>] = marks[</a:t>
            </a:r>
            <a:r>
              <a:rPr lang="en-US" dirty="0" err="1"/>
              <a:t>i</a:t>
            </a:r>
            <a:r>
              <a:rPr lang="en-US" dirty="0"/>
              <a:t> - 1];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Step 2: write the new value</a:t>
            </a:r>
          </a:p>
          <a:p>
            <a:r>
              <a:rPr lang="en-US" dirty="0"/>
              <a:t>    marks[pos] = </a:t>
            </a:r>
            <a:r>
              <a:rPr lang="en-US" dirty="0" err="1"/>
              <a:t>newMark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Step 3: increase size</a:t>
            </a:r>
          </a:p>
          <a:p>
            <a:r>
              <a:rPr lang="en-US" dirty="0"/>
              <a:t>    size++;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inserting " &lt;&lt; </a:t>
            </a:r>
            <a:r>
              <a:rPr lang="en-US" dirty="0" err="1"/>
              <a:t>newMark</a:t>
            </a:r>
            <a:r>
              <a:rPr lang="en-US" dirty="0"/>
              <a:t> &lt;&lt; " at index " &lt;&lt; pos &lt;&lt; ":\n";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marks[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786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86079-D780-5180-EFA3-D192A691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4EFDD-C302-9249-8DB2-C47899D13536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Delete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66939-18C0-A20E-6CF3-BE9E2171D707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CC134-7D04-826B-F2C8-B7DBFE357FBF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5A076-07B2-D977-B392-9708205EFEC5}"/>
              </a:ext>
            </a:extLst>
          </p:cNvPr>
          <p:cNvSpPr txBox="1"/>
          <p:nvPr/>
        </p:nvSpPr>
        <p:spPr>
          <a:xfrm>
            <a:off x="566928" y="2932927"/>
            <a:ext cx="6352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sz="2800" dirty="0"/>
              <a:t>Delete at the 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2DAD5-AF44-048F-9A55-F517E4029C12}"/>
              </a:ext>
            </a:extLst>
          </p:cNvPr>
          <p:cNvSpPr txBox="1"/>
          <p:nvPr/>
        </p:nvSpPr>
        <p:spPr>
          <a:xfrm>
            <a:off x="4491790" y="594360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marks[10] = {72, 81, 64, 90, 76};</a:t>
            </a:r>
          </a:p>
          <a:p>
            <a:r>
              <a:rPr lang="en-US" dirty="0"/>
              <a:t>    int size = 5;</a:t>
            </a:r>
          </a:p>
          <a:p>
            <a:endParaRPr lang="en-US" dirty="0"/>
          </a:p>
          <a:p>
            <a:r>
              <a:rPr lang="en-US" dirty="0"/>
              <a:t>    // Delete the last element — no shifting needed</a:t>
            </a:r>
          </a:p>
          <a:p>
            <a:r>
              <a:rPr lang="en-US" dirty="0"/>
              <a:t>    size--;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deleting the last element:\n";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marks[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878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73232-A2EC-D0AD-2963-49B568FB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A492F-1657-087D-E624-CEAFD9185280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Delete Operations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44ED8-0F78-39F9-23D7-143A696320D3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BDB46-FEC3-D1E9-43CD-84834E8E6CDB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E7273-DD08-E6B9-BF22-5F9E28EFEAC6}"/>
              </a:ext>
            </a:extLst>
          </p:cNvPr>
          <p:cNvSpPr txBox="1"/>
          <p:nvPr/>
        </p:nvSpPr>
        <p:spPr>
          <a:xfrm>
            <a:off x="566928" y="2932927"/>
            <a:ext cx="6352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sz="2800" dirty="0"/>
              <a:t>Delete at a given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52C80-19E1-C23A-008E-80D564E5E1CC}"/>
              </a:ext>
            </a:extLst>
          </p:cNvPr>
          <p:cNvSpPr txBox="1"/>
          <p:nvPr/>
        </p:nvSpPr>
        <p:spPr>
          <a:xfrm>
            <a:off x="4922520" y="0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marks[10] = {72, 81, 64, 90, 76};</a:t>
            </a:r>
          </a:p>
          <a:p>
            <a:r>
              <a:rPr lang="en-US" dirty="0"/>
              <a:t>    int size = 5;</a:t>
            </a:r>
          </a:p>
          <a:p>
            <a:endParaRPr lang="en-US" dirty="0"/>
          </a:p>
          <a:p>
            <a:r>
              <a:rPr lang="en-US" dirty="0"/>
              <a:t>    int pos = 2;   // delete the element at index 2 (value 64)</a:t>
            </a:r>
          </a:p>
          <a:p>
            <a:endParaRPr lang="en-US" dirty="0"/>
          </a:p>
          <a:p>
            <a:r>
              <a:rPr lang="en-US" dirty="0"/>
              <a:t>    // Step 1: shift elements from pos+1 onward to the left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pos; </a:t>
            </a:r>
            <a:r>
              <a:rPr lang="en-US" dirty="0" err="1"/>
              <a:t>i</a:t>
            </a:r>
            <a:r>
              <a:rPr lang="en-US" dirty="0"/>
              <a:t> &lt; size - 1;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marks[</a:t>
            </a:r>
            <a:r>
              <a:rPr lang="en-US" dirty="0" err="1"/>
              <a:t>i</a:t>
            </a:r>
            <a:r>
              <a:rPr lang="en-US" dirty="0"/>
              <a:t>] = marks[</a:t>
            </a:r>
            <a:r>
              <a:rPr lang="en-US" dirty="0" err="1"/>
              <a:t>i</a:t>
            </a:r>
            <a:r>
              <a:rPr lang="en-US" dirty="0"/>
              <a:t> + 1];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Step 2: decrease size</a:t>
            </a:r>
          </a:p>
          <a:p>
            <a:r>
              <a:rPr lang="en-US" dirty="0"/>
              <a:t>    size--;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deleting element at index " &lt;&lt; pos &lt;&lt; ":\n";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marks[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3488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940D0-9606-2A92-8864-6D382E7D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44E52-5BF8-0B45-B119-2E613DB0B6DE}"/>
              </a:ext>
            </a:extLst>
          </p:cNvPr>
          <p:cNvSpPr txBox="1"/>
          <p:nvPr/>
        </p:nvSpPr>
        <p:spPr>
          <a:xfrm>
            <a:off x="566928" y="594360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lang="en-US" dirty="0"/>
              <a:t>Task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87DC4-4A9F-A6BD-E146-645C3DFDA6B3}"/>
              </a:ext>
            </a:extLst>
          </p:cNvPr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38F34-8D92-FF76-3BA6-4D8FCD108190}"/>
              </a:ext>
            </a:extLst>
          </p:cNvPr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D951E-D569-A5E6-59DA-E78D617E31F3}"/>
              </a:ext>
            </a:extLst>
          </p:cNvPr>
          <p:cNvSpPr txBox="1"/>
          <p:nvPr/>
        </p:nvSpPr>
        <p:spPr>
          <a:xfrm>
            <a:off x="566927" y="1427241"/>
            <a:ext cx="114646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A lecturer records the scores of students in a class. Scores are whole numbers from 0 to 100. The class has up to 50 students, but the number enrolled changes each semester.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sz="2400" dirty="0"/>
              <a:t>A weather station records the daily temperature (in °C) for a month. Up to 31 entries. Temperatures can be negative (winter) or positive (summer).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customer's account records the last 100 transaction amounts (in naira). Positive values = deposits. Negative values = withdrawals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exam hall has 80 seats, numbered 1 to 80. As students arrive, their assigned seat numbers are recorded. Some students don't show up, and their seats are removed from the list.</a:t>
            </a:r>
          </a:p>
        </p:txBody>
      </p:sp>
    </p:spTree>
    <p:extLst>
      <p:ext uri="{BB962C8B-B14F-4D97-AF65-F5344CB8AC3E}">
        <p14:creationId xmlns:p14="http://schemas.microsoft.com/office/powerpoint/2010/main" val="3100209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Related fields belong together: a C++ struct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852160" cy="329184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5303520" cy="2743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struct Student {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string matricNo;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string name;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double score;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Student s1 = {"CSC/23/014", "Ada Okafor", 76.5};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691640"/>
            <a:ext cx="420624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95160" y="1691640"/>
            <a:ext cx="82296" cy="219456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96328" y="1837944"/>
            <a:ext cx="3858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Why use a struct?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240280"/>
            <a:ext cx="3858768" cy="1536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One student has several related values. A struct keeps them under one meaningful name.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Strings: data that looks simple but needs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760720" cy="347472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A333F"/>
                </a:solidFill>
                <a:latin typeface="Aptos"/>
              </a:defRPr>
            </a:pPr>
            <a:r>
              <a:t>•  Names and addresses are text, not numeric quantities.</a:t>
            </a:r>
          </a:p>
          <a:p>
            <a:pPr>
              <a:spcAft>
                <a:spcPts val="700"/>
              </a:spcAft>
              <a:defRPr sz="1800">
                <a:solidFill>
                  <a:srgbClr val="2A333F"/>
                </a:solidFill>
                <a:latin typeface="Aptos"/>
              </a:defRPr>
            </a:pPr>
            <a:r>
              <a:t>•  Text may contain spaces, punctuation and different letter cases.</a:t>
            </a:r>
          </a:p>
          <a:p>
            <a:pPr>
              <a:spcAft>
                <a:spcPts val="700"/>
              </a:spcAft>
              <a:defRPr sz="1800">
                <a:solidFill>
                  <a:srgbClr val="2A333F"/>
                </a:solidFill>
                <a:latin typeface="Aptos"/>
              </a:defRPr>
            </a:pPr>
            <a:r>
              <a:t>•  Searching for "Ada" is not always the same as searching for "ada".</a:t>
            </a:r>
          </a:p>
          <a:p>
            <a:pPr>
              <a:spcAft>
                <a:spcPts val="700"/>
              </a:spcAft>
              <a:defRPr sz="1800">
                <a:solidFill>
                  <a:srgbClr val="2A333F"/>
                </a:solidFill>
                <a:latin typeface="Aptos"/>
              </a:defRPr>
            </a:pPr>
            <a:r>
              <a:t>•  Input handling matters: cin &gt;&gt; name stops at whitespace; getline can read a full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91640"/>
            <a:ext cx="416052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691640"/>
            <a:ext cx="82296" cy="256032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0607" y="1837944"/>
            <a:ext cx="38130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Try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7" y="2240280"/>
            <a:ext cx="3813048" cy="1901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Ask for a student's full name and print it back exactly as entered. Test with a name containing two words.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Practical 1: Student attendance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424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744"/>
                </a:solidFill>
                <a:latin typeface="Aptos"/>
              </a:defRPr>
            </a:pPr>
            <a:r>
              <a:t>Build a small console program for a real classroom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342900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82296" cy="233172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2494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Minimum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51760"/>
            <a:ext cx="3081528" cy="16733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Store 5 student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Keep matric number and name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Record present/absent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2900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33172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494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Required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51760"/>
            <a:ext cx="3081528" cy="16733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Display all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Search by matric number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Count students present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03120"/>
            <a:ext cx="342900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103120"/>
            <a:ext cx="82296" cy="233172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2494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651760"/>
            <a:ext cx="3081528" cy="16733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Use a struct for a record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Use an array for the class list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• Validate a search that finds no match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Starter code: get the records working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6492240" cy="448056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6080760" cy="4114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#include &lt;iostream&gt;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#include &lt;string&gt;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using namespace std;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struct Student {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string </a:t>
            </a:r>
            <a:r>
              <a:rPr dirty="0" err="1"/>
              <a:t>matricNo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string name;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bool present;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};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int main() {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Student students[5];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// TODO: read 5 student records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// TODO: display the records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// TODO: search by </a:t>
            </a:r>
            <a:r>
              <a:rPr dirty="0" err="1"/>
              <a:t>matricNo</a:t>
            </a: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// TODO: count present students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    return 0;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91640"/>
            <a:ext cx="374903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82296" cy="182880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1837944"/>
            <a:ext cx="34015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Suggested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240280"/>
            <a:ext cx="340156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1. Read input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2. Display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3. Add search</a:t>
            </a:r>
          </a:p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4. Count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749039"/>
            <a:ext cx="3749039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749039"/>
            <a:ext cx="82296" cy="160020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3895344"/>
            <a:ext cx="34015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4297679"/>
            <a:ext cx="3401568" cy="9418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33F"/>
                </a:solidFill>
                <a:latin typeface="Aptos"/>
              </a:defRPr>
            </a:pPr>
            <a:r>
              <a:t>Try a matric number that exists, one that does not, and a class with nobody present.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Practical 2: a campus service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t>Scenario: students arrive at a faculty help desk and should be served in arrival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34290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82296" cy="205740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34086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Version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3081528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Represent the waiting list using an array. Add names at the end and remove the first name when served.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4290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94560"/>
            <a:ext cx="82296" cy="20574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34086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Version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43200"/>
            <a:ext cx="3081528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Discuss what becomes awkward when the queue is full or when the first item is repeatedly removed.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94560"/>
            <a:ext cx="34290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194560"/>
            <a:ext cx="82296" cy="205740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34086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743200"/>
            <a:ext cx="3081528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33F"/>
                </a:solidFill>
                <a:latin typeface="Aptos"/>
              </a:defRPr>
            </a:pPr>
            <a:r>
              <a:t>Add a menu: 1. Join queue  2. Serve next  3. Show queue  4. Exit.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How will we know the program is useful?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82296" cy="169164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7922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94560"/>
            <a:ext cx="3081528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Does it give the right answer for ordinary and edge cases?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82296" cy="169164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94560"/>
            <a:ext cx="3081528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Can another student follow the names, structure and logic?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45920"/>
            <a:ext cx="82296" cy="169164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792224"/>
            <a:ext cx="30815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194560"/>
            <a:ext cx="3081528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33F"/>
                </a:solidFill>
                <a:latin typeface="Aptos"/>
              </a:defRPr>
            </a:pPr>
            <a:r>
              <a:t>Have you tried missing IDs, empty input and unexpected values?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4241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t>Do not stop after one successful run. A program that works for one example may still fail on a different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2412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5707E"/>
                </a:solidFill>
                <a:latin typeface="Aptos"/>
              </a:defRPr>
            </a:pPr>
            <a:r>
              <a:t>For later weeks, we will also discuss algorithm efficiency and Big-O notation.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356616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1. In your own words, what is a data structure?</a:t>
            </a:r>
          </a:p>
          <a:p>
            <a:pPr>
              <a:spcAft>
                <a:spcPts val="11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2. Why might an array suit a list of quiz scores?</a:t>
            </a:r>
          </a:p>
          <a:p>
            <a:pPr>
              <a:spcAft>
                <a:spcPts val="11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3. What problem does a struct solve in the attendance project?</a:t>
            </a:r>
          </a:p>
          <a:p>
            <a:pPr>
              <a:spcAft>
                <a:spcPts val="11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4. What should the search program do when an ID is not found?</a:t>
            </a:r>
          </a:p>
          <a:p>
            <a:pPr>
              <a:spcAft>
                <a:spcPts val="1100"/>
              </a:spcAft>
              <a:defRPr sz="1900">
                <a:solidFill>
                  <a:srgbClr val="2A333F"/>
                </a:solidFill>
                <a:latin typeface="Aptos"/>
              </a:defRPr>
            </a:pPr>
            <a:r>
              <a:t>•  5. Name one real system that needs a queue and explain why.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Before the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960120" cy="50292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07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07492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82296" cy="2057400"/>
          </a:xfrm>
          <a:prstGeom prst="rect">
            <a:avLst/>
          </a:prstGeom>
          <a:solidFill>
            <a:srgbClr val="1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792224"/>
            <a:ext cx="4727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Individual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94560"/>
            <a:ext cx="4727448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Finish the attendance register. Include a short note describing your chosen data structure and one limitation.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07492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82296" cy="2057400"/>
          </a:xfrm>
          <a:prstGeom prst="rect">
            <a:avLst/>
          </a:prstGeom>
          <a:solidFill>
            <a:srgbClr val="E8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92224"/>
            <a:ext cx="4727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744"/>
                </a:solidFill>
                <a:latin typeface="Aptos"/>
              </a:defRPr>
            </a:pPr>
            <a:r>
              <a:t>Bring to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4727448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33F"/>
                </a:solidFill>
                <a:latin typeface="Aptos"/>
              </a:defRPr>
            </a:pPr>
            <a:r>
              <a:t>Your source code, two test cases, and one question about arrays, records or strings.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2260</Words>
  <Application>Microsoft Office PowerPoint</Application>
  <PresentationFormat>Widescreen</PresentationFormat>
  <Paragraphs>362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Ocheni Jeremiah</dc:creator>
  <cp:keywords/>
  <dc:description>generated using python-pptx</dc:description>
  <cp:lastModifiedBy>Jeremiah Ocheni</cp:lastModifiedBy>
  <cp:revision>3</cp:revision>
  <dcterms:created xsi:type="dcterms:W3CDTF">2013-01-27T09:14:16Z</dcterms:created>
  <dcterms:modified xsi:type="dcterms:W3CDTF">2026-10-15T15:02:53Z</dcterms:modified>
  <cp:category/>
</cp:coreProperties>
</file>